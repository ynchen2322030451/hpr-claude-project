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12612999" cy="4051659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612999" cy="4051659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623641" y="739140"/>
            <a:ext cx="2646414" cy="2848254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Freeform 3"/>
          <p:cNvSpPr/>
          <p:nvPr/>
        </p:nvSpPr>
        <p:spPr>
          <a:xfrm>
            <a:off x="959883" y="3587394"/>
            <a:ext cx="0" cy="44450"/>
          </a:xfrm>
          <a:custGeom>
            <a:avLst/>
            <a:gdLst/>
            <a:ahLst/>
            <a:cxnLst/>
            <a:rect l="l" t="t" r="r" b="b"/>
            <a:pathLst>
              <a:path w="0" h="44450">
                <a:moveTo>
                  <a:pt x="0" y="0"/>
                </a:moveTo>
                <a:lnTo>
                  <a:pt x="0" y="44450"/>
                </a:lnTo>
                <a:close/>
              </a:path>
            </a:pathLst>
          </a:custGeom>
          <a:noFill/>
          <a:ln w="1016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58898" y="3645795"/>
            <a:ext cx="355600" cy="190500"/>
          </a:xfrm>
          <a:prstGeom prst="rect">
            <a:avLst/>
          </a:prstGeom>
          <a:noFill/>
        </p:spPr>
        <p:txBody>
          <a:bodyPr wrap="none" lIns="0" rIns="0" tIns="0" bIns="0"/>
          <a:lstStyle/>
          <a:p>
            <a:pPr algn="l"/>
            <a:r>
              <a:rPr sz="1000" b="0" i="0">
                <a:solidFill>
                  <a:srgbClr val="000000"/>
                </a:solidFill>
                <a:latin typeface="Arial"/>
              </a:rPr>
              <a:t>1.7</a:t>
            </a:r>
          </a:p>
        </p:txBody>
      </p:sp>
      <p:sp>
        <p:nvSpPr>
          <p:cNvPr id="6" name="Freeform 5"/>
          <p:cNvSpPr/>
          <p:nvPr/>
        </p:nvSpPr>
        <p:spPr>
          <a:xfrm>
            <a:off x="1451721" y="3587394"/>
            <a:ext cx="0" cy="44450"/>
          </a:xfrm>
          <a:custGeom>
            <a:avLst/>
            <a:gdLst/>
            <a:ahLst/>
            <a:cxnLst/>
            <a:rect l="l" t="t" r="r" b="b"/>
            <a:pathLst>
              <a:path w="0" h="44450">
                <a:moveTo>
                  <a:pt x="0" y="0"/>
                </a:moveTo>
                <a:lnTo>
                  <a:pt x="0" y="44450"/>
                </a:lnTo>
                <a:close/>
              </a:path>
            </a:pathLst>
          </a:custGeom>
          <a:noFill/>
          <a:ln w="1016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350736" y="3645795"/>
            <a:ext cx="355600" cy="190500"/>
          </a:xfrm>
          <a:prstGeom prst="rect">
            <a:avLst/>
          </a:prstGeom>
          <a:noFill/>
        </p:spPr>
        <p:txBody>
          <a:bodyPr wrap="none" lIns="0" rIns="0" tIns="0" bIns="0"/>
          <a:lstStyle/>
          <a:p>
            <a:pPr algn="l"/>
            <a:r>
              <a:rPr sz="1000" b="0" i="0">
                <a:solidFill>
                  <a:srgbClr val="000000"/>
                </a:solidFill>
                <a:latin typeface="Arial"/>
              </a:rPr>
              <a:t>1.8</a:t>
            </a:r>
          </a:p>
        </p:txBody>
      </p:sp>
      <p:sp>
        <p:nvSpPr>
          <p:cNvPr id="8" name="Freeform 7"/>
          <p:cNvSpPr/>
          <p:nvPr/>
        </p:nvSpPr>
        <p:spPr>
          <a:xfrm>
            <a:off x="1943558" y="3587394"/>
            <a:ext cx="0" cy="44450"/>
          </a:xfrm>
          <a:custGeom>
            <a:avLst/>
            <a:gdLst/>
            <a:ahLst/>
            <a:cxnLst/>
            <a:rect l="l" t="t" r="r" b="b"/>
            <a:pathLst>
              <a:path w="0" h="44450">
                <a:moveTo>
                  <a:pt x="0" y="0"/>
                </a:moveTo>
                <a:lnTo>
                  <a:pt x="0" y="44450"/>
                </a:lnTo>
                <a:close/>
              </a:path>
            </a:pathLst>
          </a:custGeom>
          <a:noFill/>
          <a:ln w="1016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842574" y="3645795"/>
            <a:ext cx="355600" cy="190500"/>
          </a:xfrm>
          <a:prstGeom prst="rect">
            <a:avLst/>
          </a:prstGeom>
          <a:noFill/>
        </p:spPr>
        <p:txBody>
          <a:bodyPr wrap="none" lIns="0" rIns="0" tIns="0" bIns="0"/>
          <a:lstStyle/>
          <a:p>
            <a:pPr algn="l"/>
            <a:r>
              <a:rPr sz="1000" b="0" i="0">
                <a:solidFill>
                  <a:srgbClr val="000000"/>
                </a:solidFill>
                <a:latin typeface="Arial"/>
              </a:rPr>
              <a:t>1.9</a:t>
            </a:r>
          </a:p>
        </p:txBody>
      </p:sp>
      <p:sp>
        <p:nvSpPr>
          <p:cNvPr id="10" name="Freeform 9"/>
          <p:cNvSpPr/>
          <p:nvPr/>
        </p:nvSpPr>
        <p:spPr>
          <a:xfrm>
            <a:off x="2435396" y="3587394"/>
            <a:ext cx="0" cy="44450"/>
          </a:xfrm>
          <a:custGeom>
            <a:avLst/>
            <a:gdLst/>
            <a:ahLst/>
            <a:cxnLst/>
            <a:rect l="l" t="t" r="r" b="b"/>
            <a:pathLst>
              <a:path w="0" h="44450">
                <a:moveTo>
                  <a:pt x="0" y="0"/>
                </a:moveTo>
                <a:lnTo>
                  <a:pt x="0" y="44450"/>
                </a:lnTo>
                <a:close/>
              </a:path>
            </a:pathLst>
          </a:custGeom>
          <a:noFill/>
          <a:ln w="1016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2334411" y="3645795"/>
            <a:ext cx="355600" cy="190500"/>
          </a:xfrm>
          <a:prstGeom prst="rect">
            <a:avLst/>
          </a:prstGeom>
          <a:noFill/>
        </p:spPr>
        <p:txBody>
          <a:bodyPr wrap="none" lIns="0" rIns="0" tIns="0" bIns="0"/>
          <a:lstStyle/>
          <a:p>
            <a:pPr algn="l"/>
            <a:r>
              <a:rPr sz="1000" b="0" i="0">
                <a:solidFill>
                  <a:srgbClr val="000000"/>
                </a:solidFill>
                <a:latin typeface="Arial"/>
              </a:rPr>
              <a:t>2.0</a:t>
            </a:r>
          </a:p>
        </p:txBody>
      </p:sp>
      <p:sp>
        <p:nvSpPr>
          <p:cNvPr id="12" name="Freeform 11"/>
          <p:cNvSpPr/>
          <p:nvPr/>
        </p:nvSpPr>
        <p:spPr>
          <a:xfrm>
            <a:off x="2927234" y="3587394"/>
            <a:ext cx="0" cy="44450"/>
          </a:xfrm>
          <a:custGeom>
            <a:avLst/>
            <a:gdLst/>
            <a:ahLst/>
            <a:cxnLst/>
            <a:rect l="l" t="t" r="r" b="b"/>
            <a:pathLst>
              <a:path w="0" h="44450">
                <a:moveTo>
                  <a:pt x="0" y="0"/>
                </a:moveTo>
                <a:lnTo>
                  <a:pt x="0" y="44450"/>
                </a:lnTo>
                <a:close/>
              </a:path>
            </a:pathLst>
          </a:custGeom>
          <a:noFill/>
          <a:ln w="1016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2826249" y="3645795"/>
            <a:ext cx="355600" cy="190500"/>
          </a:xfrm>
          <a:prstGeom prst="rect">
            <a:avLst/>
          </a:prstGeom>
          <a:noFill/>
        </p:spPr>
        <p:txBody>
          <a:bodyPr wrap="none" lIns="0" rIns="0" tIns="0" bIns="0"/>
          <a:lstStyle/>
          <a:p>
            <a:pPr algn="l"/>
            <a:r>
              <a:rPr sz="1000" b="0" i="0">
                <a:solidFill>
                  <a:srgbClr val="000000"/>
                </a:solidFill>
                <a:latin typeface="Arial"/>
              </a:rPr>
              <a:t>2.1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634936" y="3825623"/>
            <a:ext cx="1016000" cy="152400"/>
          </a:xfrm>
          <a:prstGeom prst="rect">
            <a:avLst/>
          </a:prstGeom>
          <a:noFill/>
        </p:spPr>
        <p:txBody>
          <a:bodyPr wrap="none" lIns="0" rIns="0" tIns="0" bIns="0"/>
          <a:lstStyle/>
          <a:p>
            <a:pPr algn="l"/>
            <a:r>
              <a:rPr sz="800" b="0" i="1">
                <a:solidFill>
                  <a:srgbClr val="000000"/>
                </a:solidFill>
                <a:latin typeface="Arial"/>
              </a:rPr>
              <a:t>Eintercept (Pa)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949499" y="3806807"/>
            <a:ext cx="431800" cy="190500"/>
          </a:xfrm>
          <a:prstGeom prst="rect">
            <a:avLst/>
          </a:prstGeom>
          <a:noFill/>
        </p:spPr>
        <p:txBody>
          <a:bodyPr wrap="none" lIns="0" rIns="0" tIns="0" bIns="0"/>
          <a:lstStyle/>
          <a:p>
            <a:pPr algn="l"/>
            <a:r>
              <a:rPr sz="1000" b="0" i="0">
                <a:solidFill>
                  <a:srgbClr val="000000"/>
                </a:solidFill>
                <a:latin typeface="Arial"/>
              </a:rPr>
              <a:t>1e11</a:t>
            </a:r>
          </a:p>
        </p:txBody>
      </p:sp>
      <p:sp>
        <p:nvSpPr>
          <p:cNvPr id="16" name="Freeform 15"/>
          <p:cNvSpPr/>
          <p:nvPr/>
        </p:nvSpPr>
        <p:spPr>
          <a:xfrm>
            <a:off x="579191" y="3258765"/>
            <a:ext cx="44450" cy="0"/>
          </a:xfrm>
          <a:custGeom>
            <a:avLst/>
            <a:gdLst/>
            <a:ahLst/>
            <a:cxnLst/>
            <a:rect l="l" t="t" r="r" b="b"/>
            <a:pathLst>
              <a:path w="44450" h="0">
                <a:moveTo>
                  <a:pt x="44450" y="0"/>
                </a:moveTo>
                <a:lnTo>
                  <a:pt x="0" y="0"/>
                </a:lnTo>
                <a:close/>
              </a:path>
            </a:pathLst>
          </a:custGeom>
          <a:noFill/>
          <a:ln w="1016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251968" y="3180015"/>
            <a:ext cx="431800" cy="190500"/>
          </a:xfrm>
          <a:prstGeom prst="rect">
            <a:avLst/>
          </a:prstGeom>
          <a:noFill/>
        </p:spPr>
        <p:txBody>
          <a:bodyPr wrap="none" lIns="0" rIns="0" tIns="0" bIns="0"/>
          <a:lstStyle/>
          <a:p>
            <a:pPr algn="l"/>
            <a:r>
              <a:rPr sz="1000" b="0" i="0">
                <a:solidFill>
                  <a:srgbClr val="000000"/>
                </a:solidFill>
                <a:latin typeface="Arial"/>
              </a:rPr>
              <a:t>0.94</a:t>
            </a:r>
          </a:p>
        </p:txBody>
      </p:sp>
      <p:sp>
        <p:nvSpPr>
          <p:cNvPr id="18" name="Freeform 17"/>
          <p:cNvSpPr/>
          <p:nvPr/>
        </p:nvSpPr>
        <p:spPr>
          <a:xfrm>
            <a:off x="579191" y="2736245"/>
            <a:ext cx="44450" cy="0"/>
          </a:xfrm>
          <a:custGeom>
            <a:avLst/>
            <a:gdLst/>
            <a:ahLst/>
            <a:cxnLst/>
            <a:rect l="l" t="t" r="r" b="b"/>
            <a:pathLst>
              <a:path w="44450" h="0">
                <a:moveTo>
                  <a:pt x="44450" y="0"/>
                </a:moveTo>
                <a:lnTo>
                  <a:pt x="0" y="0"/>
                </a:lnTo>
                <a:close/>
              </a:path>
            </a:pathLst>
          </a:custGeom>
          <a:noFill/>
          <a:ln w="1016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251968" y="2657495"/>
            <a:ext cx="431800" cy="190500"/>
          </a:xfrm>
          <a:prstGeom prst="rect">
            <a:avLst/>
          </a:prstGeom>
          <a:noFill/>
        </p:spPr>
        <p:txBody>
          <a:bodyPr wrap="none" lIns="0" rIns="0" tIns="0" bIns="0"/>
          <a:lstStyle/>
          <a:p>
            <a:pPr algn="l"/>
            <a:r>
              <a:rPr sz="1000" b="0" i="0">
                <a:solidFill>
                  <a:srgbClr val="000000"/>
                </a:solidFill>
                <a:latin typeface="Arial"/>
              </a:rPr>
              <a:t>0.96</a:t>
            </a:r>
          </a:p>
        </p:txBody>
      </p:sp>
      <p:sp>
        <p:nvSpPr>
          <p:cNvPr id="20" name="Freeform 19"/>
          <p:cNvSpPr/>
          <p:nvPr/>
        </p:nvSpPr>
        <p:spPr>
          <a:xfrm>
            <a:off x="579191" y="2213726"/>
            <a:ext cx="44450" cy="0"/>
          </a:xfrm>
          <a:custGeom>
            <a:avLst/>
            <a:gdLst/>
            <a:ahLst/>
            <a:cxnLst/>
            <a:rect l="l" t="t" r="r" b="b"/>
            <a:pathLst>
              <a:path w="44450" h="0">
                <a:moveTo>
                  <a:pt x="44450" y="0"/>
                </a:moveTo>
                <a:lnTo>
                  <a:pt x="0" y="0"/>
                </a:lnTo>
                <a:close/>
              </a:path>
            </a:pathLst>
          </a:custGeom>
          <a:noFill/>
          <a:ln w="1016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251968" y="2134976"/>
            <a:ext cx="431800" cy="190500"/>
          </a:xfrm>
          <a:prstGeom prst="rect">
            <a:avLst/>
          </a:prstGeom>
          <a:noFill/>
        </p:spPr>
        <p:txBody>
          <a:bodyPr wrap="none" lIns="0" rIns="0" tIns="0" bIns="0"/>
          <a:lstStyle/>
          <a:p>
            <a:pPr algn="l"/>
            <a:r>
              <a:rPr sz="1000" b="0" i="0">
                <a:solidFill>
                  <a:srgbClr val="000000"/>
                </a:solidFill>
                <a:latin typeface="Arial"/>
              </a:rPr>
              <a:t>0.98</a:t>
            </a:r>
          </a:p>
        </p:txBody>
      </p:sp>
      <p:sp>
        <p:nvSpPr>
          <p:cNvPr id="22" name="Freeform 21"/>
          <p:cNvSpPr/>
          <p:nvPr/>
        </p:nvSpPr>
        <p:spPr>
          <a:xfrm>
            <a:off x="579191" y="1691207"/>
            <a:ext cx="44450" cy="0"/>
          </a:xfrm>
          <a:custGeom>
            <a:avLst/>
            <a:gdLst/>
            <a:ahLst/>
            <a:cxnLst/>
            <a:rect l="l" t="t" r="r" b="b"/>
            <a:pathLst>
              <a:path w="44450" h="0">
                <a:moveTo>
                  <a:pt x="44450" y="0"/>
                </a:moveTo>
                <a:lnTo>
                  <a:pt x="0" y="0"/>
                </a:lnTo>
                <a:close/>
              </a:path>
            </a:pathLst>
          </a:custGeom>
          <a:noFill/>
          <a:ln w="1016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251968" y="1612457"/>
            <a:ext cx="431800" cy="190500"/>
          </a:xfrm>
          <a:prstGeom prst="rect">
            <a:avLst/>
          </a:prstGeom>
          <a:noFill/>
        </p:spPr>
        <p:txBody>
          <a:bodyPr wrap="none" lIns="0" rIns="0" tIns="0" bIns="0"/>
          <a:lstStyle/>
          <a:p>
            <a:pPr algn="l"/>
            <a:r>
              <a:rPr sz="1000" b="0" i="0">
                <a:solidFill>
                  <a:srgbClr val="000000"/>
                </a:solidFill>
                <a:latin typeface="Arial"/>
              </a:rPr>
              <a:t>1.00</a:t>
            </a:r>
          </a:p>
        </p:txBody>
      </p:sp>
      <p:sp>
        <p:nvSpPr>
          <p:cNvPr id="24" name="Freeform 23"/>
          <p:cNvSpPr/>
          <p:nvPr/>
        </p:nvSpPr>
        <p:spPr>
          <a:xfrm>
            <a:off x="579191" y="1168688"/>
            <a:ext cx="44450" cy="0"/>
          </a:xfrm>
          <a:custGeom>
            <a:avLst/>
            <a:gdLst/>
            <a:ahLst/>
            <a:cxnLst/>
            <a:rect l="l" t="t" r="r" b="b"/>
            <a:pathLst>
              <a:path w="44450" h="0">
                <a:moveTo>
                  <a:pt x="44450" y="0"/>
                </a:moveTo>
                <a:lnTo>
                  <a:pt x="0" y="0"/>
                </a:lnTo>
                <a:close/>
              </a:path>
            </a:pathLst>
          </a:custGeom>
          <a:noFill/>
          <a:ln w="1016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251968" y="1089938"/>
            <a:ext cx="431800" cy="190500"/>
          </a:xfrm>
          <a:prstGeom prst="rect">
            <a:avLst/>
          </a:prstGeom>
          <a:noFill/>
        </p:spPr>
        <p:txBody>
          <a:bodyPr wrap="none" lIns="0" rIns="0" tIns="0" bIns="0"/>
          <a:lstStyle/>
          <a:p>
            <a:pPr algn="l"/>
            <a:r>
              <a:rPr sz="1000" b="0" i="0">
                <a:solidFill>
                  <a:srgbClr val="000000"/>
                </a:solidFill>
                <a:latin typeface="Arial"/>
              </a:rPr>
              <a:t>1.02</a:t>
            </a:r>
          </a:p>
        </p:txBody>
      </p:sp>
      <p:sp>
        <p:nvSpPr>
          <p:cNvPr id="26" name="TextBox 25"/>
          <p:cNvSpPr txBox="1"/>
          <p:nvPr/>
        </p:nvSpPr>
        <p:spPr>
          <a:xfrm rot="16200000">
            <a:off x="103838" y="1938731"/>
            <a:ext cx="772160" cy="152400"/>
          </a:xfrm>
          <a:prstGeom prst="rect">
            <a:avLst/>
          </a:prstGeom>
          <a:noFill/>
        </p:spPr>
        <p:txBody>
          <a:bodyPr wrap="none" lIns="0" rIns="0" tIns="0" bIns="0"/>
          <a:lstStyle/>
          <a:p>
            <a:pPr algn="l"/>
            <a:r>
              <a:rPr sz="800" b="0" i="1">
                <a:solidFill>
                  <a:srgbClr val="000000"/>
                </a:solidFill>
                <a:latin typeface="Arial"/>
              </a:rPr>
              <a:t>αbase (K−1)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23641" y="574040"/>
            <a:ext cx="431800" cy="190500"/>
          </a:xfrm>
          <a:prstGeom prst="rect">
            <a:avLst/>
          </a:prstGeom>
          <a:noFill/>
        </p:spPr>
        <p:txBody>
          <a:bodyPr wrap="none" lIns="0" rIns="0" tIns="0" bIns="0"/>
          <a:lstStyle/>
          <a:p>
            <a:pPr algn="l"/>
            <a:r>
              <a:rPr sz="1000" b="0" i="0">
                <a:solidFill>
                  <a:srgbClr val="000000"/>
                </a:solidFill>
                <a:latin typeface="Arial"/>
              </a:rPr>
              <a:t>1e−5</a:t>
            </a:r>
          </a:p>
        </p:txBody>
      </p:sp>
      <p:sp>
        <p:nvSpPr>
          <p:cNvPr id="28" name="Freeform 27"/>
          <p:cNvSpPr/>
          <p:nvPr/>
        </p:nvSpPr>
        <p:spPr>
          <a:xfrm>
            <a:off x="623641" y="739140"/>
            <a:ext cx="0" cy="2848254"/>
          </a:xfrm>
          <a:custGeom>
            <a:avLst/>
            <a:gdLst/>
            <a:ahLst/>
            <a:cxnLst/>
            <a:rect l="l" t="t" r="r" b="b"/>
            <a:pathLst>
              <a:path w="0" h="2848254">
                <a:moveTo>
                  <a:pt x="0" y="2848254"/>
                </a:moveTo>
                <a:lnTo>
                  <a:pt x="0" y="0"/>
                </a:lnTo>
                <a:close/>
              </a:path>
            </a:pathLst>
          </a:custGeom>
          <a:noFill/>
          <a:ln w="1016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Freeform 28"/>
          <p:cNvSpPr/>
          <p:nvPr/>
        </p:nvSpPr>
        <p:spPr>
          <a:xfrm>
            <a:off x="623641" y="3587394"/>
            <a:ext cx="2646414" cy="0"/>
          </a:xfrm>
          <a:custGeom>
            <a:avLst/>
            <a:gdLst/>
            <a:ahLst/>
            <a:cxnLst/>
            <a:rect l="l" t="t" r="r" b="b"/>
            <a:pathLst>
              <a:path w="2646414" h="0">
                <a:moveTo>
                  <a:pt x="0" y="0"/>
                </a:moveTo>
                <a:lnTo>
                  <a:pt x="2646414" y="0"/>
                </a:lnTo>
                <a:close/>
              </a:path>
            </a:pathLst>
          </a:custGeom>
          <a:noFill/>
          <a:ln w="1016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1182208" y="548640"/>
            <a:ext cx="1897380" cy="171450"/>
          </a:xfrm>
          <a:prstGeom prst="rect">
            <a:avLst/>
          </a:prstGeom>
          <a:noFill/>
        </p:spPr>
        <p:txBody>
          <a:bodyPr wrap="none" lIns="0" rIns="0" tIns="0" bIns="0"/>
          <a:lstStyle/>
          <a:p>
            <a:pPr algn="l"/>
            <a:r>
              <a:rPr sz="900" b="0" i="0">
                <a:solidFill>
                  <a:srgbClr val="000000"/>
                </a:solidFill>
                <a:latin typeface="Arial"/>
              </a:rPr>
              <a:t>Posterior mean: E vs alpha</a:t>
            </a:r>
          </a:p>
        </p:txBody>
      </p:sp>
      <p:sp>
        <p:nvSpPr>
          <p:cNvPr id="31" name="Freeform 30"/>
          <p:cNvSpPr/>
          <p:nvPr/>
        </p:nvSpPr>
        <p:spPr>
          <a:xfrm>
            <a:off x="1233120" y="3255031"/>
            <a:ext cx="106256" cy="106256"/>
          </a:xfrm>
          <a:custGeom>
            <a:avLst/>
            <a:gdLst/>
            <a:ahLst/>
            <a:cxnLst/>
            <a:rect l="l" t="t" r="r" b="b"/>
            <a:pathLst>
              <a:path w="106256" h="106256">
                <a:moveTo>
                  <a:pt x="53128" y="106256"/>
                </a:moveTo>
                <a:lnTo>
                  <a:pt x="73459" y="102211"/>
                </a:lnTo>
                <a:close/>
                <a:lnTo>
                  <a:pt x="90695" y="90695"/>
                </a:lnTo>
                <a:close/>
                <a:lnTo>
                  <a:pt x="102212" y="73459"/>
                </a:lnTo>
                <a:close/>
                <a:lnTo>
                  <a:pt x="106256" y="53128"/>
                </a:lnTo>
                <a:close/>
                <a:lnTo>
                  <a:pt x="102212" y="32797"/>
                </a:lnTo>
                <a:close/>
                <a:lnTo>
                  <a:pt x="90695" y="15561"/>
                </a:lnTo>
                <a:close/>
                <a:lnTo>
                  <a:pt x="73459" y="4044"/>
                </a:lnTo>
                <a:close/>
                <a:lnTo>
                  <a:pt x="53128" y="0"/>
                </a:lnTo>
                <a:close/>
                <a:lnTo>
                  <a:pt x="32797" y="4044"/>
                </a:lnTo>
                <a:close/>
                <a:lnTo>
                  <a:pt x="15561" y="15561"/>
                </a:lnTo>
                <a:close/>
                <a:lnTo>
                  <a:pt x="4044" y="32797"/>
                </a:lnTo>
                <a:close/>
                <a:lnTo>
                  <a:pt x="0" y="53128"/>
                </a:lnTo>
                <a:close/>
                <a:lnTo>
                  <a:pt x="4044" y="73459"/>
                </a:lnTo>
                <a:close/>
                <a:lnTo>
                  <a:pt x="15561" y="90695"/>
                </a:lnTo>
                <a:close/>
                <a:lnTo>
                  <a:pt x="32797" y="102211"/>
                </a:lnTo>
                <a:close/>
                <a:lnTo>
                  <a:pt x="53128" y="106256"/>
                </a:lnTo>
                <a:close/>
                <a:lnTo>
                  <a:pt x="53128" y="106256"/>
                </a:lnTo>
                <a:close/>
              </a:path>
            </a:pathLst>
          </a:custGeom>
          <a:solidFill>
            <a:srgbClr val="16914D"/>
          </a:solidFill>
          <a:ln w="10160">
            <a:solidFill>
              <a:srgbClr val="3333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Freeform 31"/>
          <p:cNvSpPr/>
          <p:nvPr/>
        </p:nvSpPr>
        <p:spPr>
          <a:xfrm>
            <a:off x="1730951" y="2716183"/>
            <a:ext cx="106256" cy="106256"/>
          </a:xfrm>
          <a:custGeom>
            <a:avLst/>
            <a:gdLst/>
            <a:ahLst/>
            <a:cxnLst/>
            <a:rect l="l" t="t" r="r" b="b"/>
            <a:pathLst>
              <a:path w="106256" h="106256">
                <a:moveTo>
                  <a:pt x="53128" y="106256"/>
                </a:moveTo>
                <a:lnTo>
                  <a:pt x="73459" y="102212"/>
                </a:lnTo>
                <a:close/>
                <a:lnTo>
                  <a:pt x="90695" y="90695"/>
                </a:lnTo>
                <a:close/>
                <a:lnTo>
                  <a:pt x="102212" y="73459"/>
                </a:lnTo>
                <a:close/>
                <a:lnTo>
                  <a:pt x="106256" y="53128"/>
                </a:lnTo>
                <a:close/>
                <a:lnTo>
                  <a:pt x="102212" y="32797"/>
                </a:lnTo>
                <a:close/>
                <a:lnTo>
                  <a:pt x="90695" y="15561"/>
                </a:lnTo>
                <a:close/>
                <a:lnTo>
                  <a:pt x="73459" y="4044"/>
                </a:lnTo>
                <a:close/>
                <a:lnTo>
                  <a:pt x="53128" y="0"/>
                </a:lnTo>
                <a:close/>
                <a:lnTo>
                  <a:pt x="32797" y="4044"/>
                </a:lnTo>
                <a:close/>
                <a:lnTo>
                  <a:pt x="15561" y="15561"/>
                </a:lnTo>
                <a:close/>
                <a:lnTo>
                  <a:pt x="4045" y="32797"/>
                </a:lnTo>
                <a:close/>
                <a:lnTo>
                  <a:pt x="0" y="53128"/>
                </a:lnTo>
                <a:close/>
                <a:lnTo>
                  <a:pt x="4045" y="73459"/>
                </a:lnTo>
                <a:close/>
                <a:lnTo>
                  <a:pt x="15561" y="90695"/>
                </a:lnTo>
                <a:close/>
                <a:lnTo>
                  <a:pt x="32797" y="102212"/>
                </a:lnTo>
                <a:close/>
                <a:lnTo>
                  <a:pt x="53128" y="106256"/>
                </a:lnTo>
                <a:close/>
                <a:lnTo>
                  <a:pt x="53128" y="106256"/>
                </a:lnTo>
                <a:close/>
              </a:path>
            </a:pathLst>
          </a:custGeom>
          <a:solidFill>
            <a:srgbClr val="51B35E"/>
          </a:solidFill>
          <a:ln w="10160">
            <a:solidFill>
              <a:srgbClr val="3333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Freeform 32"/>
          <p:cNvSpPr/>
          <p:nvPr/>
        </p:nvSpPr>
        <p:spPr>
          <a:xfrm>
            <a:off x="1091492" y="3112499"/>
            <a:ext cx="106256" cy="106256"/>
          </a:xfrm>
          <a:custGeom>
            <a:avLst/>
            <a:gdLst/>
            <a:ahLst/>
            <a:cxnLst/>
            <a:rect l="l" t="t" r="r" b="b"/>
            <a:pathLst>
              <a:path w="106256" h="106256">
                <a:moveTo>
                  <a:pt x="53128" y="106256"/>
                </a:moveTo>
                <a:lnTo>
                  <a:pt x="73459" y="102212"/>
                </a:lnTo>
                <a:close/>
                <a:lnTo>
                  <a:pt x="90695" y="90695"/>
                </a:lnTo>
                <a:close/>
                <a:lnTo>
                  <a:pt x="102212" y="73459"/>
                </a:lnTo>
                <a:close/>
                <a:lnTo>
                  <a:pt x="106256" y="53128"/>
                </a:lnTo>
                <a:close/>
                <a:lnTo>
                  <a:pt x="102212" y="32797"/>
                </a:lnTo>
                <a:close/>
                <a:lnTo>
                  <a:pt x="90695" y="15561"/>
                </a:lnTo>
                <a:close/>
                <a:lnTo>
                  <a:pt x="73459" y="4045"/>
                </a:lnTo>
                <a:close/>
                <a:lnTo>
                  <a:pt x="53128" y="0"/>
                </a:lnTo>
                <a:close/>
                <a:lnTo>
                  <a:pt x="32797" y="4045"/>
                </a:lnTo>
                <a:close/>
                <a:lnTo>
                  <a:pt x="15561" y="15561"/>
                </a:lnTo>
                <a:close/>
                <a:lnTo>
                  <a:pt x="4045" y="32797"/>
                </a:lnTo>
                <a:close/>
                <a:lnTo>
                  <a:pt x="0" y="53128"/>
                </a:lnTo>
                <a:close/>
                <a:lnTo>
                  <a:pt x="4045" y="73459"/>
                </a:lnTo>
                <a:close/>
                <a:lnTo>
                  <a:pt x="15561" y="90695"/>
                </a:lnTo>
                <a:close/>
                <a:lnTo>
                  <a:pt x="32797" y="102212"/>
                </a:lnTo>
                <a:close/>
                <a:lnTo>
                  <a:pt x="53128" y="106256"/>
                </a:lnTo>
                <a:close/>
                <a:lnTo>
                  <a:pt x="53128" y="106256"/>
                </a:lnTo>
                <a:close/>
              </a:path>
            </a:pathLst>
          </a:custGeom>
          <a:solidFill>
            <a:srgbClr val="17934E"/>
          </a:solidFill>
          <a:ln w="10160">
            <a:solidFill>
              <a:srgbClr val="3333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Freeform 33"/>
          <p:cNvSpPr/>
          <p:nvPr/>
        </p:nvSpPr>
        <p:spPr>
          <a:xfrm>
            <a:off x="690805" y="3404800"/>
            <a:ext cx="106256" cy="106256"/>
          </a:xfrm>
          <a:custGeom>
            <a:avLst/>
            <a:gdLst/>
            <a:ahLst/>
            <a:cxnLst/>
            <a:rect l="l" t="t" r="r" b="b"/>
            <a:pathLst>
              <a:path w="106256" h="106256">
                <a:moveTo>
                  <a:pt x="53128" y="106256"/>
                </a:moveTo>
                <a:lnTo>
                  <a:pt x="73459" y="102212"/>
                </a:lnTo>
                <a:close/>
                <a:lnTo>
                  <a:pt x="90695" y="90695"/>
                </a:lnTo>
                <a:close/>
                <a:lnTo>
                  <a:pt x="102212" y="73459"/>
                </a:lnTo>
                <a:close/>
                <a:lnTo>
                  <a:pt x="106256" y="53128"/>
                </a:lnTo>
                <a:close/>
                <a:lnTo>
                  <a:pt x="102212" y="32797"/>
                </a:lnTo>
                <a:close/>
                <a:lnTo>
                  <a:pt x="90695" y="15561"/>
                </a:lnTo>
                <a:close/>
                <a:lnTo>
                  <a:pt x="73459" y="4045"/>
                </a:lnTo>
                <a:close/>
                <a:lnTo>
                  <a:pt x="53128" y="0"/>
                </a:lnTo>
                <a:close/>
                <a:lnTo>
                  <a:pt x="32797" y="4045"/>
                </a:lnTo>
                <a:close/>
                <a:lnTo>
                  <a:pt x="15561" y="15561"/>
                </a:lnTo>
                <a:close/>
                <a:lnTo>
                  <a:pt x="4044" y="32797"/>
                </a:lnTo>
                <a:close/>
                <a:lnTo>
                  <a:pt x="0" y="53128"/>
                </a:lnTo>
                <a:close/>
                <a:lnTo>
                  <a:pt x="4044" y="73459"/>
                </a:lnTo>
                <a:close/>
                <a:lnTo>
                  <a:pt x="15561" y="90695"/>
                </a:lnTo>
                <a:close/>
                <a:lnTo>
                  <a:pt x="32797" y="102212"/>
                </a:lnTo>
                <a:close/>
                <a:lnTo>
                  <a:pt x="53128" y="106256"/>
                </a:lnTo>
                <a:close/>
                <a:lnTo>
                  <a:pt x="53128" y="106256"/>
                </a:lnTo>
                <a:close/>
              </a:path>
            </a:pathLst>
          </a:custGeom>
          <a:solidFill>
            <a:srgbClr val="04703B"/>
          </a:solidFill>
          <a:ln w="10160">
            <a:solidFill>
              <a:srgbClr val="3333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Freeform 34"/>
          <p:cNvSpPr/>
          <p:nvPr/>
        </p:nvSpPr>
        <p:spPr>
          <a:xfrm>
            <a:off x="1613867" y="2532662"/>
            <a:ext cx="106256" cy="106256"/>
          </a:xfrm>
          <a:custGeom>
            <a:avLst/>
            <a:gdLst/>
            <a:ahLst/>
            <a:cxnLst/>
            <a:rect l="l" t="t" r="r" b="b"/>
            <a:pathLst>
              <a:path w="106256" h="106256">
                <a:moveTo>
                  <a:pt x="53128" y="106256"/>
                </a:moveTo>
                <a:lnTo>
                  <a:pt x="73459" y="102211"/>
                </a:lnTo>
                <a:close/>
                <a:lnTo>
                  <a:pt x="90695" y="90695"/>
                </a:lnTo>
                <a:close/>
                <a:lnTo>
                  <a:pt x="102211" y="73459"/>
                </a:lnTo>
                <a:close/>
                <a:lnTo>
                  <a:pt x="106256" y="53128"/>
                </a:lnTo>
                <a:close/>
                <a:lnTo>
                  <a:pt x="102211" y="32797"/>
                </a:lnTo>
                <a:close/>
                <a:lnTo>
                  <a:pt x="90695" y="15561"/>
                </a:lnTo>
                <a:close/>
                <a:lnTo>
                  <a:pt x="73459" y="4044"/>
                </a:lnTo>
                <a:close/>
                <a:lnTo>
                  <a:pt x="53128" y="0"/>
                </a:lnTo>
                <a:close/>
                <a:lnTo>
                  <a:pt x="32797" y="4044"/>
                </a:lnTo>
                <a:close/>
                <a:lnTo>
                  <a:pt x="15560" y="15561"/>
                </a:lnTo>
                <a:close/>
                <a:lnTo>
                  <a:pt x="4044" y="32797"/>
                </a:lnTo>
                <a:close/>
                <a:lnTo>
                  <a:pt x="0" y="53128"/>
                </a:lnTo>
                <a:close/>
                <a:lnTo>
                  <a:pt x="4044" y="73459"/>
                </a:lnTo>
                <a:close/>
                <a:lnTo>
                  <a:pt x="15560" y="90695"/>
                </a:lnTo>
                <a:close/>
                <a:lnTo>
                  <a:pt x="32797" y="102211"/>
                </a:lnTo>
                <a:close/>
                <a:lnTo>
                  <a:pt x="53128" y="106256"/>
                </a:lnTo>
                <a:close/>
                <a:lnTo>
                  <a:pt x="53128" y="106256"/>
                </a:lnTo>
                <a:close/>
              </a:path>
            </a:pathLst>
          </a:custGeom>
          <a:solidFill>
            <a:srgbClr val="30A356"/>
          </a:solidFill>
          <a:ln w="10160">
            <a:solidFill>
              <a:srgbClr val="3333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Freeform 35"/>
          <p:cNvSpPr/>
          <p:nvPr/>
        </p:nvSpPr>
        <p:spPr>
          <a:xfrm>
            <a:off x="1300958" y="2808186"/>
            <a:ext cx="106256" cy="106256"/>
          </a:xfrm>
          <a:custGeom>
            <a:avLst/>
            <a:gdLst/>
            <a:ahLst/>
            <a:cxnLst/>
            <a:rect l="l" t="t" r="r" b="b"/>
            <a:pathLst>
              <a:path w="106256" h="106256">
                <a:moveTo>
                  <a:pt x="53128" y="106256"/>
                </a:moveTo>
                <a:lnTo>
                  <a:pt x="73459" y="102212"/>
                </a:lnTo>
                <a:close/>
                <a:lnTo>
                  <a:pt x="90695" y="90695"/>
                </a:lnTo>
                <a:close/>
                <a:lnTo>
                  <a:pt x="102212" y="73459"/>
                </a:lnTo>
                <a:close/>
                <a:lnTo>
                  <a:pt x="106256" y="53128"/>
                </a:lnTo>
                <a:close/>
                <a:lnTo>
                  <a:pt x="102212" y="32797"/>
                </a:lnTo>
                <a:close/>
                <a:lnTo>
                  <a:pt x="90695" y="15561"/>
                </a:lnTo>
                <a:close/>
                <a:lnTo>
                  <a:pt x="73459" y="4044"/>
                </a:lnTo>
                <a:close/>
                <a:lnTo>
                  <a:pt x="53128" y="0"/>
                </a:lnTo>
                <a:close/>
                <a:lnTo>
                  <a:pt x="32797" y="4044"/>
                </a:lnTo>
                <a:close/>
                <a:lnTo>
                  <a:pt x="15561" y="15561"/>
                </a:lnTo>
                <a:close/>
                <a:lnTo>
                  <a:pt x="4045" y="32797"/>
                </a:lnTo>
                <a:close/>
                <a:lnTo>
                  <a:pt x="0" y="53128"/>
                </a:lnTo>
                <a:close/>
                <a:lnTo>
                  <a:pt x="4045" y="73459"/>
                </a:lnTo>
                <a:close/>
                <a:lnTo>
                  <a:pt x="15561" y="90695"/>
                </a:lnTo>
                <a:close/>
                <a:lnTo>
                  <a:pt x="32797" y="102212"/>
                </a:lnTo>
                <a:close/>
                <a:lnTo>
                  <a:pt x="53128" y="106256"/>
                </a:lnTo>
                <a:close/>
                <a:lnTo>
                  <a:pt x="53128" y="106256"/>
                </a:lnTo>
                <a:close/>
              </a:path>
            </a:pathLst>
          </a:custGeom>
          <a:solidFill>
            <a:srgbClr val="006837"/>
          </a:solidFill>
          <a:ln w="10160">
            <a:solidFill>
              <a:srgbClr val="3333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Freeform 36"/>
          <p:cNvSpPr/>
          <p:nvPr/>
        </p:nvSpPr>
        <p:spPr>
          <a:xfrm>
            <a:off x="1915019" y="2457298"/>
            <a:ext cx="106256" cy="106256"/>
          </a:xfrm>
          <a:custGeom>
            <a:avLst/>
            <a:gdLst/>
            <a:ahLst/>
            <a:cxnLst/>
            <a:rect l="l" t="t" r="r" b="b"/>
            <a:pathLst>
              <a:path w="106256" h="106256">
                <a:moveTo>
                  <a:pt x="53128" y="106256"/>
                </a:moveTo>
                <a:lnTo>
                  <a:pt x="73459" y="102211"/>
                </a:lnTo>
                <a:close/>
                <a:lnTo>
                  <a:pt x="90695" y="90695"/>
                </a:lnTo>
                <a:close/>
                <a:lnTo>
                  <a:pt x="102212" y="73459"/>
                </a:lnTo>
                <a:close/>
                <a:lnTo>
                  <a:pt x="106256" y="53128"/>
                </a:lnTo>
                <a:close/>
                <a:lnTo>
                  <a:pt x="102212" y="32797"/>
                </a:lnTo>
                <a:close/>
                <a:lnTo>
                  <a:pt x="90695" y="15561"/>
                </a:lnTo>
                <a:close/>
                <a:lnTo>
                  <a:pt x="73459" y="4044"/>
                </a:lnTo>
                <a:close/>
                <a:lnTo>
                  <a:pt x="53128" y="0"/>
                </a:lnTo>
                <a:close/>
                <a:lnTo>
                  <a:pt x="32797" y="4044"/>
                </a:lnTo>
                <a:close/>
                <a:lnTo>
                  <a:pt x="15561" y="15561"/>
                </a:lnTo>
                <a:close/>
                <a:lnTo>
                  <a:pt x="4045" y="32797"/>
                </a:lnTo>
                <a:close/>
                <a:lnTo>
                  <a:pt x="0" y="53128"/>
                </a:lnTo>
                <a:close/>
                <a:lnTo>
                  <a:pt x="4045" y="73459"/>
                </a:lnTo>
                <a:close/>
                <a:lnTo>
                  <a:pt x="15561" y="90695"/>
                </a:lnTo>
                <a:close/>
                <a:lnTo>
                  <a:pt x="32797" y="102211"/>
                </a:lnTo>
                <a:close/>
                <a:lnTo>
                  <a:pt x="53128" y="106256"/>
                </a:lnTo>
                <a:close/>
                <a:lnTo>
                  <a:pt x="53128" y="106256"/>
                </a:lnTo>
                <a:close/>
              </a:path>
            </a:pathLst>
          </a:custGeom>
          <a:solidFill>
            <a:srgbClr val="91D068"/>
          </a:solidFill>
          <a:ln w="10160">
            <a:solidFill>
              <a:srgbClr val="3333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Freeform 37"/>
          <p:cNvSpPr/>
          <p:nvPr/>
        </p:nvSpPr>
        <p:spPr>
          <a:xfrm>
            <a:off x="1820185" y="2703324"/>
            <a:ext cx="106256" cy="106256"/>
          </a:xfrm>
          <a:custGeom>
            <a:avLst/>
            <a:gdLst/>
            <a:ahLst/>
            <a:cxnLst/>
            <a:rect l="l" t="t" r="r" b="b"/>
            <a:pathLst>
              <a:path w="106256" h="106256">
                <a:moveTo>
                  <a:pt x="53128" y="106256"/>
                </a:moveTo>
                <a:lnTo>
                  <a:pt x="73459" y="102212"/>
                </a:lnTo>
                <a:close/>
                <a:lnTo>
                  <a:pt x="90695" y="90695"/>
                </a:lnTo>
                <a:close/>
                <a:lnTo>
                  <a:pt x="102212" y="73459"/>
                </a:lnTo>
                <a:close/>
                <a:lnTo>
                  <a:pt x="106256" y="53128"/>
                </a:lnTo>
                <a:close/>
                <a:lnTo>
                  <a:pt x="102212" y="32797"/>
                </a:lnTo>
                <a:close/>
                <a:lnTo>
                  <a:pt x="90695" y="15561"/>
                </a:lnTo>
                <a:close/>
                <a:lnTo>
                  <a:pt x="73459" y="4045"/>
                </a:lnTo>
                <a:close/>
                <a:lnTo>
                  <a:pt x="53128" y="0"/>
                </a:lnTo>
                <a:close/>
                <a:lnTo>
                  <a:pt x="32797" y="4045"/>
                </a:lnTo>
                <a:close/>
                <a:lnTo>
                  <a:pt x="15561" y="15561"/>
                </a:lnTo>
                <a:close/>
                <a:lnTo>
                  <a:pt x="4045" y="32797"/>
                </a:lnTo>
                <a:close/>
                <a:lnTo>
                  <a:pt x="0" y="53128"/>
                </a:lnTo>
                <a:close/>
                <a:lnTo>
                  <a:pt x="4045" y="73459"/>
                </a:lnTo>
                <a:close/>
                <a:lnTo>
                  <a:pt x="15561" y="90695"/>
                </a:lnTo>
                <a:close/>
                <a:lnTo>
                  <a:pt x="32797" y="102212"/>
                </a:lnTo>
                <a:close/>
                <a:lnTo>
                  <a:pt x="53128" y="106256"/>
                </a:lnTo>
                <a:close/>
                <a:lnTo>
                  <a:pt x="53128" y="106256"/>
                </a:lnTo>
                <a:close/>
              </a:path>
            </a:pathLst>
          </a:custGeom>
          <a:solidFill>
            <a:srgbClr val="93D168"/>
          </a:solidFill>
          <a:ln w="10160">
            <a:solidFill>
              <a:srgbClr val="3333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Freeform 38"/>
          <p:cNvSpPr/>
          <p:nvPr/>
        </p:nvSpPr>
        <p:spPr>
          <a:xfrm>
            <a:off x="920134" y="2517253"/>
            <a:ext cx="106255" cy="106256"/>
          </a:xfrm>
          <a:custGeom>
            <a:avLst/>
            <a:gdLst/>
            <a:ahLst/>
            <a:cxnLst/>
            <a:rect l="l" t="t" r="r" b="b"/>
            <a:pathLst>
              <a:path w="106255" h="106256">
                <a:moveTo>
                  <a:pt x="53127" y="106256"/>
                </a:moveTo>
                <a:lnTo>
                  <a:pt x="73459" y="102212"/>
                </a:lnTo>
                <a:close/>
                <a:lnTo>
                  <a:pt x="90695" y="90695"/>
                </a:lnTo>
                <a:close/>
                <a:lnTo>
                  <a:pt x="102211" y="73459"/>
                </a:lnTo>
                <a:close/>
                <a:lnTo>
                  <a:pt x="106255" y="53128"/>
                </a:lnTo>
                <a:close/>
                <a:lnTo>
                  <a:pt x="102211" y="32797"/>
                </a:lnTo>
                <a:close/>
                <a:lnTo>
                  <a:pt x="90695" y="15561"/>
                </a:lnTo>
                <a:close/>
                <a:lnTo>
                  <a:pt x="73459" y="4045"/>
                </a:lnTo>
                <a:close/>
                <a:lnTo>
                  <a:pt x="53127" y="0"/>
                </a:lnTo>
                <a:close/>
                <a:lnTo>
                  <a:pt x="32796" y="4045"/>
                </a:lnTo>
                <a:close/>
                <a:lnTo>
                  <a:pt x="15560" y="15561"/>
                </a:lnTo>
                <a:close/>
                <a:lnTo>
                  <a:pt x="4044" y="32797"/>
                </a:lnTo>
                <a:close/>
                <a:lnTo>
                  <a:pt x="0" y="53128"/>
                </a:lnTo>
                <a:close/>
                <a:lnTo>
                  <a:pt x="4044" y="73459"/>
                </a:lnTo>
                <a:close/>
                <a:lnTo>
                  <a:pt x="15560" y="90695"/>
                </a:lnTo>
                <a:close/>
                <a:lnTo>
                  <a:pt x="32796" y="102212"/>
                </a:lnTo>
                <a:close/>
                <a:lnTo>
                  <a:pt x="53127" y="106256"/>
                </a:lnTo>
                <a:close/>
                <a:lnTo>
                  <a:pt x="53127" y="106256"/>
                </a:lnTo>
                <a:close/>
              </a:path>
            </a:pathLst>
          </a:custGeom>
          <a:solidFill>
            <a:srgbClr val="8CCD67"/>
          </a:solidFill>
          <a:ln w="10160">
            <a:solidFill>
              <a:srgbClr val="3333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Freeform 39"/>
          <p:cNvSpPr/>
          <p:nvPr/>
        </p:nvSpPr>
        <p:spPr>
          <a:xfrm>
            <a:off x="1351156" y="3179120"/>
            <a:ext cx="106256" cy="106256"/>
          </a:xfrm>
          <a:custGeom>
            <a:avLst/>
            <a:gdLst/>
            <a:ahLst/>
            <a:cxnLst/>
            <a:rect l="l" t="t" r="r" b="b"/>
            <a:pathLst>
              <a:path w="106256" h="106256">
                <a:moveTo>
                  <a:pt x="53128" y="106256"/>
                </a:moveTo>
                <a:lnTo>
                  <a:pt x="73459" y="102211"/>
                </a:lnTo>
                <a:close/>
                <a:lnTo>
                  <a:pt x="90695" y="90695"/>
                </a:lnTo>
                <a:close/>
                <a:lnTo>
                  <a:pt x="102212" y="73459"/>
                </a:lnTo>
                <a:close/>
                <a:lnTo>
                  <a:pt x="106256" y="53128"/>
                </a:lnTo>
                <a:close/>
                <a:lnTo>
                  <a:pt x="102212" y="32797"/>
                </a:lnTo>
                <a:close/>
                <a:lnTo>
                  <a:pt x="90695" y="15561"/>
                </a:lnTo>
                <a:close/>
                <a:lnTo>
                  <a:pt x="73459" y="4044"/>
                </a:lnTo>
                <a:close/>
                <a:lnTo>
                  <a:pt x="53128" y="0"/>
                </a:lnTo>
                <a:close/>
                <a:lnTo>
                  <a:pt x="32797" y="4044"/>
                </a:lnTo>
                <a:close/>
                <a:lnTo>
                  <a:pt x="15561" y="15561"/>
                </a:lnTo>
                <a:close/>
                <a:lnTo>
                  <a:pt x="4045" y="32797"/>
                </a:lnTo>
                <a:close/>
                <a:lnTo>
                  <a:pt x="0" y="53128"/>
                </a:lnTo>
                <a:close/>
                <a:lnTo>
                  <a:pt x="4045" y="73459"/>
                </a:lnTo>
                <a:close/>
                <a:lnTo>
                  <a:pt x="15561" y="90695"/>
                </a:lnTo>
                <a:close/>
                <a:lnTo>
                  <a:pt x="32797" y="102211"/>
                </a:lnTo>
                <a:close/>
                <a:lnTo>
                  <a:pt x="53128" y="106256"/>
                </a:lnTo>
                <a:close/>
                <a:lnTo>
                  <a:pt x="53128" y="106256"/>
                </a:lnTo>
                <a:close/>
              </a:path>
            </a:pathLst>
          </a:custGeom>
          <a:solidFill>
            <a:srgbClr val="75C465"/>
          </a:solidFill>
          <a:ln w="10160">
            <a:solidFill>
              <a:srgbClr val="3333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Freeform 40"/>
          <p:cNvSpPr/>
          <p:nvPr/>
        </p:nvSpPr>
        <p:spPr>
          <a:xfrm>
            <a:off x="1676548" y="2450800"/>
            <a:ext cx="106256" cy="106256"/>
          </a:xfrm>
          <a:custGeom>
            <a:avLst/>
            <a:gdLst/>
            <a:ahLst/>
            <a:cxnLst/>
            <a:rect l="l" t="t" r="r" b="b"/>
            <a:pathLst>
              <a:path w="106256" h="106256">
                <a:moveTo>
                  <a:pt x="53128" y="106256"/>
                </a:moveTo>
                <a:lnTo>
                  <a:pt x="73459" y="102212"/>
                </a:lnTo>
                <a:close/>
                <a:lnTo>
                  <a:pt x="90695" y="90695"/>
                </a:lnTo>
                <a:close/>
                <a:lnTo>
                  <a:pt x="102212" y="73459"/>
                </a:lnTo>
                <a:close/>
                <a:lnTo>
                  <a:pt x="106256" y="53128"/>
                </a:lnTo>
                <a:close/>
                <a:lnTo>
                  <a:pt x="102212" y="32797"/>
                </a:lnTo>
                <a:close/>
                <a:lnTo>
                  <a:pt x="90695" y="15561"/>
                </a:lnTo>
                <a:close/>
                <a:lnTo>
                  <a:pt x="73459" y="4044"/>
                </a:lnTo>
                <a:close/>
                <a:lnTo>
                  <a:pt x="53128" y="0"/>
                </a:lnTo>
                <a:close/>
                <a:lnTo>
                  <a:pt x="32797" y="4044"/>
                </a:lnTo>
                <a:close/>
                <a:lnTo>
                  <a:pt x="15561" y="15561"/>
                </a:lnTo>
                <a:close/>
                <a:lnTo>
                  <a:pt x="4045" y="32797"/>
                </a:lnTo>
                <a:close/>
                <a:lnTo>
                  <a:pt x="0" y="53128"/>
                </a:lnTo>
                <a:close/>
                <a:lnTo>
                  <a:pt x="4045" y="73459"/>
                </a:lnTo>
                <a:close/>
                <a:lnTo>
                  <a:pt x="15561" y="90695"/>
                </a:lnTo>
                <a:close/>
                <a:lnTo>
                  <a:pt x="32797" y="102212"/>
                </a:lnTo>
                <a:close/>
                <a:lnTo>
                  <a:pt x="53128" y="106256"/>
                </a:lnTo>
                <a:close/>
                <a:lnTo>
                  <a:pt x="53128" y="106256"/>
                </a:lnTo>
                <a:close/>
              </a:path>
            </a:pathLst>
          </a:custGeom>
          <a:solidFill>
            <a:srgbClr val="9BD469"/>
          </a:solidFill>
          <a:ln w="10160">
            <a:solidFill>
              <a:srgbClr val="3333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Freeform 41"/>
          <p:cNvSpPr/>
          <p:nvPr/>
        </p:nvSpPr>
        <p:spPr>
          <a:xfrm>
            <a:off x="1575194" y="2939210"/>
            <a:ext cx="106256" cy="106256"/>
          </a:xfrm>
          <a:custGeom>
            <a:avLst/>
            <a:gdLst/>
            <a:ahLst/>
            <a:cxnLst/>
            <a:rect l="l" t="t" r="r" b="b"/>
            <a:pathLst>
              <a:path w="106256" h="106256">
                <a:moveTo>
                  <a:pt x="53128" y="106256"/>
                </a:moveTo>
                <a:lnTo>
                  <a:pt x="73459" y="102211"/>
                </a:lnTo>
                <a:close/>
                <a:lnTo>
                  <a:pt x="90695" y="90695"/>
                </a:lnTo>
                <a:close/>
                <a:lnTo>
                  <a:pt x="102211" y="73459"/>
                </a:lnTo>
                <a:close/>
                <a:lnTo>
                  <a:pt x="106256" y="53128"/>
                </a:lnTo>
                <a:close/>
                <a:lnTo>
                  <a:pt x="102211" y="32797"/>
                </a:lnTo>
                <a:close/>
                <a:lnTo>
                  <a:pt x="90695" y="15561"/>
                </a:lnTo>
                <a:close/>
                <a:lnTo>
                  <a:pt x="73459" y="4044"/>
                </a:lnTo>
                <a:close/>
                <a:lnTo>
                  <a:pt x="53128" y="0"/>
                </a:lnTo>
                <a:close/>
                <a:lnTo>
                  <a:pt x="32797" y="4044"/>
                </a:lnTo>
                <a:close/>
                <a:lnTo>
                  <a:pt x="15561" y="15561"/>
                </a:lnTo>
                <a:close/>
                <a:lnTo>
                  <a:pt x="4044" y="32797"/>
                </a:lnTo>
                <a:close/>
                <a:lnTo>
                  <a:pt x="0" y="53128"/>
                </a:lnTo>
                <a:close/>
                <a:lnTo>
                  <a:pt x="4044" y="73459"/>
                </a:lnTo>
                <a:close/>
                <a:lnTo>
                  <a:pt x="15561" y="90695"/>
                </a:lnTo>
                <a:close/>
                <a:lnTo>
                  <a:pt x="32797" y="102211"/>
                </a:lnTo>
                <a:close/>
                <a:lnTo>
                  <a:pt x="53128" y="106256"/>
                </a:lnTo>
                <a:close/>
                <a:lnTo>
                  <a:pt x="53128" y="106256"/>
                </a:lnTo>
                <a:close/>
              </a:path>
            </a:pathLst>
          </a:custGeom>
          <a:solidFill>
            <a:srgbClr val="9DD569"/>
          </a:solidFill>
          <a:ln w="10160">
            <a:solidFill>
              <a:srgbClr val="3333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Freeform 42"/>
          <p:cNvSpPr/>
          <p:nvPr/>
        </p:nvSpPr>
        <p:spPr>
          <a:xfrm>
            <a:off x="2741849" y="1252667"/>
            <a:ext cx="106256" cy="106256"/>
          </a:xfrm>
          <a:custGeom>
            <a:avLst/>
            <a:gdLst/>
            <a:ahLst/>
            <a:cxnLst/>
            <a:rect l="l" t="t" r="r" b="b"/>
            <a:pathLst>
              <a:path w="106256" h="106256">
                <a:moveTo>
                  <a:pt x="53128" y="106256"/>
                </a:moveTo>
                <a:lnTo>
                  <a:pt x="73459" y="102212"/>
                </a:lnTo>
                <a:close/>
                <a:lnTo>
                  <a:pt x="90695" y="90695"/>
                </a:lnTo>
                <a:close/>
                <a:lnTo>
                  <a:pt x="102211" y="73459"/>
                </a:lnTo>
                <a:close/>
                <a:lnTo>
                  <a:pt x="106256" y="53128"/>
                </a:lnTo>
                <a:close/>
                <a:lnTo>
                  <a:pt x="102211" y="32797"/>
                </a:lnTo>
                <a:close/>
                <a:lnTo>
                  <a:pt x="90695" y="15561"/>
                </a:lnTo>
                <a:close/>
                <a:lnTo>
                  <a:pt x="73459" y="4044"/>
                </a:lnTo>
                <a:close/>
                <a:lnTo>
                  <a:pt x="53128" y="0"/>
                </a:lnTo>
                <a:close/>
                <a:lnTo>
                  <a:pt x="32797" y="4044"/>
                </a:lnTo>
                <a:close/>
                <a:lnTo>
                  <a:pt x="15561" y="15561"/>
                </a:lnTo>
                <a:close/>
                <a:lnTo>
                  <a:pt x="4044" y="32797"/>
                </a:lnTo>
                <a:close/>
                <a:lnTo>
                  <a:pt x="0" y="53128"/>
                </a:lnTo>
                <a:close/>
                <a:lnTo>
                  <a:pt x="4044" y="73459"/>
                </a:lnTo>
                <a:close/>
                <a:lnTo>
                  <a:pt x="15561" y="90695"/>
                </a:lnTo>
                <a:close/>
                <a:lnTo>
                  <a:pt x="32797" y="102212"/>
                </a:lnTo>
                <a:close/>
                <a:lnTo>
                  <a:pt x="53128" y="106256"/>
                </a:lnTo>
                <a:close/>
                <a:lnTo>
                  <a:pt x="53128" y="106256"/>
                </a:lnTo>
                <a:close/>
              </a:path>
            </a:pathLst>
          </a:custGeom>
          <a:solidFill>
            <a:srgbClr val="FCAA5F"/>
          </a:solidFill>
          <a:ln w="10160">
            <a:solidFill>
              <a:srgbClr val="3333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Freeform 43"/>
          <p:cNvSpPr/>
          <p:nvPr/>
        </p:nvSpPr>
        <p:spPr>
          <a:xfrm>
            <a:off x="2408957" y="1724570"/>
            <a:ext cx="106256" cy="106256"/>
          </a:xfrm>
          <a:custGeom>
            <a:avLst/>
            <a:gdLst/>
            <a:ahLst/>
            <a:cxnLst/>
            <a:rect l="l" t="t" r="r" b="b"/>
            <a:pathLst>
              <a:path w="106256" h="106256">
                <a:moveTo>
                  <a:pt x="53128" y="106256"/>
                </a:moveTo>
                <a:lnTo>
                  <a:pt x="73459" y="102211"/>
                </a:lnTo>
                <a:close/>
                <a:lnTo>
                  <a:pt x="90695" y="90695"/>
                </a:lnTo>
                <a:close/>
                <a:lnTo>
                  <a:pt x="102211" y="73459"/>
                </a:lnTo>
                <a:close/>
                <a:lnTo>
                  <a:pt x="106256" y="53128"/>
                </a:lnTo>
                <a:close/>
                <a:lnTo>
                  <a:pt x="102211" y="32797"/>
                </a:lnTo>
                <a:close/>
                <a:lnTo>
                  <a:pt x="90695" y="15561"/>
                </a:lnTo>
                <a:close/>
                <a:lnTo>
                  <a:pt x="73459" y="4044"/>
                </a:lnTo>
                <a:close/>
                <a:lnTo>
                  <a:pt x="53128" y="0"/>
                </a:lnTo>
                <a:close/>
                <a:lnTo>
                  <a:pt x="32797" y="4044"/>
                </a:lnTo>
                <a:close/>
                <a:lnTo>
                  <a:pt x="15561" y="15561"/>
                </a:lnTo>
                <a:close/>
                <a:lnTo>
                  <a:pt x="4044" y="32797"/>
                </a:lnTo>
                <a:close/>
                <a:lnTo>
                  <a:pt x="0" y="53128"/>
                </a:lnTo>
                <a:close/>
                <a:lnTo>
                  <a:pt x="4044" y="73459"/>
                </a:lnTo>
                <a:close/>
                <a:lnTo>
                  <a:pt x="15561" y="90695"/>
                </a:lnTo>
                <a:close/>
                <a:lnTo>
                  <a:pt x="32797" y="102211"/>
                </a:lnTo>
                <a:close/>
                <a:lnTo>
                  <a:pt x="53128" y="106256"/>
                </a:lnTo>
                <a:close/>
                <a:lnTo>
                  <a:pt x="53128" y="106256"/>
                </a:lnTo>
                <a:close/>
              </a:path>
            </a:pathLst>
          </a:custGeom>
          <a:solidFill>
            <a:srgbClr val="F67C4A"/>
          </a:solidFill>
          <a:ln w="10160">
            <a:solidFill>
              <a:srgbClr val="3333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Freeform 44"/>
          <p:cNvSpPr/>
          <p:nvPr/>
        </p:nvSpPr>
        <p:spPr>
          <a:xfrm>
            <a:off x="3096636" y="815478"/>
            <a:ext cx="106256" cy="106256"/>
          </a:xfrm>
          <a:custGeom>
            <a:avLst/>
            <a:gdLst/>
            <a:ahLst/>
            <a:cxnLst/>
            <a:rect l="l" t="t" r="r" b="b"/>
            <a:pathLst>
              <a:path w="106256" h="106256">
                <a:moveTo>
                  <a:pt x="53128" y="106256"/>
                </a:moveTo>
                <a:lnTo>
                  <a:pt x="73459" y="102212"/>
                </a:lnTo>
                <a:close/>
                <a:lnTo>
                  <a:pt x="90695" y="90695"/>
                </a:lnTo>
                <a:close/>
                <a:lnTo>
                  <a:pt x="102211" y="73459"/>
                </a:lnTo>
                <a:close/>
                <a:lnTo>
                  <a:pt x="106256" y="53128"/>
                </a:lnTo>
                <a:close/>
                <a:lnTo>
                  <a:pt x="102211" y="32797"/>
                </a:lnTo>
                <a:close/>
                <a:lnTo>
                  <a:pt x="90695" y="15561"/>
                </a:lnTo>
                <a:close/>
                <a:lnTo>
                  <a:pt x="73459" y="4045"/>
                </a:lnTo>
                <a:close/>
                <a:lnTo>
                  <a:pt x="53128" y="0"/>
                </a:lnTo>
                <a:close/>
                <a:lnTo>
                  <a:pt x="32797" y="4045"/>
                </a:lnTo>
                <a:close/>
                <a:lnTo>
                  <a:pt x="15561" y="15561"/>
                </a:lnTo>
                <a:close/>
                <a:lnTo>
                  <a:pt x="4044" y="32797"/>
                </a:lnTo>
                <a:close/>
                <a:lnTo>
                  <a:pt x="0" y="53128"/>
                </a:lnTo>
                <a:close/>
                <a:lnTo>
                  <a:pt x="4044" y="73459"/>
                </a:lnTo>
                <a:close/>
                <a:lnTo>
                  <a:pt x="15561" y="90695"/>
                </a:lnTo>
                <a:close/>
                <a:lnTo>
                  <a:pt x="32797" y="102212"/>
                </a:lnTo>
                <a:close/>
                <a:lnTo>
                  <a:pt x="53128" y="106256"/>
                </a:lnTo>
                <a:close/>
                <a:lnTo>
                  <a:pt x="53128" y="106256"/>
                </a:lnTo>
                <a:close/>
              </a:path>
            </a:pathLst>
          </a:custGeom>
          <a:solidFill>
            <a:srgbClr val="BB1526"/>
          </a:solidFill>
          <a:ln w="10160">
            <a:solidFill>
              <a:srgbClr val="3333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Freeform 45"/>
          <p:cNvSpPr/>
          <p:nvPr/>
        </p:nvSpPr>
        <p:spPr>
          <a:xfrm>
            <a:off x="2903944" y="1079195"/>
            <a:ext cx="106256" cy="106256"/>
          </a:xfrm>
          <a:custGeom>
            <a:avLst/>
            <a:gdLst/>
            <a:ahLst/>
            <a:cxnLst/>
            <a:rect l="l" t="t" r="r" b="b"/>
            <a:pathLst>
              <a:path w="106256" h="106256">
                <a:moveTo>
                  <a:pt x="53128" y="106256"/>
                </a:moveTo>
                <a:lnTo>
                  <a:pt x="73459" y="102211"/>
                </a:lnTo>
                <a:close/>
                <a:lnTo>
                  <a:pt x="90695" y="90695"/>
                </a:lnTo>
                <a:close/>
                <a:lnTo>
                  <a:pt x="102212" y="73459"/>
                </a:lnTo>
                <a:close/>
                <a:lnTo>
                  <a:pt x="106256" y="53128"/>
                </a:lnTo>
                <a:close/>
                <a:lnTo>
                  <a:pt x="102212" y="32797"/>
                </a:lnTo>
                <a:close/>
                <a:lnTo>
                  <a:pt x="90695" y="15560"/>
                </a:lnTo>
                <a:close/>
                <a:lnTo>
                  <a:pt x="73459" y="4044"/>
                </a:lnTo>
                <a:close/>
                <a:lnTo>
                  <a:pt x="53128" y="0"/>
                </a:lnTo>
                <a:close/>
                <a:lnTo>
                  <a:pt x="32797" y="4044"/>
                </a:lnTo>
                <a:close/>
                <a:lnTo>
                  <a:pt x="15561" y="15560"/>
                </a:lnTo>
                <a:close/>
                <a:lnTo>
                  <a:pt x="4045" y="32797"/>
                </a:lnTo>
                <a:close/>
                <a:lnTo>
                  <a:pt x="0" y="53128"/>
                </a:lnTo>
                <a:close/>
                <a:lnTo>
                  <a:pt x="4045" y="73459"/>
                </a:lnTo>
                <a:close/>
                <a:lnTo>
                  <a:pt x="15561" y="90695"/>
                </a:lnTo>
                <a:close/>
                <a:lnTo>
                  <a:pt x="32797" y="102211"/>
                </a:lnTo>
                <a:close/>
                <a:lnTo>
                  <a:pt x="53128" y="106256"/>
                </a:lnTo>
                <a:close/>
                <a:lnTo>
                  <a:pt x="53128" y="106256"/>
                </a:lnTo>
                <a:close/>
              </a:path>
            </a:pathLst>
          </a:custGeom>
          <a:solidFill>
            <a:srgbClr val="FECA79"/>
          </a:solidFill>
          <a:ln w="10160">
            <a:solidFill>
              <a:srgbClr val="3333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Freeform 46"/>
          <p:cNvSpPr/>
          <p:nvPr/>
        </p:nvSpPr>
        <p:spPr>
          <a:xfrm>
            <a:off x="1810747" y="2495079"/>
            <a:ext cx="106256" cy="106256"/>
          </a:xfrm>
          <a:custGeom>
            <a:avLst/>
            <a:gdLst/>
            <a:ahLst/>
            <a:cxnLst/>
            <a:rect l="l" t="t" r="r" b="b"/>
            <a:pathLst>
              <a:path w="106256" h="106256">
                <a:moveTo>
                  <a:pt x="53128" y="106256"/>
                </a:moveTo>
                <a:lnTo>
                  <a:pt x="73459" y="102212"/>
                </a:lnTo>
                <a:close/>
                <a:lnTo>
                  <a:pt x="90695" y="90695"/>
                </a:lnTo>
                <a:close/>
                <a:lnTo>
                  <a:pt x="102212" y="73459"/>
                </a:lnTo>
                <a:close/>
                <a:lnTo>
                  <a:pt x="106256" y="53128"/>
                </a:lnTo>
                <a:close/>
                <a:lnTo>
                  <a:pt x="102212" y="32797"/>
                </a:lnTo>
                <a:close/>
                <a:lnTo>
                  <a:pt x="90695" y="15561"/>
                </a:lnTo>
                <a:close/>
                <a:lnTo>
                  <a:pt x="73459" y="4045"/>
                </a:lnTo>
                <a:close/>
                <a:lnTo>
                  <a:pt x="53128" y="0"/>
                </a:lnTo>
                <a:close/>
                <a:lnTo>
                  <a:pt x="32797" y="4045"/>
                </a:lnTo>
                <a:close/>
                <a:lnTo>
                  <a:pt x="15561" y="15561"/>
                </a:lnTo>
                <a:close/>
                <a:lnTo>
                  <a:pt x="4045" y="32797"/>
                </a:lnTo>
                <a:close/>
                <a:lnTo>
                  <a:pt x="0" y="53128"/>
                </a:lnTo>
                <a:close/>
                <a:lnTo>
                  <a:pt x="4045" y="73459"/>
                </a:lnTo>
                <a:close/>
                <a:lnTo>
                  <a:pt x="15561" y="90695"/>
                </a:lnTo>
                <a:close/>
                <a:lnTo>
                  <a:pt x="32797" y="102212"/>
                </a:lnTo>
                <a:close/>
                <a:lnTo>
                  <a:pt x="53128" y="106256"/>
                </a:lnTo>
                <a:close/>
                <a:lnTo>
                  <a:pt x="53128" y="106256"/>
                </a:lnTo>
                <a:close/>
              </a:path>
            </a:pathLst>
          </a:custGeom>
          <a:solidFill>
            <a:srgbClr val="E3F399"/>
          </a:solidFill>
          <a:ln w="10160">
            <a:solidFill>
              <a:srgbClr val="3333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Freeform 47"/>
          <p:cNvSpPr/>
          <p:nvPr/>
        </p:nvSpPr>
        <p:spPr>
          <a:xfrm>
            <a:off x="2778527" y="1596203"/>
            <a:ext cx="106256" cy="106255"/>
          </a:xfrm>
          <a:custGeom>
            <a:avLst/>
            <a:gdLst/>
            <a:ahLst/>
            <a:cxnLst/>
            <a:rect l="l" t="t" r="r" b="b"/>
            <a:pathLst>
              <a:path w="106256" h="106255">
                <a:moveTo>
                  <a:pt x="53128" y="106255"/>
                </a:moveTo>
                <a:lnTo>
                  <a:pt x="73459" y="102211"/>
                </a:lnTo>
                <a:close/>
                <a:lnTo>
                  <a:pt x="90695" y="90695"/>
                </a:lnTo>
                <a:close/>
                <a:lnTo>
                  <a:pt x="102211" y="73459"/>
                </a:lnTo>
                <a:close/>
                <a:lnTo>
                  <a:pt x="106256" y="53127"/>
                </a:lnTo>
                <a:close/>
                <a:lnTo>
                  <a:pt x="102211" y="32796"/>
                </a:lnTo>
                <a:close/>
                <a:lnTo>
                  <a:pt x="90695" y="15560"/>
                </a:lnTo>
                <a:close/>
                <a:lnTo>
                  <a:pt x="73459" y="4044"/>
                </a:lnTo>
                <a:close/>
                <a:lnTo>
                  <a:pt x="53128" y="0"/>
                </a:lnTo>
                <a:close/>
                <a:lnTo>
                  <a:pt x="32797" y="4044"/>
                </a:lnTo>
                <a:close/>
                <a:lnTo>
                  <a:pt x="15561" y="15560"/>
                </a:lnTo>
                <a:close/>
                <a:lnTo>
                  <a:pt x="4044" y="32796"/>
                </a:lnTo>
                <a:close/>
                <a:lnTo>
                  <a:pt x="0" y="53127"/>
                </a:lnTo>
                <a:close/>
                <a:lnTo>
                  <a:pt x="4044" y="73459"/>
                </a:lnTo>
                <a:close/>
                <a:lnTo>
                  <a:pt x="15561" y="90695"/>
                </a:lnTo>
                <a:close/>
                <a:lnTo>
                  <a:pt x="32797" y="102211"/>
                </a:lnTo>
                <a:close/>
                <a:lnTo>
                  <a:pt x="53128" y="106255"/>
                </a:lnTo>
                <a:close/>
                <a:lnTo>
                  <a:pt x="53128" y="106255"/>
                </a:lnTo>
                <a:close/>
              </a:path>
            </a:pathLst>
          </a:custGeom>
          <a:solidFill>
            <a:srgbClr val="A50026"/>
          </a:solidFill>
          <a:ln w="10160">
            <a:solidFill>
              <a:srgbClr val="3333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Rectangle 48"/>
          <p:cNvSpPr/>
          <p:nvPr/>
        </p:nvSpPr>
        <p:spPr>
          <a:xfrm>
            <a:off x="4853656" y="739140"/>
            <a:ext cx="2646414" cy="2848254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Freeform 49"/>
          <p:cNvSpPr/>
          <p:nvPr/>
        </p:nvSpPr>
        <p:spPr>
          <a:xfrm>
            <a:off x="5189898" y="3587394"/>
            <a:ext cx="0" cy="44450"/>
          </a:xfrm>
          <a:custGeom>
            <a:avLst/>
            <a:gdLst/>
            <a:ahLst/>
            <a:cxnLst/>
            <a:rect l="l" t="t" r="r" b="b"/>
            <a:pathLst>
              <a:path w="0" h="44450">
                <a:moveTo>
                  <a:pt x="0" y="0"/>
                </a:moveTo>
                <a:lnTo>
                  <a:pt x="0" y="44450"/>
                </a:lnTo>
                <a:close/>
              </a:path>
            </a:pathLst>
          </a:custGeom>
          <a:noFill/>
          <a:ln w="1016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5088913" y="3645795"/>
            <a:ext cx="355600" cy="190500"/>
          </a:xfrm>
          <a:prstGeom prst="rect">
            <a:avLst/>
          </a:prstGeom>
          <a:noFill/>
        </p:spPr>
        <p:txBody>
          <a:bodyPr wrap="none" lIns="0" rIns="0" tIns="0" bIns="0"/>
          <a:lstStyle/>
          <a:p>
            <a:pPr algn="l"/>
            <a:r>
              <a:rPr sz="1000" b="0" i="0">
                <a:solidFill>
                  <a:srgbClr val="000000"/>
                </a:solidFill>
                <a:latin typeface="Arial"/>
              </a:rPr>
              <a:t>1.7</a:t>
            </a:r>
          </a:p>
        </p:txBody>
      </p:sp>
      <p:sp>
        <p:nvSpPr>
          <p:cNvPr id="52" name="Freeform 51"/>
          <p:cNvSpPr/>
          <p:nvPr/>
        </p:nvSpPr>
        <p:spPr>
          <a:xfrm>
            <a:off x="5681735" y="3587394"/>
            <a:ext cx="0" cy="44450"/>
          </a:xfrm>
          <a:custGeom>
            <a:avLst/>
            <a:gdLst/>
            <a:ahLst/>
            <a:cxnLst/>
            <a:rect l="l" t="t" r="r" b="b"/>
            <a:pathLst>
              <a:path w="0" h="44450">
                <a:moveTo>
                  <a:pt x="0" y="0"/>
                </a:moveTo>
                <a:lnTo>
                  <a:pt x="0" y="44450"/>
                </a:lnTo>
                <a:close/>
              </a:path>
            </a:pathLst>
          </a:custGeom>
          <a:noFill/>
          <a:ln w="1016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5580750" y="3645795"/>
            <a:ext cx="355600" cy="190500"/>
          </a:xfrm>
          <a:prstGeom prst="rect">
            <a:avLst/>
          </a:prstGeom>
          <a:noFill/>
        </p:spPr>
        <p:txBody>
          <a:bodyPr wrap="none" lIns="0" rIns="0" tIns="0" bIns="0"/>
          <a:lstStyle/>
          <a:p>
            <a:pPr algn="l"/>
            <a:r>
              <a:rPr sz="1000" b="0" i="0">
                <a:solidFill>
                  <a:srgbClr val="000000"/>
                </a:solidFill>
                <a:latin typeface="Arial"/>
              </a:rPr>
              <a:t>1.8</a:t>
            </a:r>
          </a:p>
        </p:txBody>
      </p:sp>
      <p:sp>
        <p:nvSpPr>
          <p:cNvPr id="54" name="Freeform 53"/>
          <p:cNvSpPr/>
          <p:nvPr/>
        </p:nvSpPr>
        <p:spPr>
          <a:xfrm>
            <a:off x="6173573" y="3587394"/>
            <a:ext cx="0" cy="44450"/>
          </a:xfrm>
          <a:custGeom>
            <a:avLst/>
            <a:gdLst/>
            <a:ahLst/>
            <a:cxnLst/>
            <a:rect l="l" t="t" r="r" b="b"/>
            <a:pathLst>
              <a:path w="0" h="44450">
                <a:moveTo>
                  <a:pt x="0" y="0"/>
                </a:moveTo>
                <a:lnTo>
                  <a:pt x="0" y="44450"/>
                </a:lnTo>
                <a:close/>
              </a:path>
            </a:pathLst>
          </a:custGeom>
          <a:noFill/>
          <a:ln w="1016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>
            <a:off x="6072588" y="3645795"/>
            <a:ext cx="355600" cy="190500"/>
          </a:xfrm>
          <a:prstGeom prst="rect">
            <a:avLst/>
          </a:prstGeom>
          <a:noFill/>
        </p:spPr>
        <p:txBody>
          <a:bodyPr wrap="none" lIns="0" rIns="0" tIns="0" bIns="0"/>
          <a:lstStyle/>
          <a:p>
            <a:pPr algn="l"/>
            <a:r>
              <a:rPr sz="1000" b="0" i="0">
                <a:solidFill>
                  <a:srgbClr val="000000"/>
                </a:solidFill>
                <a:latin typeface="Arial"/>
              </a:rPr>
              <a:t>1.9</a:t>
            </a:r>
          </a:p>
        </p:txBody>
      </p:sp>
      <p:sp>
        <p:nvSpPr>
          <p:cNvPr id="56" name="Freeform 55"/>
          <p:cNvSpPr/>
          <p:nvPr/>
        </p:nvSpPr>
        <p:spPr>
          <a:xfrm>
            <a:off x="6665410" y="3587394"/>
            <a:ext cx="0" cy="44450"/>
          </a:xfrm>
          <a:custGeom>
            <a:avLst/>
            <a:gdLst/>
            <a:ahLst/>
            <a:cxnLst/>
            <a:rect l="l" t="t" r="r" b="b"/>
            <a:pathLst>
              <a:path w="0" h="44450">
                <a:moveTo>
                  <a:pt x="0" y="0"/>
                </a:moveTo>
                <a:lnTo>
                  <a:pt x="0" y="44450"/>
                </a:lnTo>
                <a:close/>
              </a:path>
            </a:pathLst>
          </a:custGeom>
          <a:noFill/>
          <a:ln w="1016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TextBox 56"/>
          <p:cNvSpPr txBox="1"/>
          <p:nvPr/>
        </p:nvSpPr>
        <p:spPr>
          <a:xfrm>
            <a:off x="6564426" y="3645795"/>
            <a:ext cx="355600" cy="190500"/>
          </a:xfrm>
          <a:prstGeom prst="rect">
            <a:avLst/>
          </a:prstGeom>
          <a:noFill/>
        </p:spPr>
        <p:txBody>
          <a:bodyPr wrap="none" lIns="0" rIns="0" tIns="0" bIns="0"/>
          <a:lstStyle/>
          <a:p>
            <a:pPr algn="l"/>
            <a:r>
              <a:rPr sz="1000" b="0" i="0">
                <a:solidFill>
                  <a:srgbClr val="000000"/>
                </a:solidFill>
                <a:latin typeface="Arial"/>
              </a:rPr>
              <a:t>2.0</a:t>
            </a:r>
          </a:p>
        </p:txBody>
      </p:sp>
      <p:sp>
        <p:nvSpPr>
          <p:cNvPr id="58" name="Freeform 57"/>
          <p:cNvSpPr/>
          <p:nvPr/>
        </p:nvSpPr>
        <p:spPr>
          <a:xfrm>
            <a:off x="7157248" y="3587394"/>
            <a:ext cx="0" cy="44450"/>
          </a:xfrm>
          <a:custGeom>
            <a:avLst/>
            <a:gdLst/>
            <a:ahLst/>
            <a:cxnLst/>
            <a:rect l="l" t="t" r="r" b="b"/>
            <a:pathLst>
              <a:path w="0" h="44450">
                <a:moveTo>
                  <a:pt x="0" y="0"/>
                </a:moveTo>
                <a:lnTo>
                  <a:pt x="0" y="44450"/>
                </a:lnTo>
                <a:close/>
              </a:path>
            </a:pathLst>
          </a:custGeom>
          <a:noFill/>
          <a:ln w="1016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TextBox 58"/>
          <p:cNvSpPr txBox="1"/>
          <p:nvPr/>
        </p:nvSpPr>
        <p:spPr>
          <a:xfrm>
            <a:off x="7056263" y="3645795"/>
            <a:ext cx="355600" cy="190500"/>
          </a:xfrm>
          <a:prstGeom prst="rect">
            <a:avLst/>
          </a:prstGeom>
          <a:noFill/>
        </p:spPr>
        <p:txBody>
          <a:bodyPr wrap="none" lIns="0" rIns="0" tIns="0" bIns="0"/>
          <a:lstStyle/>
          <a:p>
            <a:pPr algn="l"/>
            <a:r>
              <a:rPr sz="1000" b="0" i="0">
                <a:solidFill>
                  <a:srgbClr val="000000"/>
                </a:solidFill>
                <a:latin typeface="Arial"/>
              </a:rPr>
              <a:t>2.1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5864951" y="3825623"/>
            <a:ext cx="1016000" cy="152400"/>
          </a:xfrm>
          <a:prstGeom prst="rect">
            <a:avLst/>
          </a:prstGeom>
          <a:noFill/>
        </p:spPr>
        <p:txBody>
          <a:bodyPr wrap="none" lIns="0" rIns="0" tIns="0" bIns="0"/>
          <a:lstStyle/>
          <a:p>
            <a:pPr algn="l"/>
            <a:r>
              <a:rPr sz="800" b="0" i="1">
                <a:solidFill>
                  <a:srgbClr val="000000"/>
                </a:solidFill>
                <a:latin typeface="Arial"/>
              </a:rPr>
              <a:t>Eintercept (Pa)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7179514" y="3806807"/>
            <a:ext cx="431800" cy="190500"/>
          </a:xfrm>
          <a:prstGeom prst="rect">
            <a:avLst/>
          </a:prstGeom>
          <a:noFill/>
        </p:spPr>
        <p:txBody>
          <a:bodyPr wrap="none" lIns="0" rIns="0" tIns="0" bIns="0"/>
          <a:lstStyle/>
          <a:p>
            <a:pPr algn="l"/>
            <a:r>
              <a:rPr sz="1000" b="0" i="0">
                <a:solidFill>
                  <a:srgbClr val="000000"/>
                </a:solidFill>
                <a:latin typeface="Arial"/>
              </a:rPr>
              <a:t>1e11</a:t>
            </a:r>
          </a:p>
        </p:txBody>
      </p:sp>
      <p:sp>
        <p:nvSpPr>
          <p:cNvPr id="62" name="Freeform 61"/>
          <p:cNvSpPr/>
          <p:nvPr/>
        </p:nvSpPr>
        <p:spPr>
          <a:xfrm>
            <a:off x="4809206" y="3301241"/>
            <a:ext cx="44450" cy="0"/>
          </a:xfrm>
          <a:custGeom>
            <a:avLst/>
            <a:gdLst/>
            <a:ahLst/>
            <a:cxnLst/>
            <a:rect l="l" t="t" r="r" b="b"/>
            <a:pathLst>
              <a:path w="44450" h="0">
                <a:moveTo>
                  <a:pt x="44450" y="0"/>
                </a:moveTo>
                <a:lnTo>
                  <a:pt x="0" y="0"/>
                </a:lnTo>
                <a:close/>
              </a:path>
            </a:pathLst>
          </a:custGeom>
          <a:noFill/>
          <a:ln w="1016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TextBox 62"/>
          <p:cNvSpPr txBox="1"/>
          <p:nvPr/>
        </p:nvSpPr>
        <p:spPr>
          <a:xfrm>
            <a:off x="4481982" y="3222491"/>
            <a:ext cx="431800" cy="190500"/>
          </a:xfrm>
          <a:prstGeom prst="rect">
            <a:avLst/>
          </a:prstGeom>
          <a:noFill/>
        </p:spPr>
        <p:txBody>
          <a:bodyPr wrap="none" lIns="0" rIns="0" tIns="0" bIns="0"/>
          <a:lstStyle/>
          <a:p>
            <a:pPr algn="l"/>
            <a:r>
              <a:rPr sz="1000" b="0" i="0">
                <a:solidFill>
                  <a:srgbClr val="000000"/>
                </a:solidFill>
                <a:latin typeface="Arial"/>
              </a:rPr>
              <a:t>4.80</a:t>
            </a:r>
          </a:p>
        </p:txBody>
      </p:sp>
      <p:sp>
        <p:nvSpPr>
          <p:cNvPr id="64" name="Freeform 63"/>
          <p:cNvSpPr/>
          <p:nvPr/>
        </p:nvSpPr>
        <p:spPr>
          <a:xfrm>
            <a:off x="4809206" y="2866046"/>
            <a:ext cx="44450" cy="0"/>
          </a:xfrm>
          <a:custGeom>
            <a:avLst/>
            <a:gdLst/>
            <a:ahLst/>
            <a:cxnLst/>
            <a:rect l="l" t="t" r="r" b="b"/>
            <a:pathLst>
              <a:path w="44450" h="0">
                <a:moveTo>
                  <a:pt x="44450" y="0"/>
                </a:moveTo>
                <a:lnTo>
                  <a:pt x="0" y="0"/>
                </a:lnTo>
                <a:close/>
              </a:path>
            </a:pathLst>
          </a:custGeom>
          <a:noFill/>
          <a:ln w="1016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TextBox 64"/>
          <p:cNvSpPr txBox="1"/>
          <p:nvPr/>
        </p:nvSpPr>
        <p:spPr>
          <a:xfrm>
            <a:off x="4481982" y="2787296"/>
            <a:ext cx="431800" cy="190500"/>
          </a:xfrm>
          <a:prstGeom prst="rect">
            <a:avLst/>
          </a:prstGeom>
          <a:noFill/>
        </p:spPr>
        <p:txBody>
          <a:bodyPr wrap="none" lIns="0" rIns="0" tIns="0" bIns="0"/>
          <a:lstStyle/>
          <a:p>
            <a:pPr algn="l"/>
            <a:r>
              <a:rPr sz="1000" b="0" i="0">
                <a:solidFill>
                  <a:srgbClr val="000000"/>
                </a:solidFill>
                <a:latin typeface="Arial"/>
              </a:rPr>
              <a:t>4.85</a:t>
            </a:r>
          </a:p>
        </p:txBody>
      </p:sp>
      <p:sp>
        <p:nvSpPr>
          <p:cNvPr id="66" name="Freeform 65"/>
          <p:cNvSpPr/>
          <p:nvPr/>
        </p:nvSpPr>
        <p:spPr>
          <a:xfrm>
            <a:off x="4809206" y="2430850"/>
            <a:ext cx="44450" cy="0"/>
          </a:xfrm>
          <a:custGeom>
            <a:avLst/>
            <a:gdLst/>
            <a:ahLst/>
            <a:cxnLst/>
            <a:rect l="l" t="t" r="r" b="b"/>
            <a:pathLst>
              <a:path w="44450" h="0">
                <a:moveTo>
                  <a:pt x="44450" y="0"/>
                </a:moveTo>
                <a:lnTo>
                  <a:pt x="0" y="0"/>
                </a:lnTo>
                <a:close/>
              </a:path>
            </a:pathLst>
          </a:custGeom>
          <a:noFill/>
          <a:ln w="1016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" name="TextBox 66"/>
          <p:cNvSpPr txBox="1"/>
          <p:nvPr/>
        </p:nvSpPr>
        <p:spPr>
          <a:xfrm>
            <a:off x="4481982" y="2352100"/>
            <a:ext cx="431800" cy="190500"/>
          </a:xfrm>
          <a:prstGeom prst="rect">
            <a:avLst/>
          </a:prstGeom>
          <a:noFill/>
        </p:spPr>
        <p:txBody>
          <a:bodyPr wrap="none" lIns="0" rIns="0" tIns="0" bIns="0"/>
          <a:lstStyle/>
          <a:p>
            <a:pPr algn="l"/>
            <a:r>
              <a:rPr sz="1000" b="0" i="0">
                <a:solidFill>
                  <a:srgbClr val="000000"/>
                </a:solidFill>
                <a:latin typeface="Arial"/>
              </a:rPr>
              <a:t>4.90</a:t>
            </a:r>
          </a:p>
        </p:txBody>
      </p:sp>
      <p:sp>
        <p:nvSpPr>
          <p:cNvPr id="68" name="Freeform 67"/>
          <p:cNvSpPr/>
          <p:nvPr/>
        </p:nvSpPr>
        <p:spPr>
          <a:xfrm>
            <a:off x="4809206" y="1995655"/>
            <a:ext cx="44450" cy="0"/>
          </a:xfrm>
          <a:custGeom>
            <a:avLst/>
            <a:gdLst/>
            <a:ahLst/>
            <a:cxnLst/>
            <a:rect l="l" t="t" r="r" b="b"/>
            <a:pathLst>
              <a:path w="44450" h="0">
                <a:moveTo>
                  <a:pt x="44450" y="0"/>
                </a:moveTo>
                <a:lnTo>
                  <a:pt x="0" y="0"/>
                </a:lnTo>
                <a:close/>
              </a:path>
            </a:pathLst>
          </a:custGeom>
          <a:noFill/>
          <a:ln w="1016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" name="TextBox 68"/>
          <p:cNvSpPr txBox="1"/>
          <p:nvPr/>
        </p:nvSpPr>
        <p:spPr>
          <a:xfrm>
            <a:off x="4481982" y="1916905"/>
            <a:ext cx="431800" cy="190500"/>
          </a:xfrm>
          <a:prstGeom prst="rect">
            <a:avLst/>
          </a:prstGeom>
          <a:noFill/>
        </p:spPr>
        <p:txBody>
          <a:bodyPr wrap="none" lIns="0" rIns="0" tIns="0" bIns="0"/>
          <a:lstStyle/>
          <a:p>
            <a:pPr algn="l"/>
            <a:r>
              <a:rPr sz="1000" b="0" i="0">
                <a:solidFill>
                  <a:srgbClr val="000000"/>
                </a:solidFill>
                <a:latin typeface="Arial"/>
              </a:rPr>
              <a:t>4.95</a:t>
            </a:r>
          </a:p>
        </p:txBody>
      </p:sp>
      <p:sp>
        <p:nvSpPr>
          <p:cNvPr id="70" name="Freeform 69"/>
          <p:cNvSpPr/>
          <p:nvPr/>
        </p:nvSpPr>
        <p:spPr>
          <a:xfrm>
            <a:off x="4809206" y="1560459"/>
            <a:ext cx="44450" cy="0"/>
          </a:xfrm>
          <a:custGeom>
            <a:avLst/>
            <a:gdLst/>
            <a:ahLst/>
            <a:cxnLst/>
            <a:rect l="l" t="t" r="r" b="b"/>
            <a:pathLst>
              <a:path w="44450" h="0">
                <a:moveTo>
                  <a:pt x="44450" y="0"/>
                </a:moveTo>
                <a:lnTo>
                  <a:pt x="0" y="0"/>
                </a:lnTo>
                <a:close/>
              </a:path>
            </a:pathLst>
          </a:custGeom>
          <a:noFill/>
          <a:ln w="1016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1" name="TextBox 70"/>
          <p:cNvSpPr txBox="1"/>
          <p:nvPr/>
        </p:nvSpPr>
        <p:spPr>
          <a:xfrm>
            <a:off x="4481982" y="1481709"/>
            <a:ext cx="431800" cy="190500"/>
          </a:xfrm>
          <a:prstGeom prst="rect">
            <a:avLst/>
          </a:prstGeom>
          <a:noFill/>
        </p:spPr>
        <p:txBody>
          <a:bodyPr wrap="none" lIns="0" rIns="0" tIns="0" bIns="0"/>
          <a:lstStyle/>
          <a:p>
            <a:pPr algn="l"/>
            <a:r>
              <a:rPr sz="1000" b="0" i="0">
                <a:solidFill>
                  <a:srgbClr val="000000"/>
                </a:solidFill>
                <a:latin typeface="Arial"/>
              </a:rPr>
              <a:t>5.00</a:t>
            </a:r>
          </a:p>
        </p:txBody>
      </p:sp>
      <p:sp>
        <p:nvSpPr>
          <p:cNvPr id="72" name="Freeform 71"/>
          <p:cNvSpPr/>
          <p:nvPr/>
        </p:nvSpPr>
        <p:spPr>
          <a:xfrm>
            <a:off x="4809206" y="1125264"/>
            <a:ext cx="44450" cy="0"/>
          </a:xfrm>
          <a:custGeom>
            <a:avLst/>
            <a:gdLst/>
            <a:ahLst/>
            <a:cxnLst/>
            <a:rect l="l" t="t" r="r" b="b"/>
            <a:pathLst>
              <a:path w="44450" h="0">
                <a:moveTo>
                  <a:pt x="44450" y="0"/>
                </a:moveTo>
                <a:lnTo>
                  <a:pt x="0" y="0"/>
                </a:lnTo>
                <a:close/>
              </a:path>
            </a:pathLst>
          </a:custGeom>
          <a:noFill/>
          <a:ln w="1016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3" name="TextBox 72"/>
          <p:cNvSpPr txBox="1"/>
          <p:nvPr/>
        </p:nvSpPr>
        <p:spPr>
          <a:xfrm>
            <a:off x="4481982" y="1046514"/>
            <a:ext cx="431800" cy="190500"/>
          </a:xfrm>
          <a:prstGeom prst="rect">
            <a:avLst/>
          </a:prstGeom>
          <a:noFill/>
        </p:spPr>
        <p:txBody>
          <a:bodyPr wrap="none" lIns="0" rIns="0" tIns="0" bIns="0"/>
          <a:lstStyle/>
          <a:p>
            <a:pPr algn="l"/>
            <a:r>
              <a:rPr sz="1000" b="0" i="0">
                <a:solidFill>
                  <a:srgbClr val="000000"/>
                </a:solidFill>
                <a:latin typeface="Arial"/>
              </a:rPr>
              <a:t>5.05</a:t>
            </a:r>
          </a:p>
        </p:txBody>
      </p:sp>
      <p:sp>
        <p:nvSpPr>
          <p:cNvPr id="74" name="TextBox 73"/>
          <p:cNvSpPr txBox="1"/>
          <p:nvPr/>
        </p:nvSpPr>
        <p:spPr>
          <a:xfrm rot="16200000">
            <a:off x="4323486" y="1918411"/>
            <a:ext cx="833120" cy="152400"/>
          </a:xfrm>
          <a:prstGeom prst="rect">
            <a:avLst/>
          </a:prstGeom>
          <a:noFill/>
        </p:spPr>
        <p:txBody>
          <a:bodyPr wrap="none" lIns="0" rIns="0" tIns="0" bIns="0"/>
          <a:lstStyle/>
          <a:p>
            <a:pPr algn="l"/>
            <a:r>
              <a:rPr sz="800" b="0" i="1">
                <a:solidFill>
                  <a:srgbClr val="000000"/>
                </a:solidFill>
                <a:latin typeface="Arial"/>
              </a:rPr>
              <a:t>αslope (K−2)</a:t>
            </a:r>
          </a:p>
        </p:txBody>
      </p:sp>
      <p:sp>
        <p:nvSpPr>
          <p:cNvPr id="75" name="TextBox 74"/>
          <p:cNvSpPr txBox="1"/>
          <p:nvPr/>
        </p:nvSpPr>
        <p:spPr>
          <a:xfrm>
            <a:off x="4853656" y="574040"/>
            <a:ext cx="431800" cy="190500"/>
          </a:xfrm>
          <a:prstGeom prst="rect">
            <a:avLst/>
          </a:prstGeom>
          <a:noFill/>
        </p:spPr>
        <p:txBody>
          <a:bodyPr wrap="none" lIns="0" rIns="0" tIns="0" bIns="0"/>
          <a:lstStyle/>
          <a:p>
            <a:pPr algn="l"/>
            <a:r>
              <a:rPr sz="1000" b="0" i="0">
                <a:solidFill>
                  <a:srgbClr val="000000"/>
                </a:solidFill>
                <a:latin typeface="Arial"/>
              </a:rPr>
              <a:t>1e−9</a:t>
            </a:r>
          </a:p>
        </p:txBody>
      </p:sp>
      <p:sp>
        <p:nvSpPr>
          <p:cNvPr id="76" name="Freeform 75"/>
          <p:cNvSpPr/>
          <p:nvPr/>
        </p:nvSpPr>
        <p:spPr>
          <a:xfrm>
            <a:off x="4853656" y="739140"/>
            <a:ext cx="0" cy="2848254"/>
          </a:xfrm>
          <a:custGeom>
            <a:avLst/>
            <a:gdLst/>
            <a:ahLst/>
            <a:cxnLst/>
            <a:rect l="l" t="t" r="r" b="b"/>
            <a:pathLst>
              <a:path w="0" h="2848254">
                <a:moveTo>
                  <a:pt x="0" y="2848254"/>
                </a:moveTo>
                <a:lnTo>
                  <a:pt x="0" y="0"/>
                </a:lnTo>
                <a:close/>
              </a:path>
            </a:pathLst>
          </a:custGeom>
          <a:noFill/>
          <a:ln w="1016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7" name="Freeform 76"/>
          <p:cNvSpPr/>
          <p:nvPr/>
        </p:nvSpPr>
        <p:spPr>
          <a:xfrm>
            <a:off x="4853656" y="3587394"/>
            <a:ext cx="2646414" cy="0"/>
          </a:xfrm>
          <a:custGeom>
            <a:avLst/>
            <a:gdLst/>
            <a:ahLst/>
            <a:cxnLst/>
            <a:rect l="l" t="t" r="r" b="b"/>
            <a:pathLst>
              <a:path w="2646414" h="0">
                <a:moveTo>
                  <a:pt x="0" y="0"/>
                </a:moveTo>
                <a:lnTo>
                  <a:pt x="2646414" y="0"/>
                </a:lnTo>
                <a:close/>
              </a:path>
            </a:pathLst>
          </a:custGeom>
          <a:noFill/>
          <a:ln w="1016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8" name="TextBox 77"/>
          <p:cNvSpPr txBox="1"/>
          <p:nvPr/>
        </p:nvSpPr>
        <p:spPr>
          <a:xfrm>
            <a:off x="5412223" y="548640"/>
            <a:ext cx="1897380" cy="171450"/>
          </a:xfrm>
          <a:prstGeom prst="rect">
            <a:avLst/>
          </a:prstGeom>
          <a:noFill/>
        </p:spPr>
        <p:txBody>
          <a:bodyPr wrap="none" lIns="0" rIns="0" tIns="0" bIns="0"/>
          <a:lstStyle/>
          <a:p>
            <a:pPr algn="l"/>
            <a:r>
              <a:rPr sz="900" b="0" i="0">
                <a:solidFill>
                  <a:srgbClr val="000000"/>
                </a:solidFill>
                <a:latin typeface="Arial"/>
              </a:rPr>
              <a:t>Posterior mean: E vs alpha</a:t>
            </a:r>
          </a:p>
        </p:txBody>
      </p:sp>
      <p:sp>
        <p:nvSpPr>
          <p:cNvPr id="79" name="Freeform 78"/>
          <p:cNvSpPr/>
          <p:nvPr/>
        </p:nvSpPr>
        <p:spPr>
          <a:xfrm>
            <a:off x="5463135" y="2610595"/>
            <a:ext cx="106255" cy="106256"/>
          </a:xfrm>
          <a:custGeom>
            <a:avLst/>
            <a:gdLst/>
            <a:ahLst/>
            <a:cxnLst/>
            <a:rect l="l" t="t" r="r" b="b"/>
            <a:pathLst>
              <a:path w="106255" h="106256">
                <a:moveTo>
                  <a:pt x="53127" y="106256"/>
                </a:moveTo>
                <a:lnTo>
                  <a:pt x="73459" y="102211"/>
                </a:lnTo>
                <a:close/>
                <a:lnTo>
                  <a:pt x="90695" y="90695"/>
                </a:lnTo>
                <a:close/>
                <a:lnTo>
                  <a:pt x="102211" y="73459"/>
                </a:lnTo>
                <a:close/>
                <a:lnTo>
                  <a:pt x="106255" y="53128"/>
                </a:lnTo>
                <a:close/>
                <a:lnTo>
                  <a:pt x="102211" y="32797"/>
                </a:lnTo>
                <a:close/>
                <a:lnTo>
                  <a:pt x="90695" y="15561"/>
                </a:lnTo>
                <a:close/>
                <a:lnTo>
                  <a:pt x="73459" y="4044"/>
                </a:lnTo>
                <a:close/>
                <a:lnTo>
                  <a:pt x="53127" y="0"/>
                </a:lnTo>
                <a:close/>
                <a:lnTo>
                  <a:pt x="32796" y="4044"/>
                </a:lnTo>
                <a:close/>
                <a:lnTo>
                  <a:pt x="15560" y="15561"/>
                </a:lnTo>
                <a:close/>
                <a:lnTo>
                  <a:pt x="4044" y="32797"/>
                </a:lnTo>
                <a:close/>
                <a:lnTo>
                  <a:pt x="0" y="53128"/>
                </a:lnTo>
                <a:close/>
                <a:lnTo>
                  <a:pt x="4044" y="73459"/>
                </a:lnTo>
                <a:close/>
                <a:lnTo>
                  <a:pt x="15560" y="90695"/>
                </a:lnTo>
                <a:close/>
                <a:lnTo>
                  <a:pt x="32796" y="102211"/>
                </a:lnTo>
                <a:close/>
                <a:lnTo>
                  <a:pt x="53127" y="106256"/>
                </a:lnTo>
                <a:close/>
                <a:lnTo>
                  <a:pt x="53127" y="106256"/>
                </a:lnTo>
                <a:close/>
              </a:path>
            </a:pathLst>
          </a:custGeom>
          <a:solidFill>
            <a:srgbClr val="16914D"/>
          </a:solidFill>
          <a:ln w="10160">
            <a:solidFill>
              <a:srgbClr val="3333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0" name="Freeform 79"/>
          <p:cNvSpPr/>
          <p:nvPr/>
        </p:nvSpPr>
        <p:spPr>
          <a:xfrm>
            <a:off x="5960966" y="2427384"/>
            <a:ext cx="106256" cy="106256"/>
          </a:xfrm>
          <a:custGeom>
            <a:avLst/>
            <a:gdLst/>
            <a:ahLst/>
            <a:cxnLst/>
            <a:rect l="l" t="t" r="r" b="b"/>
            <a:pathLst>
              <a:path w="106256" h="106256">
                <a:moveTo>
                  <a:pt x="53128" y="106256"/>
                </a:moveTo>
                <a:lnTo>
                  <a:pt x="73459" y="102212"/>
                </a:lnTo>
                <a:close/>
                <a:lnTo>
                  <a:pt x="90695" y="90695"/>
                </a:lnTo>
                <a:close/>
                <a:lnTo>
                  <a:pt x="102211" y="73459"/>
                </a:lnTo>
                <a:close/>
                <a:lnTo>
                  <a:pt x="106256" y="53128"/>
                </a:lnTo>
                <a:close/>
                <a:lnTo>
                  <a:pt x="102211" y="32797"/>
                </a:lnTo>
                <a:close/>
                <a:lnTo>
                  <a:pt x="90695" y="15561"/>
                </a:lnTo>
                <a:close/>
                <a:lnTo>
                  <a:pt x="73459" y="4044"/>
                </a:lnTo>
                <a:close/>
                <a:lnTo>
                  <a:pt x="53128" y="0"/>
                </a:lnTo>
                <a:close/>
                <a:lnTo>
                  <a:pt x="32797" y="4044"/>
                </a:lnTo>
                <a:close/>
                <a:lnTo>
                  <a:pt x="15561" y="15561"/>
                </a:lnTo>
                <a:close/>
                <a:lnTo>
                  <a:pt x="4044" y="32797"/>
                </a:lnTo>
                <a:close/>
                <a:lnTo>
                  <a:pt x="0" y="53128"/>
                </a:lnTo>
                <a:close/>
                <a:lnTo>
                  <a:pt x="4044" y="73459"/>
                </a:lnTo>
                <a:close/>
                <a:lnTo>
                  <a:pt x="15561" y="90695"/>
                </a:lnTo>
                <a:close/>
                <a:lnTo>
                  <a:pt x="32797" y="102212"/>
                </a:lnTo>
                <a:close/>
                <a:lnTo>
                  <a:pt x="53128" y="106256"/>
                </a:lnTo>
                <a:close/>
                <a:lnTo>
                  <a:pt x="53128" y="106256"/>
                </a:lnTo>
                <a:close/>
              </a:path>
            </a:pathLst>
          </a:custGeom>
          <a:solidFill>
            <a:srgbClr val="51B35E"/>
          </a:solidFill>
          <a:ln w="10160">
            <a:solidFill>
              <a:srgbClr val="3333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1" name="Freeform 80"/>
          <p:cNvSpPr/>
          <p:nvPr/>
        </p:nvSpPr>
        <p:spPr>
          <a:xfrm>
            <a:off x="5321507" y="2776899"/>
            <a:ext cx="106255" cy="106256"/>
          </a:xfrm>
          <a:custGeom>
            <a:avLst/>
            <a:gdLst/>
            <a:ahLst/>
            <a:cxnLst/>
            <a:rect l="l" t="t" r="r" b="b"/>
            <a:pathLst>
              <a:path w="106255" h="106256">
                <a:moveTo>
                  <a:pt x="53128" y="106256"/>
                </a:moveTo>
                <a:lnTo>
                  <a:pt x="73459" y="102211"/>
                </a:lnTo>
                <a:close/>
                <a:lnTo>
                  <a:pt x="90695" y="90695"/>
                </a:lnTo>
                <a:close/>
                <a:lnTo>
                  <a:pt x="102211" y="73459"/>
                </a:lnTo>
                <a:close/>
                <a:lnTo>
                  <a:pt x="106255" y="53128"/>
                </a:lnTo>
                <a:close/>
                <a:lnTo>
                  <a:pt x="102211" y="32797"/>
                </a:lnTo>
                <a:close/>
                <a:lnTo>
                  <a:pt x="90695" y="15561"/>
                </a:lnTo>
                <a:close/>
                <a:lnTo>
                  <a:pt x="73459" y="4044"/>
                </a:lnTo>
                <a:close/>
                <a:lnTo>
                  <a:pt x="53128" y="0"/>
                </a:lnTo>
                <a:close/>
                <a:lnTo>
                  <a:pt x="32796" y="4044"/>
                </a:lnTo>
                <a:close/>
                <a:lnTo>
                  <a:pt x="15560" y="15561"/>
                </a:lnTo>
                <a:close/>
                <a:lnTo>
                  <a:pt x="4044" y="32797"/>
                </a:lnTo>
                <a:close/>
                <a:lnTo>
                  <a:pt x="0" y="53128"/>
                </a:lnTo>
                <a:close/>
                <a:lnTo>
                  <a:pt x="4044" y="73459"/>
                </a:lnTo>
                <a:close/>
                <a:lnTo>
                  <a:pt x="15560" y="90695"/>
                </a:lnTo>
                <a:close/>
                <a:lnTo>
                  <a:pt x="32796" y="102211"/>
                </a:lnTo>
                <a:close/>
                <a:lnTo>
                  <a:pt x="53128" y="106256"/>
                </a:lnTo>
                <a:close/>
                <a:lnTo>
                  <a:pt x="53128" y="106256"/>
                </a:lnTo>
                <a:close/>
              </a:path>
            </a:pathLst>
          </a:custGeom>
          <a:solidFill>
            <a:srgbClr val="17934E"/>
          </a:solidFill>
          <a:ln w="10160">
            <a:solidFill>
              <a:srgbClr val="3333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2" name="Freeform 81"/>
          <p:cNvSpPr/>
          <p:nvPr/>
        </p:nvSpPr>
        <p:spPr>
          <a:xfrm>
            <a:off x="4920819" y="3404800"/>
            <a:ext cx="106256" cy="106256"/>
          </a:xfrm>
          <a:custGeom>
            <a:avLst/>
            <a:gdLst/>
            <a:ahLst/>
            <a:cxnLst/>
            <a:rect l="l" t="t" r="r" b="b"/>
            <a:pathLst>
              <a:path w="106256" h="106256">
                <a:moveTo>
                  <a:pt x="53128" y="106256"/>
                </a:moveTo>
                <a:lnTo>
                  <a:pt x="73459" y="102212"/>
                </a:lnTo>
                <a:close/>
                <a:lnTo>
                  <a:pt x="90695" y="90695"/>
                </a:lnTo>
                <a:close/>
                <a:lnTo>
                  <a:pt x="102212" y="73459"/>
                </a:lnTo>
                <a:close/>
                <a:lnTo>
                  <a:pt x="106256" y="53128"/>
                </a:lnTo>
                <a:close/>
                <a:lnTo>
                  <a:pt x="102212" y="32797"/>
                </a:lnTo>
                <a:close/>
                <a:lnTo>
                  <a:pt x="90695" y="15561"/>
                </a:lnTo>
                <a:close/>
                <a:lnTo>
                  <a:pt x="73459" y="4045"/>
                </a:lnTo>
                <a:close/>
                <a:lnTo>
                  <a:pt x="53128" y="0"/>
                </a:lnTo>
                <a:close/>
                <a:lnTo>
                  <a:pt x="32797" y="4045"/>
                </a:lnTo>
                <a:close/>
                <a:lnTo>
                  <a:pt x="15561" y="15561"/>
                </a:lnTo>
                <a:close/>
                <a:lnTo>
                  <a:pt x="4045" y="32797"/>
                </a:lnTo>
                <a:close/>
                <a:lnTo>
                  <a:pt x="0" y="53128"/>
                </a:lnTo>
                <a:close/>
                <a:lnTo>
                  <a:pt x="4045" y="73459"/>
                </a:lnTo>
                <a:close/>
                <a:lnTo>
                  <a:pt x="15561" y="90695"/>
                </a:lnTo>
                <a:close/>
                <a:lnTo>
                  <a:pt x="32797" y="102212"/>
                </a:lnTo>
                <a:close/>
                <a:lnTo>
                  <a:pt x="53128" y="106256"/>
                </a:lnTo>
                <a:close/>
                <a:lnTo>
                  <a:pt x="53128" y="106256"/>
                </a:lnTo>
                <a:close/>
              </a:path>
            </a:pathLst>
          </a:custGeom>
          <a:solidFill>
            <a:srgbClr val="04703B"/>
          </a:solidFill>
          <a:ln w="10160">
            <a:solidFill>
              <a:srgbClr val="3333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3" name="Freeform 82"/>
          <p:cNvSpPr/>
          <p:nvPr/>
        </p:nvSpPr>
        <p:spPr>
          <a:xfrm>
            <a:off x="5843881" y="2532315"/>
            <a:ext cx="106256" cy="106256"/>
          </a:xfrm>
          <a:custGeom>
            <a:avLst/>
            <a:gdLst/>
            <a:ahLst/>
            <a:cxnLst/>
            <a:rect l="l" t="t" r="r" b="b"/>
            <a:pathLst>
              <a:path w="106256" h="106256">
                <a:moveTo>
                  <a:pt x="53128" y="106256"/>
                </a:moveTo>
                <a:lnTo>
                  <a:pt x="73459" y="102212"/>
                </a:lnTo>
                <a:close/>
                <a:lnTo>
                  <a:pt x="90695" y="90695"/>
                </a:lnTo>
                <a:close/>
                <a:lnTo>
                  <a:pt x="102212" y="73459"/>
                </a:lnTo>
                <a:close/>
                <a:lnTo>
                  <a:pt x="106256" y="53128"/>
                </a:lnTo>
                <a:close/>
                <a:lnTo>
                  <a:pt x="102212" y="32797"/>
                </a:lnTo>
                <a:close/>
                <a:lnTo>
                  <a:pt x="90695" y="15561"/>
                </a:lnTo>
                <a:close/>
                <a:lnTo>
                  <a:pt x="73459" y="4045"/>
                </a:lnTo>
                <a:close/>
                <a:lnTo>
                  <a:pt x="53128" y="0"/>
                </a:lnTo>
                <a:close/>
                <a:lnTo>
                  <a:pt x="32797" y="4045"/>
                </a:lnTo>
                <a:close/>
                <a:lnTo>
                  <a:pt x="15561" y="15561"/>
                </a:lnTo>
                <a:close/>
                <a:lnTo>
                  <a:pt x="4044" y="32797"/>
                </a:lnTo>
                <a:close/>
                <a:lnTo>
                  <a:pt x="0" y="53128"/>
                </a:lnTo>
                <a:close/>
                <a:lnTo>
                  <a:pt x="4044" y="73459"/>
                </a:lnTo>
                <a:close/>
                <a:lnTo>
                  <a:pt x="15561" y="90695"/>
                </a:lnTo>
                <a:close/>
                <a:lnTo>
                  <a:pt x="32797" y="102212"/>
                </a:lnTo>
                <a:close/>
                <a:lnTo>
                  <a:pt x="53128" y="106256"/>
                </a:lnTo>
                <a:close/>
                <a:lnTo>
                  <a:pt x="53128" y="106256"/>
                </a:lnTo>
                <a:close/>
              </a:path>
            </a:pathLst>
          </a:custGeom>
          <a:solidFill>
            <a:srgbClr val="30A356"/>
          </a:solidFill>
          <a:ln w="10160">
            <a:solidFill>
              <a:srgbClr val="3333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4" name="Freeform 83"/>
          <p:cNvSpPr/>
          <p:nvPr/>
        </p:nvSpPr>
        <p:spPr>
          <a:xfrm>
            <a:off x="5530973" y="2951378"/>
            <a:ext cx="106256" cy="106256"/>
          </a:xfrm>
          <a:custGeom>
            <a:avLst/>
            <a:gdLst/>
            <a:ahLst/>
            <a:cxnLst/>
            <a:rect l="l" t="t" r="r" b="b"/>
            <a:pathLst>
              <a:path w="106256" h="106256">
                <a:moveTo>
                  <a:pt x="53128" y="106256"/>
                </a:moveTo>
                <a:lnTo>
                  <a:pt x="73459" y="102212"/>
                </a:lnTo>
                <a:close/>
                <a:lnTo>
                  <a:pt x="90695" y="90695"/>
                </a:lnTo>
                <a:close/>
                <a:lnTo>
                  <a:pt x="102211" y="73459"/>
                </a:lnTo>
                <a:close/>
                <a:lnTo>
                  <a:pt x="106256" y="53128"/>
                </a:lnTo>
                <a:close/>
                <a:lnTo>
                  <a:pt x="102211" y="32797"/>
                </a:lnTo>
                <a:close/>
                <a:lnTo>
                  <a:pt x="90695" y="15561"/>
                </a:lnTo>
                <a:close/>
                <a:lnTo>
                  <a:pt x="73459" y="4045"/>
                </a:lnTo>
                <a:close/>
                <a:lnTo>
                  <a:pt x="53128" y="0"/>
                </a:lnTo>
                <a:close/>
                <a:lnTo>
                  <a:pt x="32797" y="4045"/>
                </a:lnTo>
                <a:close/>
                <a:lnTo>
                  <a:pt x="15561" y="15561"/>
                </a:lnTo>
                <a:close/>
                <a:lnTo>
                  <a:pt x="4044" y="32797"/>
                </a:lnTo>
                <a:close/>
                <a:lnTo>
                  <a:pt x="0" y="53128"/>
                </a:lnTo>
                <a:close/>
                <a:lnTo>
                  <a:pt x="4044" y="73459"/>
                </a:lnTo>
                <a:close/>
                <a:lnTo>
                  <a:pt x="15561" y="90695"/>
                </a:lnTo>
                <a:close/>
                <a:lnTo>
                  <a:pt x="32797" y="102212"/>
                </a:lnTo>
                <a:close/>
                <a:lnTo>
                  <a:pt x="53128" y="106256"/>
                </a:lnTo>
                <a:close/>
                <a:lnTo>
                  <a:pt x="53128" y="106256"/>
                </a:lnTo>
                <a:close/>
              </a:path>
            </a:pathLst>
          </a:custGeom>
          <a:solidFill>
            <a:srgbClr val="006837"/>
          </a:solidFill>
          <a:ln w="10160">
            <a:solidFill>
              <a:srgbClr val="3333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5" name="Freeform 84"/>
          <p:cNvSpPr/>
          <p:nvPr/>
        </p:nvSpPr>
        <p:spPr>
          <a:xfrm>
            <a:off x="6145034" y="2206967"/>
            <a:ext cx="106255" cy="106256"/>
          </a:xfrm>
          <a:custGeom>
            <a:avLst/>
            <a:gdLst/>
            <a:ahLst/>
            <a:cxnLst/>
            <a:rect l="l" t="t" r="r" b="b"/>
            <a:pathLst>
              <a:path w="106255" h="106256">
                <a:moveTo>
                  <a:pt x="53128" y="106256"/>
                </a:moveTo>
                <a:lnTo>
                  <a:pt x="73459" y="102212"/>
                </a:lnTo>
                <a:close/>
                <a:lnTo>
                  <a:pt x="90695" y="90695"/>
                </a:lnTo>
                <a:close/>
                <a:lnTo>
                  <a:pt x="102211" y="73459"/>
                </a:lnTo>
                <a:close/>
                <a:lnTo>
                  <a:pt x="106255" y="53128"/>
                </a:lnTo>
                <a:close/>
                <a:lnTo>
                  <a:pt x="102211" y="32797"/>
                </a:lnTo>
                <a:close/>
                <a:lnTo>
                  <a:pt x="90695" y="15561"/>
                </a:lnTo>
                <a:close/>
                <a:lnTo>
                  <a:pt x="73459" y="4045"/>
                </a:lnTo>
                <a:close/>
                <a:lnTo>
                  <a:pt x="53128" y="0"/>
                </a:lnTo>
                <a:close/>
                <a:lnTo>
                  <a:pt x="32796" y="4045"/>
                </a:lnTo>
                <a:close/>
                <a:lnTo>
                  <a:pt x="15560" y="15561"/>
                </a:lnTo>
                <a:close/>
                <a:lnTo>
                  <a:pt x="4044" y="32797"/>
                </a:lnTo>
                <a:close/>
                <a:lnTo>
                  <a:pt x="0" y="53128"/>
                </a:lnTo>
                <a:close/>
                <a:lnTo>
                  <a:pt x="4044" y="73459"/>
                </a:lnTo>
                <a:close/>
                <a:lnTo>
                  <a:pt x="15560" y="90695"/>
                </a:lnTo>
                <a:close/>
                <a:lnTo>
                  <a:pt x="32796" y="102212"/>
                </a:lnTo>
                <a:close/>
                <a:lnTo>
                  <a:pt x="53128" y="106256"/>
                </a:lnTo>
                <a:close/>
                <a:lnTo>
                  <a:pt x="53128" y="106256"/>
                </a:lnTo>
                <a:close/>
              </a:path>
            </a:pathLst>
          </a:custGeom>
          <a:solidFill>
            <a:srgbClr val="91D068"/>
          </a:solidFill>
          <a:ln w="10160">
            <a:solidFill>
              <a:srgbClr val="3333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6" name="Freeform 85"/>
          <p:cNvSpPr/>
          <p:nvPr/>
        </p:nvSpPr>
        <p:spPr>
          <a:xfrm>
            <a:off x="6050200" y="2559135"/>
            <a:ext cx="106255" cy="106256"/>
          </a:xfrm>
          <a:custGeom>
            <a:avLst/>
            <a:gdLst/>
            <a:ahLst/>
            <a:cxnLst/>
            <a:rect l="l" t="t" r="r" b="b"/>
            <a:pathLst>
              <a:path w="106255" h="106256">
                <a:moveTo>
                  <a:pt x="53128" y="106256"/>
                </a:moveTo>
                <a:lnTo>
                  <a:pt x="73459" y="102211"/>
                </a:lnTo>
                <a:close/>
                <a:lnTo>
                  <a:pt x="90695" y="90695"/>
                </a:lnTo>
                <a:close/>
                <a:lnTo>
                  <a:pt x="102211" y="73459"/>
                </a:lnTo>
                <a:close/>
                <a:lnTo>
                  <a:pt x="106255" y="53128"/>
                </a:lnTo>
                <a:close/>
                <a:lnTo>
                  <a:pt x="102211" y="32797"/>
                </a:lnTo>
                <a:close/>
                <a:lnTo>
                  <a:pt x="90695" y="15561"/>
                </a:lnTo>
                <a:close/>
                <a:lnTo>
                  <a:pt x="73459" y="4044"/>
                </a:lnTo>
                <a:close/>
                <a:lnTo>
                  <a:pt x="53128" y="0"/>
                </a:lnTo>
                <a:close/>
                <a:lnTo>
                  <a:pt x="32796" y="4044"/>
                </a:lnTo>
                <a:close/>
                <a:lnTo>
                  <a:pt x="15560" y="15561"/>
                </a:lnTo>
                <a:close/>
                <a:lnTo>
                  <a:pt x="4044" y="32797"/>
                </a:lnTo>
                <a:close/>
                <a:lnTo>
                  <a:pt x="0" y="53128"/>
                </a:lnTo>
                <a:close/>
                <a:lnTo>
                  <a:pt x="4044" y="73459"/>
                </a:lnTo>
                <a:close/>
                <a:lnTo>
                  <a:pt x="15560" y="90695"/>
                </a:lnTo>
                <a:close/>
                <a:lnTo>
                  <a:pt x="32796" y="102211"/>
                </a:lnTo>
                <a:close/>
                <a:lnTo>
                  <a:pt x="53128" y="106256"/>
                </a:lnTo>
                <a:close/>
                <a:lnTo>
                  <a:pt x="53128" y="106256"/>
                </a:lnTo>
                <a:close/>
              </a:path>
            </a:pathLst>
          </a:custGeom>
          <a:solidFill>
            <a:srgbClr val="93D168"/>
          </a:solidFill>
          <a:ln w="10160">
            <a:solidFill>
              <a:srgbClr val="3333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7" name="Freeform 86"/>
          <p:cNvSpPr/>
          <p:nvPr/>
        </p:nvSpPr>
        <p:spPr>
          <a:xfrm>
            <a:off x="5150148" y="2963266"/>
            <a:ext cx="106256" cy="106256"/>
          </a:xfrm>
          <a:custGeom>
            <a:avLst/>
            <a:gdLst/>
            <a:ahLst/>
            <a:cxnLst/>
            <a:rect l="l" t="t" r="r" b="b"/>
            <a:pathLst>
              <a:path w="106256" h="106256">
                <a:moveTo>
                  <a:pt x="53128" y="106256"/>
                </a:moveTo>
                <a:lnTo>
                  <a:pt x="73459" y="102212"/>
                </a:lnTo>
                <a:close/>
                <a:lnTo>
                  <a:pt x="90695" y="90695"/>
                </a:lnTo>
                <a:close/>
                <a:lnTo>
                  <a:pt x="102211" y="73459"/>
                </a:lnTo>
                <a:close/>
                <a:lnTo>
                  <a:pt x="106256" y="53128"/>
                </a:lnTo>
                <a:close/>
                <a:lnTo>
                  <a:pt x="102211" y="32797"/>
                </a:lnTo>
                <a:close/>
                <a:lnTo>
                  <a:pt x="90695" y="15561"/>
                </a:lnTo>
                <a:close/>
                <a:lnTo>
                  <a:pt x="73459" y="4044"/>
                </a:lnTo>
                <a:close/>
                <a:lnTo>
                  <a:pt x="53128" y="0"/>
                </a:lnTo>
                <a:close/>
                <a:lnTo>
                  <a:pt x="32797" y="4044"/>
                </a:lnTo>
                <a:close/>
                <a:lnTo>
                  <a:pt x="15561" y="15561"/>
                </a:lnTo>
                <a:close/>
                <a:lnTo>
                  <a:pt x="4044" y="32797"/>
                </a:lnTo>
                <a:close/>
                <a:lnTo>
                  <a:pt x="0" y="53128"/>
                </a:lnTo>
                <a:close/>
                <a:lnTo>
                  <a:pt x="4044" y="73459"/>
                </a:lnTo>
                <a:close/>
                <a:lnTo>
                  <a:pt x="15561" y="90695"/>
                </a:lnTo>
                <a:close/>
                <a:lnTo>
                  <a:pt x="32797" y="102212"/>
                </a:lnTo>
                <a:close/>
                <a:lnTo>
                  <a:pt x="53128" y="106256"/>
                </a:lnTo>
                <a:close/>
                <a:lnTo>
                  <a:pt x="53128" y="106256"/>
                </a:lnTo>
                <a:close/>
              </a:path>
            </a:pathLst>
          </a:custGeom>
          <a:solidFill>
            <a:srgbClr val="8CCD67"/>
          </a:solidFill>
          <a:ln w="10160">
            <a:solidFill>
              <a:srgbClr val="3333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8" name="Freeform 87"/>
          <p:cNvSpPr/>
          <p:nvPr/>
        </p:nvSpPr>
        <p:spPr>
          <a:xfrm>
            <a:off x="5581171" y="2411098"/>
            <a:ext cx="106256" cy="106256"/>
          </a:xfrm>
          <a:custGeom>
            <a:avLst/>
            <a:gdLst/>
            <a:ahLst/>
            <a:cxnLst/>
            <a:rect l="l" t="t" r="r" b="b"/>
            <a:pathLst>
              <a:path w="106256" h="106256">
                <a:moveTo>
                  <a:pt x="53128" y="106256"/>
                </a:moveTo>
                <a:lnTo>
                  <a:pt x="73459" y="102212"/>
                </a:lnTo>
                <a:close/>
                <a:lnTo>
                  <a:pt x="90695" y="90695"/>
                </a:lnTo>
                <a:close/>
                <a:lnTo>
                  <a:pt x="102211" y="73459"/>
                </a:lnTo>
                <a:close/>
                <a:lnTo>
                  <a:pt x="106256" y="53128"/>
                </a:lnTo>
                <a:close/>
                <a:lnTo>
                  <a:pt x="102211" y="32797"/>
                </a:lnTo>
                <a:close/>
                <a:lnTo>
                  <a:pt x="90695" y="15561"/>
                </a:lnTo>
                <a:close/>
                <a:lnTo>
                  <a:pt x="73459" y="4045"/>
                </a:lnTo>
                <a:close/>
                <a:lnTo>
                  <a:pt x="53128" y="0"/>
                </a:lnTo>
                <a:close/>
                <a:lnTo>
                  <a:pt x="32797" y="4045"/>
                </a:lnTo>
                <a:close/>
                <a:lnTo>
                  <a:pt x="15561" y="15561"/>
                </a:lnTo>
                <a:close/>
                <a:lnTo>
                  <a:pt x="4044" y="32797"/>
                </a:lnTo>
                <a:close/>
                <a:lnTo>
                  <a:pt x="0" y="53128"/>
                </a:lnTo>
                <a:close/>
                <a:lnTo>
                  <a:pt x="4044" y="73459"/>
                </a:lnTo>
                <a:close/>
                <a:lnTo>
                  <a:pt x="15561" y="90695"/>
                </a:lnTo>
                <a:close/>
                <a:lnTo>
                  <a:pt x="32797" y="102212"/>
                </a:lnTo>
                <a:close/>
                <a:lnTo>
                  <a:pt x="53128" y="106256"/>
                </a:lnTo>
                <a:close/>
                <a:lnTo>
                  <a:pt x="53128" y="106256"/>
                </a:lnTo>
                <a:close/>
              </a:path>
            </a:pathLst>
          </a:custGeom>
          <a:solidFill>
            <a:srgbClr val="75C465"/>
          </a:solidFill>
          <a:ln w="10160">
            <a:solidFill>
              <a:srgbClr val="3333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9" name="Freeform 88"/>
          <p:cNvSpPr/>
          <p:nvPr/>
        </p:nvSpPr>
        <p:spPr>
          <a:xfrm>
            <a:off x="5906563" y="2092652"/>
            <a:ext cx="106255" cy="106256"/>
          </a:xfrm>
          <a:custGeom>
            <a:avLst/>
            <a:gdLst/>
            <a:ahLst/>
            <a:cxnLst/>
            <a:rect l="l" t="t" r="r" b="b"/>
            <a:pathLst>
              <a:path w="106255" h="106256">
                <a:moveTo>
                  <a:pt x="53128" y="106256"/>
                </a:moveTo>
                <a:lnTo>
                  <a:pt x="73459" y="102211"/>
                </a:lnTo>
                <a:close/>
                <a:lnTo>
                  <a:pt x="90695" y="90695"/>
                </a:lnTo>
                <a:close/>
                <a:lnTo>
                  <a:pt x="102211" y="73459"/>
                </a:lnTo>
                <a:close/>
                <a:lnTo>
                  <a:pt x="106255" y="53128"/>
                </a:lnTo>
                <a:close/>
                <a:lnTo>
                  <a:pt x="102211" y="32797"/>
                </a:lnTo>
                <a:close/>
                <a:lnTo>
                  <a:pt x="90695" y="15561"/>
                </a:lnTo>
                <a:close/>
                <a:lnTo>
                  <a:pt x="73459" y="4044"/>
                </a:lnTo>
                <a:close/>
                <a:lnTo>
                  <a:pt x="53128" y="0"/>
                </a:lnTo>
                <a:close/>
                <a:lnTo>
                  <a:pt x="32796" y="4044"/>
                </a:lnTo>
                <a:close/>
                <a:lnTo>
                  <a:pt x="15560" y="15561"/>
                </a:lnTo>
                <a:close/>
                <a:lnTo>
                  <a:pt x="4044" y="32797"/>
                </a:lnTo>
                <a:close/>
                <a:lnTo>
                  <a:pt x="0" y="53128"/>
                </a:lnTo>
                <a:close/>
                <a:lnTo>
                  <a:pt x="4044" y="73459"/>
                </a:lnTo>
                <a:close/>
                <a:lnTo>
                  <a:pt x="15560" y="90695"/>
                </a:lnTo>
                <a:close/>
                <a:lnTo>
                  <a:pt x="32796" y="102211"/>
                </a:lnTo>
                <a:close/>
                <a:lnTo>
                  <a:pt x="53128" y="106256"/>
                </a:lnTo>
                <a:close/>
                <a:lnTo>
                  <a:pt x="53128" y="106256"/>
                </a:lnTo>
                <a:close/>
              </a:path>
            </a:pathLst>
          </a:custGeom>
          <a:solidFill>
            <a:srgbClr val="9BD469"/>
          </a:solidFill>
          <a:ln w="10160">
            <a:solidFill>
              <a:srgbClr val="3333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0" name="Freeform 89"/>
          <p:cNvSpPr/>
          <p:nvPr/>
        </p:nvSpPr>
        <p:spPr>
          <a:xfrm>
            <a:off x="5805208" y="2929080"/>
            <a:ext cx="106256" cy="106256"/>
          </a:xfrm>
          <a:custGeom>
            <a:avLst/>
            <a:gdLst/>
            <a:ahLst/>
            <a:cxnLst/>
            <a:rect l="l" t="t" r="r" b="b"/>
            <a:pathLst>
              <a:path w="106256" h="106256">
                <a:moveTo>
                  <a:pt x="53128" y="106256"/>
                </a:moveTo>
                <a:lnTo>
                  <a:pt x="73459" y="102211"/>
                </a:lnTo>
                <a:close/>
                <a:lnTo>
                  <a:pt x="90695" y="90695"/>
                </a:lnTo>
                <a:close/>
                <a:lnTo>
                  <a:pt x="102212" y="73459"/>
                </a:lnTo>
                <a:close/>
                <a:lnTo>
                  <a:pt x="106256" y="53128"/>
                </a:lnTo>
                <a:close/>
                <a:lnTo>
                  <a:pt x="102212" y="32797"/>
                </a:lnTo>
                <a:close/>
                <a:lnTo>
                  <a:pt x="90695" y="15561"/>
                </a:lnTo>
                <a:close/>
                <a:lnTo>
                  <a:pt x="73459" y="4044"/>
                </a:lnTo>
                <a:close/>
                <a:lnTo>
                  <a:pt x="53128" y="0"/>
                </a:lnTo>
                <a:close/>
                <a:lnTo>
                  <a:pt x="32797" y="4044"/>
                </a:lnTo>
                <a:close/>
                <a:lnTo>
                  <a:pt x="15561" y="15561"/>
                </a:lnTo>
                <a:close/>
                <a:lnTo>
                  <a:pt x="4044" y="32797"/>
                </a:lnTo>
                <a:close/>
                <a:lnTo>
                  <a:pt x="0" y="53128"/>
                </a:lnTo>
                <a:close/>
                <a:lnTo>
                  <a:pt x="4044" y="73459"/>
                </a:lnTo>
                <a:close/>
                <a:lnTo>
                  <a:pt x="15561" y="90695"/>
                </a:lnTo>
                <a:close/>
                <a:lnTo>
                  <a:pt x="32797" y="102211"/>
                </a:lnTo>
                <a:close/>
                <a:lnTo>
                  <a:pt x="53128" y="106256"/>
                </a:lnTo>
                <a:close/>
                <a:lnTo>
                  <a:pt x="53128" y="106256"/>
                </a:lnTo>
                <a:close/>
              </a:path>
            </a:pathLst>
          </a:custGeom>
          <a:solidFill>
            <a:srgbClr val="9DD569"/>
          </a:solidFill>
          <a:ln w="10160">
            <a:solidFill>
              <a:srgbClr val="3333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1" name="Freeform 90"/>
          <p:cNvSpPr/>
          <p:nvPr/>
        </p:nvSpPr>
        <p:spPr>
          <a:xfrm>
            <a:off x="6971863" y="1727955"/>
            <a:ext cx="106256" cy="106256"/>
          </a:xfrm>
          <a:custGeom>
            <a:avLst/>
            <a:gdLst/>
            <a:ahLst/>
            <a:cxnLst/>
            <a:rect l="l" t="t" r="r" b="b"/>
            <a:pathLst>
              <a:path w="106256" h="106256">
                <a:moveTo>
                  <a:pt x="53128" y="106256"/>
                </a:moveTo>
                <a:lnTo>
                  <a:pt x="73459" y="102211"/>
                </a:lnTo>
                <a:close/>
                <a:lnTo>
                  <a:pt x="90695" y="90695"/>
                </a:lnTo>
                <a:close/>
                <a:lnTo>
                  <a:pt x="102212" y="73459"/>
                </a:lnTo>
                <a:close/>
                <a:lnTo>
                  <a:pt x="106256" y="53128"/>
                </a:lnTo>
                <a:close/>
                <a:lnTo>
                  <a:pt x="102212" y="32797"/>
                </a:lnTo>
                <a:close/>
                <a:lnTo>
                  <a:pt x="90695" y="15561"/>
                </a:lnTo>
                <a:close/>
                <a:lnTo>
                  <a:pt x="73459" y="4044"/>
                </a:lnTo>
                <a:close/>
                <a:lnTo>
                  <a:pt x="53128" y="0"/>
                </a:lnTo>
                <a:close/>
                <a:lnTo>
                  <a:pt x="32797" y="4044"/>
                </a:lnTo>
                <a:close/>
                <a:lnTo>
                  <a:pt x="15561" y="15561"/>
                </a:lnTo>
                <a:close/>
                <a:lnTo>
                  <a:pt x="4044" y="32797"/>
                </a:lnTo>
                <a:close/>
                <a:lnTo>
                  <a:pt x="0" y="53128"/>
                </a:lnTo>
                <a:close/>
                <a:lnTo>
                  <a:pt x="4044" y="73459"/>
                </a:lnTo>
                <a:close/>
                <a:lnTo>
                  <a:pt x="15561" y="90695"/>
                </a:lnTo>
                <a:close/>
                <a:lnTo>
                  <a:pt x="32797" y="102211"/>
                </a:lnTo>
                <a:close/>
                <a:lnTo>
                  <a:pt x="53128" y="106256"/>
                </a:lnTo>
                <a:close/>
                <a:lnTo>
                  <a:pt x="53128" y="106256"/>
                </a:lnTo>
                <a:close/>
              </a:path>
            </a:pathLst>
          </a:custGeom>
          <a:solidFill>
            <a:srgbClr val="FCAA5F"/>
          </a:solidFill>
          <a:ln w="10160">
            <a:solidFill>
              <a:srgbClr val="3333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2" name="Freeform 91"/>
          <p:cNvSpPr/>
          <p:nvPr/>
        </p:nvSpPr>
        <p:spPr>
          <a:xfrm>
            <a:off x="6638971" y="1690797"/>
            <a:ext cx="106256" cy="106256"/>
          </a:xfrm>
          <a:custGeom>
            <a:avLst/>
            <a:gdLst/>
            <a:ahLst/>
            <a:cxnLst/>
            <a:rect l="l" t="t" r="r" b="b"/>
            <a:pathLst>
              <a:path w="106256" h="106256">
                <a:moveTo>
                  <a:pt x="53128" y="106256"/>
                </a:moveTo>
                <a:lnTo>
                  <a:pt x="73459" y="102212"/>
                </a:lnTo>
                <a:close/>
                <a:lnTo>
                  <a:pt x="90695" y="90695"/>
                </a:lnTo>
                <a:close/>
                <a:lnTo>
                  <a:pt x="102212" y="73459"/>
                </a:lnTo>
                <a:close/>
                <a:lnTo>
                  <a:pt x="106256" y="53128"/>
                </a:lnTo>
                <a:close/>
                <a:lnTo>
                  <a:pt x="102212" y="32797"/>
                </a:lnTo>
                <a:close/>
                <a:lnTo>
                  <a:pt x="90695" y="15561"/>
                </a:lnTo>
                <a:close/>
                <a:lnTo>
                  <a:pt x="73459" y="4044"/>
                </a:lnTo>
                <a:close/>
                <a:lnTo>
                  <a:pt x="53128" y="0"/>
                </a:lnTo>
                <a:close/>
                <a:lnTo>
                  <a:pt x="32797" y="4044"/>
                </a:lnTo>
                <a:close/>
                <a:lnTo>
                  <a:pt x="15561" y="15561"/>
                </a:lnTo>
                <a:close/>
                <a:lnTo>
                  <a:pt x="4045" y="32797"/>
                </a:lnTo>
                <a:close/>
                <a:lnTo>
                  <a:pt x="0" y="53128"/>
                </a:lnTo>
                <a:close/>
                <a:lnTo>
                  <a:pt x="4045" y="73459"/>
                </a:lnTo>
                <a:close/>
                <a:lnTo>
                  <a:pt x="15561" y="90695"/>
                </a:lnTo>
                <a:close/>
                <a:lnTo>
                  <a:pt x="32797" y="102212"/>
                </a:lnTo>
                <a:close/>
                <a:lnTo>
                  <a:pt x="53128" y="106256"/>
                </a:lnTo>
                <a:close/>
                <a:lnTo>
                  <a:pt x="53128" y="106256"/>
                </a:lnTo>
                <a:close/>
              </a:path>
            </a:pathLst>
          </a:custGeom>
          <a:solidFill>
            <a:srgbClr val="F67C4A"/>
          </a:solidFill>
          <a:ln w="10160">
            <a:solidFill>
              <a:srgbClr val="3333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3" name="Freeform 92"/>
          <p:cNvSpPr/>
          <p:nvPr/>
        </p:nvSpPr>
        <p:spPr>
          <a:xfrm>
            <a:off x="7326650" y="815478"/>
            <a:ext cx="106256" cy="106256"/>
          </a:xfrm>
          <a:custGeom>
            <a:avLst/>
            <a:gdLst/>
            <a:ahLst/>
            <a:cxnLst/>
            <a:rect l="l" t="t" r="r" b="b"/>
            <a:pathLst>
              <a:path w="106256" h="106256">
                <a:moveTo>
                  <a:pt x="53128" y="106256"/>
                </a:moveTo>
                <a:lnTo>
                  <a:pt x="73459" y="102212"/>
                </a:lnTo>
                <a:close/>
                <a:lnTo>
                  <a:pt x="90695" y="90695"/>
                </a:lnTo>
                <a:close/>
                <a:lnTo>
                  <a:pt x="102212" y="73459"/>
                </a:lnTo>
                <a:close/>
                <a:lnTo>
                  <a:pt x="106256" y="53128"/>
                </a:lnTo>
                <a:close/>
                <a:lnTo>
                  <a:pt x="102212" y="32797"/>
                </a:lnTo>
                <a:close/>
                <a:lnTo>
                  <a:pt x="90695" y="15561"/>
                </a:lnTo>
                <a:close/>
                <a:lnTo>
                  <a:pt x="73459" y="4045"/>
                </a:lnTo>
                <a:close/>
                <a:lnTo>
                  <a:pt x="53128" y="0"/>
                </a:lnTo>
                <a:close/>
                <a:lnTo>
                  <a:pt x="32797" y="4045"/>
                </a:lnTo>
                <a:close/>
                <a:lnTo>
                  <a:pt x="15561" y="15561"/>
                </a:lnTo>
                <a:close/>
                <a:lnTo>
                  <a:pt x="4045" y="32797"/>
                </a:lnTo>
                <a:close/>
                <a:lnTo>
                  <a:pt x="0" y="53128"/>
                </a:lnTo>
                <a:close/>
                <a:lnTo>
                  <a:pt x="4045" y="73459"/>
                </a:lnTo>
                <a:close/>
                <a:lnTo>
                  <a:pt x="15561" y="90695"/>
                </a:lnTo>
                <a:close/>
                <a:lnTo>
                  <a:pt x="32797" y="102212"/>
                </a:lnTo>
                <a:close/>
                <a:lnTo>
                  <a:pt x="53128" y="106256"/>
                </a:lnTo>
                <a:close/>
                <a:lnTo>
                  <a:pt x="53128" y="106256"/>
                </a:lnTo>
                <a:close/>
              </a:path>
            </a:pathLst>
          </a:custGeom>
          <a:solidFill>
            <a:srgbClr val="BB1526"/>
          </a:solidFill>
          <a:ln w="10160">
            <a:solidFill>
              <a:srgbClr val="3333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4" name="Freeform 93"/>
          <p:cNvSpPr/>
          <p:nvPr/>
        </p:nvSpPr>
        <p:spPr>
          <a:xfrm>
            <a:off x="7133959" y="1055544"/>
            <a:ext cx="106256" cy="106255"/>
          </a:xfrm>
          <a:custGeom>
            <a:avLst/>
            <a:gdLst/>
            <a:ahLst/>
            <a:cxnLst/>
            <a:rect l="l" t="t" r="r" b="b"/>
            <a:pathLst>
              <a:path w="106256" h="106255">
                <a:moveTo>
                  <a:pt x="53128" y="106255"/>
                </a:moveTo>
                <a:lnTo>
                  <a:pt x="73459" y="102211"/>
                </a:lnTo>
                <a:close/>
                <a:lnTo>
                  <a:pt x="90695" y="90695"/>
                </a:lnTo>
                <a:close/>
                <a:lnTo>
                  <a:pt x="102211" y="73459"/>
                </a:lnTo>
                <a:close/>
                <a:lnTo>
                  <a:pt x="106256" y="53128"/>
                </a:lnTo>
                <a:close/>
                <a:lnTo>
                  <a:pt x="102211" y="32796"/>
                </a:lnTo>
                <a:close/>
                <a:lnTo>
                  <a:pt x="90695" y="15560"/>
                </a:lnTo>
                <a:close/>
                <a:lnTo>
                  <a:pt x="73459" y="4044"/>
                </a:lnTo>
                <a:close/>
                <a:lnTo>
                  <a:pt x="53128" y="0"/>
                </a:lnTo>
                <a:close/>
                <a:lnTo>
                  <a:pt x="32797" y="4044"/>
                </a:lnTo>
                <a:close/>
                <a:lnTo>
                  <a:pt x="15561" y="15560"/>
                </a:lnTo>
                <a:close/>
                <a:lnTo>
                  <a:pt x="4044" y="32796"/>
                </a:lnTo>
                <a:close/>
                <a:lnTo>
                  <a:pt x="0" y="53128"/>
                </a:lnTo>
                <a:close/>
                <a:lnTo>
                  <a:pt x="4044" y="73459"/>
                </a:lnTo>
                <a:close/>
                <a:lnTo>
                  <a:pt x="15561" y="90695"/>
                </a:lnTo>
                <a:close/>
                <a:lnTo>
                  <a:pt x="32797" y="102211"/>
                </a:lnTo>
                <a:close/>
                <a:lnTo>
                  <a:pt x="53128" y="106255"/>
                </a:lnTo>
                <a:close/>
                <a:lnTo>
                  <a:pt x="53128" y="106255"/>
                </a:lnTo>
                <a:close/>
              </a:path>
            </a:pathLst>
          </a:custGeom>
          <a:solidFill>
            <a:srgbClr val="FECA79"/>
          </a:solidFill>
          <a:ln w="10160">
            <a:solidFill>
              <a:srgbClr val="3333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5" name="Freeform 94"/>
          <p:cNvSpPr/>
          <p:nvPr/>
        </p:nvSpPr>
        <p:spPr>
          <a:xfrm>
            <a:off x="6040762" y="2019194"/>
            <a:ext cx="106256" cy="106256"/>
          </a:xfrm>
          <a:custGeom>
            <a:avLst/>
            <a:gdLst/>
            <a:ahLst/>
            <a:cxnLst/>
            <a:rect l="l" t="t" r="r" b="b"/>
            <a:pathLst>
              <a:path w="106256" h="106256">
                <a:moveTo>
                  <a:pt x="53128" y="106256"/>
                </a:moveTo>
                <a:lnTo>
                  <a:pt x="73459" y="102212"/>
                </a:lnTo>
                <a:close/>
                <a:lnTo>
                  <a:pt x="90695" y="90695"/>
                </a:lnTo>
                <a:close/>
                <a:lnTo>
                  <a:pt x="102211" y="73459"/>
                </a:lnTo>
                <a:close/>
                <a:lnTo>
                  <a:pt x="106256" y="53128"/>
                </a:lnTo>
                <a:close/>
                <a:lnTo>
                  <a:pt x="102211" y="32797"/>
                </a:lnTo>
                <a:close/>
                <a:lnTo>
                  <a:pt x="90695" y="15561"/>
                </a:lnTo>
                <a:close/>
                <a:lnTo>
                  <a:pt x="73459" y="4044"/>
                </a:lnTo>
                <a:close/>
                <a:lnTo>
                  <a:pt x="53128" y="0"/>
                </a:lnTo>
                <a:close/>
                <a:lnTo>
                  <a:pt x="32797" y="4044"/>
                </a:lnTo>
                <a:close/>
                <a:lnTo>
                  <a:pt x="15561" y="15561"/>
                </a:lnTo>
                <a:close/>
                <a:lnTo>
                  <a:pt x="4044" y="32797"/>
                </a:lnTo>
                <a:close/>
                <a:lnTo>
                  <a:pt x="0" y="53128"/>
                </a:lnTo>
                <a:close/>
                <a:lnTo>
                  <a:pt x="4044" y="73459"/>
                </a:lnTo>
                <a:close/>
                <a:lnTo>
                  <a:pt x="15561" y="90695"/>
                </a:lnTo>
                <a:close/>
                <a:lnTo>
                  <a:pt x="32797" y="102212"/>
                </a:lnTo>
                <a:close/>
                <a:lnTo>
                  <a:pt x="53128" y="106256"/>
                </a:lnTo>
                <a:close/>
                <a:lnTo>
                  <a:pt x="53128" y="106256"/>
                </a:lnTo>
                <a:close/>
              </a:path>
            </a:pathLst>
          </a:custGeom>
          <a:solidFill>
            <a:srgbClr val="E3F399"/>
          </a:solidFill>
          <a:ln w="10160">
            <a:solidFill>
              <a:srgbClr val="3333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6" name="Freeform 95"/>
          <p:cNvSpPr/>
          <p:nvPr/>
        </p:nvSpPr>
        <p:spPr>
          <a:xfrm>
            <a:off x="7008541" y="1197617"/>
            <a:ext cx="106256" cy="106255"/>
          </a:xfrm>
          <a:custGeom>
            <a:avLst/>
            <a:gdLst/>
            <a:ahLst/>
            <a:cxnLst/>
            <a:rect l="l" t="t" r="r" b="b"/>
            <a:pathLst>
              <a:path w="106256" h="106255">
                <a:moveTo>
                  <a:pt x="53128" y="106255"/>
                </a:moveTo>
                <a:lnTo>
                  <a:pt x="73459" y="102211"/>
                </a:lnTo>
                <a:close/>
                <a:lnTo>
                  <a:pt x="90695" y="90695"/>
                </a:lnTo>
                <a:close/>
                <a:lnTo>
                  <a:pt x="102212" y="73459"/>
                </a:lnTo>
                <a:close/>
                <a:lnTo>
                  <a:pt x="106256" y="53128"/>
                </a:lnTo>
                <a:close/>
                <a:lnTo>
                  <a:pt x="102212" y="32796"/>
                </a:lnTo>
                <a:close/>
                <a:lnTo>
                  <a:pt x="90695" y="15560"/>
                </a:lnTo>
                <a:close/>
                <a:lnTo>
                  <a:pt x="73459" y="4044"/>
                </a:lnTo>
                <a:close/>
                <a:lnTo>
                  <a:pt x="53128" y="0"/>
                </a:lnTo>
                <a:close/>
                <a:lnTo>
                  <a:pt x="32797" y="4044"/>
                </a:lnTo>
                <a:close/>
                <a:lnTo>
                  <a:pt x="15561" y="15560"/>
                </a:lnTo>
                <a:close/>
                <a:lnTo>
                  <a:pt x="4045" y="32796"/>
                </a:lnTo>
                <a:close/>
                <a:lnTo>
                  <a:pt x="0" y="53128"/>
                </a:lnTo>
                <a:close/>
                <a:lnTo>
                  <a:pt x="4045" y="73459"/>
                </a:lnTo>
                <a:close/>
                <a:lnTo>
                  <a:pt x="15561" y="90695"/>
                </a:lnTo>
                <a:close/>
                <a:lnTo>
                  <a:pt x="32797" y="102211"/>
                </a:lnTo>
                <a:close/>
                <a:lnTo>
                  <a:pt x="53128" y="106255"/>
                </a:lnTo>
                <a:close/>
                <a:lnTo>
                  <a:pt x="53128" y="106255"/>
                </a:lnTo>
                <a:close/>
              </a:path>
            </a:pathLst>
          </a:custGeom>
          <a:solidFill>
            <a:srgbClr val="A50026"/>
          </a:solidFill>
          <a:ln w="10160">
            <a:solidFill>
              <a:srgbClr val="3333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7" name="Rectangle 96"/>
          <p:cNvSpPr/>
          <p:nvPr/>
        </p:nvSpPr>
        <p:spPr>
          <a:xfrm>
            <a:off x="9083670" y="739140"/>
            <a:ext cx="2646414" cy="2848254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8" name="Freeform 97"/>
          <p:cNvSpPr/>
          <p:nvPr/>
        </p:nvSpPr>
        <p:spPr>
          <a:xfrm>
            <a:off x="9389012" y="3587394"/>
            <a:ext cx="0" cy="44450"/>
          </a:xfrm>
          <a:custGeom>
            <a:avLst/>
            <a:gdLst/>
            <a:ahLst/>
            <a:cxnLst/>
            <a:rect l="l" t="t" r="r" b="b"/>
            <a:pathLst>
              <a:path w="0" h="44450">
                <a:moveTo>
                  <a:pt x="0" y="0"/>
                </a:moveTo>
                <a:lnTo>
                  <a:pt x="0" y="44450"/>
                </a:lnTo>
                <a:close/>
              </a:path>
            </a:pathLst>
          </a:custGeom>
          <a:noFill/>
          <a:ln w="1016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9" name="TextBox 98"/>
          <p:cNvSpPr txBox="1"/>
          <p:nvPr/>
        </p:nvSpPr>
        <p:spPr>
          <a:xfrm>
            <a:off x="9247625" y="3645795"/>
            <a:ext cx="431800" cy="190500"/>
          </a:xfrm>
          <a:prstGeom prst="rect">
            <a:avLst/>
          </a:prstGeom>
          <a:noFill/>
        </p:spPr>
        <p:txBody>
          <a:bodyPr wrap="none" lIns="0" rIns="0" tIns="0" bIns="0"/>
          <a:lstStyle/>
          <a:p>
            <a:pPr algn="l"/>
            <a:r>
              <a:rPr sz="1000" b="0" i="0">
                <a:solidFill>
                  <a:srgbClr val="000000"/>
                </a:solidFill>
                <a:latin typeface="Arial"/>
              </a:rPr>
              <a:t>0.94</a:t>
            </a:r>
          </a:p>
        </p:txBody>
      </p:sp>
      <p:sp>
        <p:nvSpPr>
          <p:cNvPr id="100" name="Freeform 99"/>
          <p:cNvSpPr/>
          <p:nvPr/>
        </p:nvSpPr>
        <p:spPr>
          <a:xfrm>
            <a:off x="9874503" y="3587394"/>
            <a:ext cx="0" cy="44450"/>
          </a:xfrm>
          <a:custGeom>
            <a:avLst/>
            <a:gdLst/>
            <a:ahLst/>
            <a:cxnLst/>
            <a:rect l="l" t="t" r="r" b="b"/>
            <a:pathLst>
              <a:path w="0" h="44450">
                <a:moveTo>
                  <a:pt x="0" y="0"/>
                </a:moveTo>
                <a:lnTo>
                  <a:pt x="0" y="44450"/>
                </a:lnTo>
                <a:close/>
              </a:path>
            </a:pathLst>
          </a:custGeom>
          <a:noFill/>
          <a:ln w="1016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1" name="TextBox 100"/>
          <p:cNvSpPr txBox="1"/>
          <p:nvPr/>
        </p:nvSpPr>
        <p:spPr>
          <a:xfrm>
            <a:off x="9733116" y="3645795"/>
            <a:ext cx="431800" cy="190500"/>
          </a:xfrm>
          <a:prstGeom prst="rect">
            <a:avLst/>
          </a:prstGeom>
          <a:noFill/>
        </p:spPr>
        <p:txBody>
          <a:bodyPr wrap="none" lIns="0" rIns="0" tIns="0" bIns="0"/>
          <a:lstStyle/>
          <a:p>
            <a:pPr algn="l"/>
            <a:r>
              <a:rPr sz="1000" b="0" i="0">
                <a:solidFill>
                  <a:srgbClr val="000000"/>
                </a:solidFill>
                <a:latin typeface="Arial"/>
              </a:rPr>
              <a:t>0.96</a:t>
            </a:r>
          </a:p>
        </p:txBody>
      </p:sp>
      <p:sp>
        <p:nvSpPr>
          <p:cNvPr id="102" name="Freeform 101"/>
          <p:cNvSpPr/>
          <p:nvPr/>
        </p:nvSpPr>
        <p:spPr>
          <a:xfrm>
            <a:off x="10359994" y="3587394"/>
            <a:ext cx="0" cy="44450"/>
          </a:xfrm>
          <a:custGeom>
            <a:avLst/>
            <a:gdLst/>
            <a:ahLst/>
            <a:cxnLst/>
            <a:rect l="l" t="t" r="r" b="b"/>
            <a:pathLst>
              <a:path w="0" h="44450">
                <a:moveTo>
                  <a:pt x="0" y="0"/>
                </a:moveTo>
                <a:lnTo>
                  <a:pt x="0" y="44450"/>
                </a:lnTo>
                <a:close/>
              </a:path>
            </a:pathLst>
          </a:custGeom>
          <a:noFill/>
          <a:ln w="1016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3" name="TextBox 102"/>
          <p:cNvSpPr txBox="1"/>
          <p:nvPr/>
        </p:nvSpPr>
        <p:spPr>
          <a:xfrm>
            <a:off x="10218607" y="3645795"/>
            <a:ext cx="431800" cy="190500"/>
          </a:xfrm>
          <a:prstGeom prst="rect">
            <a:avLst/>
          </a:prstGeom>
          <a:noFill/>
        </p:spPr>
        <p:txBody>
          <a:bodyPr wrap="none" lIns="0" rIns="0" tIns="0" bIns="0"/>
          <a:lstStyle/>
          <a:p>
            <a:pPr algn="l"/>
            <a:r>
              <a:rPr sz="1000" b="0" i="0">
                <a:solidFill>
                  <a:srgbClr val="000000"/>
                </a:solidFill>
                <a:latin typeface="Arial"/>
              </a:rPr>
              <a:t>0.98</a:t>
            </a:r>
          </a:p>
        </p:txBody>
      </p:sp>
      <p:sp>
        <p:nvSpPr>
          <p:cNvPr id="104" name="Freeform 103"/>
          <p:cNvSpPr/>
          <p:nvPr/>
        </p:nvSpPr>
        <p:spPr>
          <a:xfrm>
            <a:off x="10845485" y="3587394"/>
            <a:ext cx="0" cy="44450"/>
          </a:xfrm>
          <a:custGeom>
            <a:avLst/>
            <a:gdLst/>
            <a:ahLst/>
            <a:cxnLst/>
            <a:rect l="l" t="t" r="r" b="b"/>
            <a:pathLst>
              <a:path w="0" h="44450">
                <a:moveTo>
                  <a:pt x="0" y="0"/>
                </a:moveTo>
                <a:lnTo>
                  <a:pt x="0" y="44450"/>
                </a:lnTo>
                <a:close/>
              </a:path>
            </a:pathLst>
          </a:custGeom>
          <a:noFill/>
          <a:ln w="1016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5" name="TextBox 104"/>
          <p:cNvSpPr txBox="1"/>
          <p:nvPr/>
        </p:nvSpPr>
        <p:spPr>
          <a:xfrm>
            <a:off x="10704098" y="3645795"/>
            <a:ext cx="431800" cy="190500"/>
          </a:xfrm>
          <a:prstGeom prst="rect">
            <a:avLst/>
          </a:prstGeom>
          <a:noFill/>
        </p:spPr>
        <p:txBody>
          <a:bodyPr wrap="none" lIns="0" rIns="0" tIns="0" bIns="0"/>
          <a:lstStyle/>
          <a:p>
            <a:pPr algn="l"/>
            <a:r>
              <a:rPr sz="1000" b="0" i="0">
                <a:solidFill>
                  <a:srgbClr val="000000"/>
                </a:solidFill>
                <a:latin typeface="Arial"/>
              </a:rPr>
              <a:t>1.00</a:t>
            </a:r>
          </a:p>
        </p:txBody>
      </p:sp>
      <p:sp>
        <p:nvSpPr>
          <p:cNvPr id="106" name="Freeform 105"/>
          <p:cNvSpPr/>
          <p:nvPr/>
        </p:nvSpPr>
        <p:spPr>
          <a:xfrm>
            <a:off x="11330976" y="3587394"/>
            <a:ext cx="0" cy="44450"/>
          </a:xfrm>
          <a:custGeom>
            <a:avLst/>
            <a:gdLst/>
            <a:ahLst/>
            <a:cxnLst/>
            <a:rect l="l" t="t" r="r" b="b"/>
            <a:pathLst>
              <a:path w="0" h="44450">
                <a:moveTo>
                  <a:pt x="0" y="0"/>
                </a:moveTo>
                <a:lnTo>
                  <a:pt x="0" y="44450"/>
                </a:lnTo>
                <a:close/>
              </a:path>
            </a:pathLst>
          </a:custGeom>
          <a:noFill/>
          <a:ln w="1016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7" name="TextBox 106"/>
          <p:cNvSpPr txBox="1"/>
          <p:nvPr/>
        </p:nvSpPr>
        <p:spPr>
          <a:xfrm>
            <a:off x="11189590" y="3645795"/>
            <a:ext cx="431800" cy="190500"/>
          </a:xfrm>
          <a:prstGeom prst="rect">
            <a:avLst/>
          </a:prstGeom>
          <a:noFill/>
        </p:spPr>
        <p:txBody>
          <a:bodyPr wrap="none" lIns="0" rIns="0" tIns="0" bIns="0"/>
          <a:lstStyle/>
          <a:p>
            <a:pPr algn="l"/>
            <a:r>
              <a:rPr sz="1000" b="0" i="0">
                <a:solidFill>
                  <a:srgbClr val="000000"/>
                </a:solidFill>
                <a:latin typeface="Arial"/>
              </a:rPr>
              <a:t>1.02</a:t>
            </a:r>
          </a:p>
        </p:txBody>
      </p:sp>
      <p:sp>
        <p:nvSpPr>
          <p:cNvPr id="108" name="TextBox 107"/>
          <p:cNvSpPr txBox="1"/>
          <p:nvPr/>
        </p:nvSpPr>
        <p:spPr>
          <a:xfrm>
            <a:off x="10143733" y="3837005"/>
            <a:ext cx="772160" cy="152400"/>
          </a:xfrm>
          <a:prstGeom prst="rect">
            <a:avLst/>
          </a:prstGeom>
          <a:noFill/>
        </p:spPr>
        <p:txBody>
          <a:bodyPr wrap="none" lIns="0" rIns="0" tIns="0" bIns="0"/>
          <a:lstStyle/>
          <a:p>
            <a:pPr algn="l"/>
            <a:r>
              <a:rPr sz="800" b="0" i="1">
                <a:solidFill>
                  <a:srgbClr val="000000"/>
                </a:solidFill>
                <a:latin typeface="Arial"/>
              </a:rPr>
              <a:t>αbase (K−1)</a:t>
            </a:r>
          </a:p>
        </p:txBody>
      </p:sp>
      <p:sp>
        <p:nvSpPr>
          <p:cNvPr id="109" name="TextBox 108"/>
          <p:cNvSpPr txBox="1"/>
          <p:nvPr/>
        </p:nvSpPr>
        <p:spPr>
          <a:xfrm>
            <a:off x="11383910" y="3806807"/>
            <a:ext cx="431800" cy="190500"/>
          </a:xfrm>
          <a:prstGeom prst="rect">
            <a:avLst/>
          </a:prstGeom>
          <a:noFill/>
        </p:spPr>
        <p:txBody>
          <a:bodyPr wrap="none" lIns="0" rIns="0" tIns="0" bIns="0"/>
          <a:lstStyle/>
          <a:p>
            <a:pPr algn="l"/>
            <a:r>
              <a:rPr sz="1000" b="0" i="0">
                <a:solidFill>
                  <a:srgbClr val="000000"/>
                </a:solidFill>
                <a:latin typeface="Arial"/>
              </a:rPr>
              <a:t>1e−5</a:t>
            </a:r>
          </a:p>
        </p:txBody>
      </p:sp>
      <p:sp>
        <p:nvSpPr>
          <p:cNvPr id="110" name="Freeform 109"/>
          <p:cNvSpPr/>
          <p:nvPr/>
        </p:nvSpPr>
        <p:spPr>
          <a:xfrm>
            <a:off x="9039220" y="3301241"/>
            <a:ext cx="44450" cy="0"/>
          </a:xfrm>
          <a:custGeom>
            <a:avLst/>
            <a:gdLst/>
            <a:ahLst/>
            <a:cxnLst/>
            <a:rect l="l" t="t" r="r" b="b"/>
            <a:pathLst>
              <a:path w="44450" h="0">
                <a:moveTo>
                  <a:pt x="44450" y="0"/>
                </a:moveTo>
                <a:lnTo>
                  <a:pt x="0" y="0"/>
                </a:lnTo>
                <a:close/>
              </a:path>
            </a:pathLst>
          </a:custGeom>
          <a:noFill/>
          <a:ln w="1016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1" name="TextBox 110"/>
          <p:cNvSpPr txBox="1"/>
          <p:nvPr/>
        </p:nvSpPr>
        <p:spPr>
          <a:xfrm>
            <a:off x="8711997" y="3222491"/>
            <a:ext cx="431800" cy="190500"/>
          </a:xfrm>
          <a:prstGeom prst="rect">
            <a:avLst/>
          </a:prstGeom>
          <a:noFill/>
        </p:spPr>
        <p:txBody>
          <a:bodyPr wrap="none" lIns="0" rIns="0" tIns="0" bIns="0"/>
          <a:lstStyle/>
          <a:p>
            <a:pPr algn="l"/>
            <a:r>
              <a:rPr sz="1000" b="0" i="0">
                <a:solidFill>
                  <a:srgbClr val="000000"/>
                </a:solidFill>
                <a:latin typeface="Arial"/>
              </a:rPr>
              <a:t>4.80</a:t>
            </a:r>
          </a:p>
        </p:txBody>
      </p:sp>
      <p:sp>
        <p:nvSpPr>
          <p:cNvPr id="112" name="Freeform 111"/>
          <p:cNvSpPr/>
          <p:nvPr/>
        </p:nvSpPr>
        <p:spPr>
          <a:xfrm>
            <a:off x="9039220" y="2866046"/>
            <a:ext cx="44450" cy="0"/>
          </a:xfrm>
          <a:custGeom>
            <a:avLst/>
            <a:gdLst/>
            <a:ahLst/>
            <a:cxnLst/>
            <a:rect l="l" t="t" r="r" b="b"/>
            <a:pathLst>
              <a:path w="44450" h="0">
                <a:moveTo>
                  <a:pt x="44450" y="0"/>
                </a:moveTo>
                <a:lnTo>
                  <a:pt x="0" y="0"/>
                </a:lnTo>
                <a:close/>
              </a:path>
            </a:pathLst>
          </a:custGeom>
          <a:noFill/>
          <a:ln w="1016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3" name="TextBox 112"/>
          <p:cNvSpPr txBox="1"/>
          <p:nvPr/>
        </p:nvSpPr>
        <p:spPr>
          <a:xfrm>
            <a:off x="8711997" y="2787296"/>
            <a:ext cx="431800" cy="190500"/>
          </a:xfrm>
          <a:prstGeom prst="rect">
            <a:avLst/>
          </a:prstGeom>
          <a:noFill/>
        </p:spPr>
        <p:txBody>
          <a:bodyPr wrap="none" lIns="0" rIns="0" tIns="0" bIns="0"/>
          <a:lstStyle/>
          <a:p>
            <a:pPr algn="l"/>
            <a:r>
              <a:rPr sz="1000" b="0" i="0">
                <a:solidFill>
                  <a:srgbClr val="000000"/>
                </a:solidFill>
                <a:latin typeface="Arial"/>
              </a:rPr>
              <a:t>4.85</a:t>
            </a:r>
          </a:p>
        </p:txBody>
      </p:sp>
      <p:sp>
        <p:nvSpPr>
          <p:cNvPr id="114" name="Freeform 113"/>
          <p:cNvSpPr/>
          <p:nvPr/>
        </p:nvSpPr>
        <p:spPr>
          <a:xfrm>
            <a:off x="9039220" y="2430850"/>
            <a:ext cx="44450" cy="0"/>
          </a:xfrm>
          <a:custGeom>
            <a:avLst/>
            <a:gdLst/>
            <a:ahLst/>
            <a:cxnLst/>
            <a:rect l="l" t="t" r="r" b="b"/>
            <a:pathLst>
              <a:path w="44450" h="0">
                <a:moveTo>
                  <a:pt x="44450" y="0"/>
                </a:moveTo>
                <a:lnTo>
                  <a:pt x="0" y="0"/>
                </a:lnTo>
                <a:close/>
              </a:path>
            </a:pathLst>
          </a:custGeom>
          <a:noFill/>
          <a:ln w="1016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5" name="TextBox 114"/>
          <p:cNvSpPr txBox="1"/>
          <p:nvPr/>
        </p:nvSpPr>
        <p:spPr>
          <a:xfrm>
            <a:off x="8711997" y="2352100"/>
            <a:ext cx="431800" cy="190500"/>
          </a:xfrm>
          <a:prstGeom prst="rect">
            <a:avLst/>
          </a:prstGeom>
          <a:noFill/>
        </p:spPr>
        <p:txBody>
          <a:bodyPr wrap="none" lIns="0" rIns="0" tIns="0" bIns="0"/>
          <a:lstStyle/>
          <a:p>
            <a:pPr algn="l"/>
            <a:r>
              <a:rPr sz="1000" b="0" i="0">
                <a:solidFill>
                  <a:srgbClr val="000000"/>
                </a:solidFill>
                <a:latin typeface="Arial"/>
              </a:rPr>
              <a:t>4.90</a:t>
            </a:r>
          </a:p>
        </p:txBody>
      </p:sp>
      <p:sp>
        <p:nvSpPr>
          <p:cNvPr id="116" name="Freeform 115"/>
          <p:cNvSpPr/>
          <p:nvPr/>
        </p:nvSpPr>
        <p:spPr>
          <a:xfrm>
            <a:off x="9039220" y="1995655"/>
            <a:ext cx="44450" cy="0"/>
          </a:xfrm>
          <a:custGeom>
            <a:avLst/>
            <a:gdLst/>
            <a:ahLst/>
            <a:cxnLst/>
            <a:rect l="l" t="t" r="r" b="b"/>
            <a:pathLst>
              <a:path w="44450" h="0">
                <a:moveTo>
                  <a:pt x="44450" y="0"/>
                </a:moveTo>
                <a:lnTo>
                  <a:pt x="0" y="0"/>
                </a:lnTo>
                <a:close/>
              </a:path>
            </a:pathLst>
          </a:custGeom>
          <a:noFill/>
          <a:ln w="1016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7" name="TextBox 116"/>
          <p:cNvSpPr txBox="1"/>
          <p:nvPr/>
        </p:nvSpPr>
        <p:spPr>
          <a:xfrm>
            <a:off x="8711997" y="1916905"/>
            <a:ext cx="431800" cy="190500"/>
          </a:xfrm>
          <a:prstGeom prst="rect">
            <a:avLst/>
          </a:prstGeom>
          <a:noFill/>
        </p:spPr>
        <p:txBody>
          <a:bodyPr wrap="none" lIns="0" rIns="0" tIns="0" bIns="0"/>
          <a:lstStyle/>
          <a:p>
            <a:pPr algn="l"/>
            <a:r>
              <a:rPr sz="1000" b="0" i="0">
                <a:solidFill>
                  <a:srgbClr val="000000"/>
                </a:solidFill>
                <a:latin typeface="Arial"/>
              </a:rPr>
              <a:t>4.95</a:t>
            </a:r>
          </a:p>
        </p:txBody>
      </p:sp>
      <p:sp>
        <p:nvSpPr>
          <p:cNvPr id="118" name="Freeform 117"/>
          <p:cNvSpPr/>
          <p:nvPr/>
        </p:nvSpPr>
        <p:spPr>
          <a:xfrm>
            <a:off x="9039220" y="1560459"/>
            <a:ext cx="44450" cy="0"/>
          </a:xfrm>
          <a:custGeom>
            <a:avLst/>
            <a:gdLst/>
            <a:ahLst/>
            <a:cxnLst/>
            <a:rect l="l" t="t" r="r" b="b"/>
            <a:pathLst>
              <a:path w="44450" h="0">
                <a:moveTo>
                  <a:pt x="44450" y="0"/>
                </a:moveTo>
                <a:lnTo>
                  <a:pt x="0" y="0"/>
                </a:lnTo>
                <a:close/>
              </a:path>
            </a:pathLst>
          </a:custGeom>
          <a:noFill/>
          <a:ln w="1016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9" name="TextBox 118"/>
          <p:cNvSpPr txBox="1"/>
          <p:nvPr/>
        </p:nvSpPr>
        <p:spPr>
          <a:xfrm>
            <a:off x="8711997" y="1481709"/>
            <a:ext cx="431800" cy="190500"/>
          </a:xfrm>
          <a:prstGeom prst="rect">
            <a:avLst/>
          </a:prstGeom>
          <a:noFill/>
        </p:spPr>
        <p:txBody>
          <a:bodyPr wrap="none" lIns="0" rIns="0" tIns="0" bIns="0"/>
          <a:lstStyle/>
          <a:p>
            <a:pPr algn="l"/>
            <a:r>
              <a:rPr sz="1000" b="0" i="0">
                <a:solidFill>
                  <a:srgbClr val="000000"/>
                </a:solidFill>
                <a:latin typeface="Arial"/>
              </a:rPr>
              <a:t>5.00</a:t>
            </a:r>
          </a:p>
        </p:txBody>
      </p:sp>
      <p:sp>
        <p:nvSpPr>
          <p:cNvPr id="120" name="Freeform 119"/>
          <p:cNvSpPr/>
          <p:nvPr/>
        </p:nvSpPr>
        <p:spPr>
          <a:xfrm>
            <a:off x="9039220" y="1125264"/>
            <a:ext cx="44450" cy="0"/>
          </a:xfrm>
          <a:custGeom>
            <a:avLst/>
            <a:gdLst/>
            <a:ahLst/>
            <a:cxnLst/>
            <a:rect l="l" t="t" r="r" b="b"/>
            <a:pathLst>
              <a:path w="44450" h="0">
                <a:moveTo>
                  <a:pt x="44450" y="0"/>
                </a:moveTo>
                <a:lnTo>
                  <a:pt x="0" y="0"/>
                </a:lnTo>
                <a:close/>
              </a:path>
            </a:pathLst>
          </a:custGeom>
          <a:noFill/>
          <a:ln w="1016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1" name="TextBox 120"/>
          <p:cNvSpPr txBox="1"/>
          <p:nvPr/>
        </p:nvSpPr>
        <p:spPr>
          <a:xfrm>
            <a:off x="8711997" y="1046514"/>
            <a:ext cx="431800" cy="190500"/>
          </a:xfrm>
          <a:prstGeom prst="rect">
            <a:avLst/>
          </a:prstGeom>
          <a:noFill/>
        </p:spPr>
        <p:txBody>
          <a:bodyPr wrap="none" lIns="0" rIns="0" tIns="0" bIns="0"/>
          <a:lstStyle/>
          <a:p>
            <a:pPr algn="l"/>
            <a:r>
              <a:rPr sz="1000" b="0" i="0">
                <a:solidFill>
                  <a:srgbClr val="000000"/>
                </a:solidFill>
                <a:latin typeface="Arial"/>
              </a:rPr>
              <a:t>5.05</a:t>
            </a:r>
          </a:p>
        </p:txBody>
      </p:sp>
      <p:sp>
        <p:nvSpPr>
          <p:cNvPr id="122" name="TextBox 121"/>
          <p:cNvSpPr txBox="1"/>
          <p:nvPr/>
        </p:nvSpPr>
        <p:spPr>
          <a:xfrm rot="16200000">
            <a:off x="8553501" y="1918411"/>
            <a:ext cx="833120" cy="152400"/>
          </a:xfrm>
          <a:prstGeom prst="rect">
            <a:avLst/>
          </a:prstGeom>
          <a:noFill/>
        </p:spPr>
        <p:txBody>
          <a:bodyPr wrap="none" lIns="0" rIns="0" tIns="0" bIns="0"/>
          <a:lstStyle/>
          <a:p>
            <a:pPr algn="l"/>
            <a:r>
              <a:rPr sz="800" b="0" i="1">
                <a:solidFill>
                  <a:srgbClr val="000000"/>
                </a:solidFill>
                <a:latin typeface="Arial"/>
              </a:rPr>
              <a:t>αslope (K−2)</a:t>
            </a:r>
          </a:p>
        </p:txBody>
      </p:sp>
      <p:sp>
        <p:nvSpPr>
          <p:cNvPr id="123" name="TextBox 122"/>
          <p:cNvSpPr txBox="1"/>
          <p:nvPr/>
        </p:nvSpPr>
        <p:spPr>
          <a:xfrm>
            <a:off x="9083670" y="574040"/>
            <a:ext cx="431800" cy="190500"/>
          </a:xfrm>
          <a:prstGeom prst="rect">
            <a:avLst/>
          </a:prstGeom>
          <a:noFill/>
        </p:spPr>
        <p:txBody>
          <a:bodyPr wrap="none" lIns="0" rIns="0" tIns="0" bIns="0"/>
          <a:lstStyle/>
          <a:p>
            <a:pPr algn="l"/>
            <a:r>
              <a:rPr sz="1000" b="0" i="0">
                <a:solidFill>
                  <a:srgbClr val="000000"/>
                </a:solidFill>
                <a:latin typeface="Arial"/>
              </a:rPr>
              <a:t>1e−9</a:t>
            </a:r>
          </a:p>
        </p:txBody>
      </p:sp>
      <p:sp>
        <p:nvSpPr>
          <p:cNvPr id="124" name="Freeform 123"/>
          <p:cNvSpPr/>
          <p:nvPr/>
        </p:nvSpPr>
        <p:spPr>
          <a:xfrm>
            <a:off x="9083670" y="739140"/>
            <a:ext cx="0" cy="2848254"/>
          </a:xfrm>
          <a:custGeom>
            <a:avLst/>
            <a:gdLst/>
            <a:ahLst/>
            <a:cxnLst/>
            <a:rect l="l" t="t" r="r" b="b"/>
            <a:pathLst>
              <a:path w="0" h="2848254">
                <a:moveTo>
                  <a:pt x="0" y="2848254"/>
                </a:moveTo>
                <a:lnTo>
                  <a:pt x="0" y="0"/>
                </a:lnTo>
                <a:close/>
              </a:path>
            </a:pathLst>
          </a:custGeom>
          <a:noFill/>
          <a:ln w="1016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5" name="Freeform 124"/>
          <p:cNvSpPr/>
          <p:nvPr/>
        </p:nvSpPr>
        <p:spPr>
          <a:xfrm>
            <a:off x="9083670" y="3587394"/>
            <a:ext cx="2646414" cy="0"/>
          </a:xfrm>
          <a:custGeom>
            <a:avLst/>
            <a:gdLst/>
            <a:ahLst/>
            <a:cxnLst/>
            <a:rect l="l" t="t" r="r" b="b"/>
            <a:pathLst>
              <a:path w="2646414" h="0">
                <a:moveTo>
                  <a:pt x="0" y="0"/>
                </a:moveTo>
                <a:lnTo>
                  <a:pt x="2646414" y="0"/>
                </a:lnTo>
                <a:close/>
              </a:path>
            </a:pathLst>
          </a:custGeom>
          <a:noFill/>
          <a:ln w="1016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6" name="TextBox 125"/>
          <p:cNvSpPr txBox="1"/>
          <p:nvPr/>
        </p:nvSpPr>
        <p:spPr>
          <a:xfrm>
            <a:off x="9519927" y="548640"/>
            <a:ext cx="2171700" cy="171450"/>
          </a:xfrm>
          <a:prstGeom prst="rect">
            <a:avLst/>
          </a:prstGeom>
          <a:noFill/>
        </p:spPr>
        <p:txBody>
          <a:bodyPr wrap="none" lIns="0" rIns="0" tIns="0" bIns="0"/>
          <a:lstStyle/>
          <a:p>
            <a:pPr algn="l"/>
            <a:r>
              <a:rPr sz="900" b="0" i="0">
                <a:solidFill>
                  <a:srgbClr val="000000"/>
                </a:solidFill>
                <a:latin typeface="Arial"/>
              </a:rPr>
              <a:t>Posterior mean: alpha vs alpha</a:t>
            </a:r>
          </a:p>
        </p:txBody>
      </p:sp>
      <p:sp>
        <p:nvSpPr>
          <p:cNvPr id="127" name="Freeform 126"/>
          <p:cNvSpPr/>
          <p:nvPr/>
        </p:nvSpPr>
        <p:spPr>
          <a:xfrm>
            <a:off x="9289990" y="2610595"/>
            <a:ext cx="106256" cy="106256"/>
          </a:xfrm>
          <a:custGeom>
            <a:avLst/>
            <a:gdLst/>
            <a:ahLst/>
            <a:cxnLst/>
            <a:rect l="l" t="t" r="r" b="b"/>
            <a:pathLst>
              <a:path w="106256" h="106256">
                <a:moveTo>
                  <a:pt x="53128" y="106256"/>
                </a:moveTo>
                <a:lnTo>
                  <a:pt x="73459" y="102211"/>
                </a:lnTo>
                <a:close/>
                <a:lnTo>
                  <a:pt x="90695" y="90695"/>
                </a:lnTo>
                <a:close/>
                <a:lnTo>
                  <a:pt x="102212" y="73459"/>
                </a:lnTo>
                <a:close/>
                <a:lnTo>
                  <a:pt x="106256" y="53128"/>
                </a:lnTo>
                <a:close/>
                <a:lnTo>
                  <a:pt x="102212" y="32797"/>
                </a:lnTo>
                <a:close/>
                <a:lnTo>
                  <a:pt x="90695" y="15561"/>
                </a:lnTo>
                <a:close/>
                <a:lnTo>
                  <a:pt x="73459" y="4044"/>
                </a:lnTo>
                <a:close/>
                <a:lnTo>
                  <a:pt x="53128" y="0"/>
                </a:lnTo>
                <a:close/>
                <a:lnTo>
                  <a:pt x="32797" y="4044"/>
                </a:lnTo>
                <a:close/>
                <a:lnTo>
                  <a:pt x="15561" y="15561"/>
                </a:lnTo>
                <a:close/>
                <a:lnTo>
                  <a:pt x="4044" y="32797"/>
                </a:lnTo>
                <a:close/>
                <a:lnTo>
                  <a:pt x="0" y="53128"/>
                </a:lnTo>
                <a:close/>
                <a:lnTo>
                  <a:pt x="4044" y="73459"/>
                </a:lnTo>
                <a:close/>
                <a:lnTo>
                  <a:pt x="15561" y="90695"/>
                </a:lnTo>
                <a:close/>
                <a:lnTo>
                  <a:pt x="32797" y="102211"/>
                </a:lnTo>
                <a:close/>
                <a:lnTo>
                  <a:pt x="53128" y="106256"/>
                </a:lnTo>
                <a:close/>
                <a:lnTo>
                  <a:pt x="53128" y="106256"/>
                </a:lnTo>
                <a:close/>
              </a:path>
            </a:pathLst>
          </a:custGeom>
          <a:solidFill>
            <a:srgbClr val="16914D"/>
          </a:solidFill>
          <a:ln w="10160">
            <a:solidFill>
              <a:srgbClr val="3333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8" name="Freeform 127"/>
          <p:cNvSpPr/>
          <p:nvPr/>
        </p:nvSpPr>
        <p:spPr>
          <a:xfrm>
            <a:off x="9790653" y="2427384"/>
            <a:ext cx="106255" cy="106256"/>
          </a:xfrm>
          <a:custGeom>
            <a:avLst/>
            <a:gdLst/>
            <a:ahLst/>
            <a:cxnLst/>
            <a:rect l="l" t="t" r="r" b="b"/>
            <a:pathLst>
              <a:path w="106255" h="106256">
                <a:moveTo>
                  <a:pt x="53127" y="106256"/>
                </a:moveTo>
                <a:lnTo>
                  <a:pt x="73459" y="102212"/>
                </a:lnTo>
                <a:close/>
                <a:lnTo>
                  <a:pt x="90695" y="90695"/>
                </a:lnTo>
                <a:close/>
                <a:lnTo>
                  <a:pt x="102211" y="73459"/>
                </a:lnTo>
                <a:close/>
                <a:lnTo>
                  <a:pt x="106255" y="53128"/>
                </a:lnTo>
                <a:close/>
                <a:lnTo>
                  <a:pt x="102211" y="32797"/>
                </a:lnTo>
                <a:close/>
                <a:lnTo>
                  <a:pt x="90695" y="15561"/>
                </a:lnTo>
                <a:close/>
                <a:lnTo>
                  <a:pt x="73459" y="4044"/>
                </a:lnTo>
                <a:close/>
                <a:lnTo>
                  <a:pt x="53127" y="0"/>
                </a:lnTo>
                <a:close/>
                <a:lnTo>
                  <a:pt x="32796" y="4044"/>
                </a:lnTo>
                <a:close/>
                <a:lnTo>
                  <a:pt x="15560" y="15561"/>
                </a:lnTo>
                <a:close/>
                <a:lnTo>
                  <a:pt x="4044" y="32797"/>
                </a:lnTo>
                <a:close/>
                <a:lnTo>
                  <a:pt x="0" y="53128"/>
                </a:lnTo>
                <a:close/>
                <a:lnTo>
                  <a:pt x="4044" y="73459"/>
                </a:lnTo>
                <a:close/>
                <a:lnTo>
                  <a:pt x="15560" y="90695"/>
                </a:lnTo>
                <a:close/>
                <a:lnTo>
                  <a:pt x="32796" y="102212"/>
                </a:lnTo>
                <a:close/>
                <a:lnTo>
                  <a:pt x="53127" y="106256"/>
                </a:lnTo>
                <a:close/>
                <a:lnTo>
                  <a:pt x="53127" y="106256"/>
                </a:lnTo>
                <a:close/>
              </a:path>
            </a:pathLst>
          </a:custGeom>
          <a:solidFill>
            <a:srgbClr val="51B35E"/>
          </a:solidFill>
          <a:ln w="10160">
            <a:solidFill>
              <a:srgbClr val="3333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9" name="Freeform 128"/>
          <p:cNvSpPr/>
          <p:nvPr/>
        </p:nvSpPr>
        <p:spPr>
          <a:xfrm>
            <a:off x="9422421" y="2776899"/>
            <a:ext cx="106256" cy="106256"/>
          </a:xfrm>
          <a:custGeom>
            <a:avLst/>
            <a:gdLst/>
            <a:ahLst/>
            <a:cxnLst/>
            <a:rect l="l" t="t" r="r" b="b"/>
            <a:pathLst>
              <a:path w="106256" h="106256">
                <a:moveTo>
                  <a:pt x="53128" y="106256"/>
                </a:moveTo>
                <a:lnTo>
                  <a:pt x="73459" y="102211"/>
                </a:lnTo>
                <a:close/>
                <a:lnTo>
                  <a:pt x="90695" y="90695"/>
                </a:lnTo>
                <a:close/>
                <a:lnTo>
                  <a:pt x="102212" y="73459"/>
                </a:lnTo>
                <a:close/>
                <a:lnTo>
                  <a:pt x="106256" y="53128"/>
                </a:lnTo>
                <a:close/>
                <a:lnTo>
                  <a:pt x="102212" y="32797"/>
                </a:lnTo>
                <a:close/>
                <a:lnTo>
                  <a:pt x="90695" y="15561"/>
                </a:lnTo>
                <a:close/>
                <a:lnTo>
                  <a:pt x="73459" y="4044"/>
                </a:lnTo>
                <a:close/>
                <a:lnTo>
                  <a:pt x="53128" y="0"/>
                </a:lnTo>
                <a:close/>
                <a:lnTo>
                  <a:pt x="32797" y="4044"/>
                </a:lnTo>
                <a:close/>
                <a:lnTo>
                  <a:pt x="15561" y="15561"/>
                </a:lnTo>
                <a:close/>
                <a:lnTo>
                  <a:pt x="4044" y="32797"/>
                </a:lnTo>
                <a:close/>
                <a:lnTo>
                  <a:pt x="0" y="53128"/>
                </a:lnTo>
                <a:close/>
                <a:lnTo>
                  <a:pt x="4044" y="73459"/>
                </a:lnTo>
                <a:close/>
                <a:lnTo>
                  <a:pt x="15561" y="90695"/>
                </a:lnTo>
                <a:close/>
                <a:lnTo>
                  <a:pt x="32797" y="102211"/>
                </a:lnTo>
                <a:close/>
                <a:lnTo>
                  <a:pt x="53128" y="106256"/>
                </a:lnTo>
                <a:close/>
                <a:lnTo>
                  <a:pt x="53128" y="106256"/>
                </a:lnTo>
                <a:close/>
              </a:path>
            </a:pathLst>
          </a:custGeom>
          <a:solidFill>
            <a:srgbClr val="17934E"/>
          </a:solidFill>
          <a:ln w="10160">
            <a:solidFill>
              <a:srgbClr val="3333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0" name="Freeform 129"/>
          <p:cNvSpPr/>
          <p:nvPr/>
        </p:nvSpPr>
        <p:spPr>
          <a:xfrm>
            <a:off x="9150834" y="3404800"/>
            <a:ext cx="106256" cy="106256"/>
          </a:xfrm>
          <a:custGeom>
            <a:avLst/>
            <a:gdLst/>
            <a:ahLst/>
            <a:cxnLst/>
            <a:rect l="l" t="t" r="r" b="b"/>
            <a:pathLst>
              <a:path w="106256" h="106256">
                <a:moveTo>
                  <a:pt x="53128" y="106256"/>
                </a:moveTo>
                <a:lnTo>
                  <a:pt x="73459" y="102212"/>
                </a:lnTo>
                <a:close/>
                <a:lnTo>
                  <a:pt x="90695" y="90695"/>
                </a:lnTo>
                <a:close/>
                <a:lnTo>
                  <a:pt x="102211" y="73459"/>
                </a:lnTo>
                <a:close/>
                <a:lnTo>
                  <a:pt x="106256" y="53128"/>
                </a:lnTo>
                <a:close/>
                <a:lnTo>
                  <a:pt x="102211" y="32797"/>
                </a:lnTo>
                <a:close/>
                <a:lnTo>
                  <a:pt x="90695" y="15561"/>
                </a:lnTo>
                <a:close/>
                <a:lnTo>
                  <a:pt x="73459" y="4045"/>
                </a:lnTo>
                <a:close/>
                <a:lnTo>
                  <a:pt x="53128" y="0"/>
                </a:lnTo>
                <a:close/>
                <a:lnTo>
                  <a:pt x="32797" y="4045"/>
                </a:lnTo>
                <a:close/>
                <a:lnTo>
                  <a:pt x="15561" y="15561"/>
                </a:lnTo>
                <a:close/>
                <a:lnTo>
                  <a:pt x="4044" y="32797"/>
                </a:lnTo>
                <a:close/>
                <a:lnTo>
                  <a:pt x="0" y="53128"/>
                </a:lnTo>
                <a:close/>
                <a:lnTo>
                  <a:pt x="4044" y="73459"/>
                </a:lnTo>
                <a:close/>
                <a:lnTo>
                  <a:pt x="15561" y="90695"/>
                </a:lnTo>
                <a:close/>
                <a:lnTo>
                  <a:pt x="32797" y="102212"/>
                </a:lnTo>
                <a:close/>
                <a:lnTo>
                  <a:pt x="53128" y="106256"/>
                </a:lnTo>
                <a:close/>
                <a:lnTo>
                  <a:pt x="53128" y="106256"/>
                </a:lnTo>
                <a:close/>
              </a:path>
            </a:pathLst>
          </a:custGeom>
          <a:solidFill>
            <a:srgbClr val="04703B"/>
          </a:solidFill>
          <a:ln w="10160">
            <a:solidFill>
              <a:srgbClr val="3333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1" name="Freeform 130"/>
          <p:cNvSpPr/>
          <p:nvPr/>
        </p:nvSpPr>
        <p:spPr>
          <a:xfrm>
            <a:off x="9961169" y="2532315"/>
            <a:ext cx="106256" cy="106256"/>
          </a:xfrm>
          <a:custGeom>
            <a:avLst/>
            <a:gdLst/>
            <a:ahLst/>
            <a:cxnLst/>
            <a:rect l="l" t="t" r="r" b="b"/>
            <a:pathLst>
              <a:path w="106256" h="106256">
                <a:moveTo>
                  <a:pt x="53128" y="106256"/>
                </a:moveTo>
                <a:lnTo>
                  <a:pt x="73459" y="102212"/>
                </a:lnTo>
                <a:close/>
                <a:lnTo>
                  <a:pt x="90695" y="90695"/>
                </a:lnTo>
                <a:close/>
                <a:lnTo>
                  <a:pt x="102211" y="73459"/>
                </a:lnTo>
                <a:close/>
                <a:lnTo>
                  <a:pt x="106256" y="53128"/>
                </a:lnTo>
                <a:close/>
                <a:lnTo>
                  <a:pt x="102211" y="32797"/>
                </a:lnTo>
                <a:close/>
                <a:lnTo>
                  <a:pt x="90695" y="15561"/>
                </a:lnTo>
                <a:close/>
                <a:lnTo>
                  <a:pt x="73459" y="4045"/>
                </a:lnTo>
                <a:close/>
                <a:lnTo>
                  <a:pt x="53128" y="0"/>
                </a:lnTo>
                <a:close/>
                <a:lnTo>
                  <a:pt x="32797" y="4045"/>
                </a:lnTo>
                <a:close/>
                <a:lnTo>
                  <a:pt x="15561" y="15561"/>
                </a:lnTo>
                <a:close/>
                <a:lnTo>
                  <a:pt x="4044" y="32797"/>
                </a:lnTo>
                <a:close/>
                <a:lnTo>
                  <a:pt x="0" y="53128"/>
                </a:lnTo>
                <a:close/>
                <a:lnTo>
                  <a:pt x="4044" y="73459"/>
                </a:lnTo>
                <a:close/>
                <a:lnTo>
                  <a:pt x="15561" y="90695"/>
                </a:lnTo>
                <a:close/>
                <a:lnTo>
                  <a:pt x="32797" y="102212"/>
                </a:lnTo>
                <a:close/>
                <a:lnTo>
                  <a:pt x="53128" y="106256"/>
                </a:lnTo>
                <a:close/>
                <a:lnTo>
                  <a:pt x="53128" y="106256"/>
                </a:lnTo>
                <a:close/>
              </a:path>
            </a:pathLst>
          </a:custGeom>
          <a:solidFill>
            <a:srgbClr val="30A356"/>
          </a:solidFill>
          <a:ln w="10160">
            <a:solidFill>
              <a:srgbClr val="3333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2" name="Freeform 131"/>
          <p:cNvSpPr/>
          <p:nvPr/>
        </p:nvSpPr>
        <p:spPr>
          <a:xfrm>
            <a:off x="9705169" y="2951378"/>
            <a:ext cx="106256" cy="106256"/>
          </a:xfrm>
          <a:custGeom>
            <a:avLst/>
            <a:gdLst/>
            <a:ahLst/>
            <a:cxnLst/>
            <a:rect l="l" t="t" r="r" b="b"/>
            <a:pathLst>
              <a:path w="106256" h="106256">
                <a:moveTo>
                  <a:pt x="53128" y="106256"/>
                </a:moveTo>
                <a:lnTo>
                  <a:pt x="73459" y="102212"/>
                </a:lnTo>
                <a:close/>
                <a:lnTo>
                  <a:pt x="90695" y="90695"/>
                </a:lnTo>
                <a:close/>
                <a:lnTo>
                  <a:pt x="102212" y="73459"/>
                </a:lnTo>
                <a:close/>
                <a:lnTo>
                  <a:pt x="106256" y="53128"/>
                </a:lnTo>
                <a:close/>
                <a:lnTo>
                  <a:pt x="102212" y="32797"/>
                </a:lnTo>
                <a:close/>
                <a:lnTo>
                  <a:pt x="90695" y="15561"/>
                </a:lnTo>
                <a:close/>
                <a:lnTo>
                  <a:pt x="73459" y="4045"/>
                </a:lnTo>
                <a:close/>
                <a:lnTo>
                  <a:pt x="53128" y="0"/>
                </a:lnTo>
                <a:close/>
                <a:lnTo>
                  <a:pt x="32797" y="4045"/>
                </a:lnTo>
                <a:close/>
                <a:lnTo>
                  <a:pt x="15561" y="15561"/>
                </a:lnTo>
                <a:close/>
                <a:lnTo>
                  <a:pt x="4045" y="32797"/>
                </a:lnTo>
                <a:close/>
                <a:lnTo>
                  <a:pt x="0" y="53128"/>
                </a:lnTo>
                <a:close/>
                <a:lnTo>
                  <a:pt x="4045" y="73459"/>
                </a:lnTo>
                <a:close/>
                <a:lnTo>
                  <a:pt x="15561" y="90695"/>
                </a:lnTo>
                <a:close/>
                <a:lnTo>
                  <a:pt x="32797" y="102212"/>
                </a:lnTo>
                <a:close/>
                <a:lnTo>
                  <a:pt x="53128" y="106256"/>
                </a:lnTo>
                <a:close/>
                <a:lnTo>
                  <a:pt x="53128" y="106256"/>
                </a:lnTo>
                <a:close/>
              </a:path>
            </a:pathLst>
          </a:custGeom>
          <a:solidFill>
            <a:srgbClr val="006837"/>
          </a:solidFill>
          <a:ln w="10160">
            <a:solidFill>
              <a:srgbClr val="3333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3" name="Freeform 132"/>
          <p:cNvSpPr/>
          <p:nvPr/>
        </p:nvSpPr>
        <p:spPr>
          <a:xfrm>
            <a:off x="10031192" y="2206967"/>
            <a:ext cx="106256" cy="106256"/>
          </a:xfrm>
          <a:custGeom>
            <a:avLst/>
            <a:gdLst/>
            <a:ahLst/>
            <a:cxnLst/>
            <a:rect l="l" t="t" r="r" b="b"/>
            <a:pathLst>
              <a:path w="106256" h="106256">
                <a:moveTo>
                  <a:pt x="53128" y="106256"/>
                </a:moveTo>
                <a:lnTo>
                  <a:pt x="73459" y="102212"/>
                </a:lnTo>
                <a:close/>
                <a:lnTo>
                  <a:pt x="90695" y="90695"/>
                </a:lnTo>
                <a:close/>
                <a:lnTo>
                  <a:pt x="102212" y="73459"/>
                </a:lnTo>
                <a:close/>
                <a:lnTo>
                  <a:pt x="106256" y="53128"/>
                </a:lnTo>
                <a:close/>
                <a:lnTo>
                  <a:pt x="102212" y="32797"/>
                </a:lnTo>
                <a:close/>
                <a:lnTo>
                  <a:pt x="90695" y="15561"/>
                </a:lnTo>
                <a:close/>
                <a:lnTo>
                  <a:pt x="73459" y="4045"/>
                </a:lnTo>
                <a:close/>
                <a:lnTo>
                  <a:pt x="53128" y="0"/>
                </a:lnTo>
                <a:close/>
                <a:lnTo>
                  <a:pt x="32797" y="4045"/>
                </a:lnTo>
                <a:close/>
                <a:lnTo>
                  <a:pt x="15561" y="15561"/>
                </a:lnTo>
                <a:close/>
                <a:lnTo>
                  <a:pt x="4044" y="32797"/>
                </a:lnTo>
                <a:close/>
                <a:lnTo>
                  <a:pt x="0" y="53128"/>
                </a:lnTo>
                <a:close/>
                <a:lnTo>
                  <a:pt x="4044" y="73459"/>
                </a:lnTo>
                <a:close/>
                <a:lnTo>
                  <a:pt x="15561" y="90695"/>
                </a:lnTo>
                <a:close/>
                <a:lnTo>
                  <a:pt x="32797" y="102212"/>
                </a:lnTo>
                <a:close/>
                <a:lnTo>
                  <a:pt x="53128" y="106256"/>
                </a:lnTo>
                <a:close/>
                <a:lnTo>
                  <a:pt x="53128" y="106256"/>
                </a:lnTo>
                <a:close/>
              </a:path>
            </a:pathLst>
          </a:custGeom>
          <a:solidFill>
            <a:srgbClr val="91D068"/>
          </a:solidFill>
          <a:ln w="10160">
            <a:solidFill>
              <a:srgbClr val="3333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4" name="Freeform 133"/>
          <p:cNvSpPr/>
          <p:nvPr/>
        </p:nvSpPr>
        <p:spPr>
          <a:xfrm>
            <a:off x="9802600" y="2559135"/>
            <a:ext cx="106256" cy="106256"/>
          </a:xfrm>
          <a:custGeom>
            <a:avLst/>
            <a:gdLst/>
            <a:ahLst/>
            <a:cxnLst/>
            <a:rect l="l" t="t" r="r" b="b"/>
            <a:pathLst>
              <a:path w="106256" h="106256">
                <a:moveTo>
                  <a:pt x="53128" y="106256"/>
                </a:moveTo>
                <a:lnTo>
                  <a:pt x="73459" y="102211"/>
                </a:lnTo>
                <a:close/>
                <a:lnTo>
                  <a:pt x="90695" y="90695"/>
                </a:lnTo>
                <a:close/>
                <a:lnTo>
                  <a:pt x="102211" y="73459"/>
                </a:lnTo>
                <a:close/>
                <a:lnTo>
                  <a:pt x="106256" y="53128"/>
                </a:lnTo>
                <a:close/>
                <a:lnTo>
                  <a:pt x="102211" y="32797"/>
                </a:lnTo>
                <a:close/>
                <a:lnTo>
                  <a:pt x="90695" y="15561"/>
                </a:lnTo>
                <a:close/>
                <a:lnTo>
                  <a:pt x="73459" y="4044"/>
                </a:lnTo>
                <a:close/>
                <a:lnTo>
                  <a:pt x="53128" y="0"/>
                </a:lnTo>
                <a:close/>
                <a:lnTo>
                  <a:pt x="32797" y="4044"/>
                </a:lnTo>
                <a:close/>
                <a:lnTo>
                  <a:pt x="15561" y="15561"/>
                </a:lnTo>
                <a:close/>
                <a:lnTo>
                  <a:pt x="4044" y="32797"/>
                </a:lnTo>
                <a:close/>
                <a:lnTo>
                  <a:pt x="0" y="53128"/>
                </a:lnTo>
                <a:close/>
                <a:lnTo>
                  <a:pt x="4044" y="73459"/>
                </a:lnTo>
                <a:close/>
                <a:lnTo>
                  <a:pt x="15561" y="90695"/>
                </a:lnTo>
                <a:close/>
                <a:lnTo>
                  <a:pt x="32797" y="102211"/>
                </a:lnTo>
                <a:close/>
                <a:lnTo>
                  <a:pt x="53128" y="106256"/>
                </a:lnTo>
                <a:close/>
                <a:lnTo>
                  <a:pt x="53128" y="106256"/>
                </a:lnTo>
                <a:close/>
              </a:path>
            </a:pathLst>
          </a:custGeom>
          <a:solidFill>
            <a:srgbClr val="93D168"/>
          </a:solidFill>
          <a:ln w="10160">
            <a:solidFill>
              <a:srgbClr val="3333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5" name="Freeform 134"/>
          <p:cNvSpPr/>
          <p:nvPr/>
        </p:nvSpPr>
        <p:spPr>
          <a:xfrm>
            <a:off x="9975485" y="2963266"/>
            <a:ext cx="106256" cy="106256"/>
          </a:xfrm>
          <a:custGeom>
            <a:avLst/>
            <a:gdLst/>
            <a:ahLst/>
            <a:cxnLst/>
            <a:rect l="l" t="t" r="r" b="b"/>
            <a:pathLst>
              <a:path w="106256" h="106256">
                <a:moveTo>
                  <a:pt x="53128" y="106256"/>
                </a:moveTo>
                <a:lnTo>
                  <a:pt x="73459" y="102212"/>
                </a:lnTo>
                <a:close/>
                <a:lnTo>
                  <a:pt x="90695" y="90695"/>
                </a:lnTo>
                <a:close/>
                <a:lnTo>
                  <a:pt x="102212" y="73459"/>
                </a:lnTo>
                <a:close/>
                <a:lnTo>
                  <a:pt x="106256" y="53128"/>
                </a:lnTo>
                <a:close/>
                <a:lnTo>
                  <a:pt x="102212" y="32797"/>
                </a:lnTo>
                <a:close/>
                <a:lnTo>
                  <a:pt x="90695" y="15561"/>
                </a:lnTo>
                <a:close/>
                <a:lnTo>
                  <a:pt x="73459" y="4044"/>
                </a:lnTo>
                <a:close/>
                <a:lnTo>
                  <a:pt x="53128" y="0"/>
                </a:lnTo>
                <a:close/>
                <a:lnTo>
                  <a:pt x="32797" y="4044"/>
                </a:lnTo>
                <a:close/>
                <a:lnTo>
                  <a:pt x="15561" y="15561"/>
                </a:lnTo>
                <a:close/>
                <a:lnTo>
                  <a:pt x="4045" y="32797"/>
                </a:lnTo>
                <a:close/>
                <a:lnTo>
                  <a:pt x="0" y="53128"/>
                </a:lnTo>
                <a:close/>
                <a:lnTo>
                  <a:pt x="4045" y="73459"/>
                </a:lnTo>
                <a:close/>
                <a:lnTo>
                  <a:pt x="15561" y="90695"/>
                </a:lnTo>
                <a:close/>
                <a:lnTo>
                  <a:pt x="32797" y="102212"/>
                </a:lnTo>
                <a:close/>
                <a:lnTo>
                  <a:pt x="53128" y="106256"/>
                </a:lnTo>
                <a:close/>
                <a:lnTo>
                  <a:pt x="53128" y="106256"/>
                </a:lnTo>
                <a:close/>
              </a:path>
            </a:pathLst>
          </a:custGeom>
          <a:solidFill>
            <a:srgbClr val="8CCD67"/>
          </a:solidFill>
          <a:ln w="10160">
            <a:solidFill>
              <a:srgbClr val="3333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6" name="Freeform 135"/>
          <p:cNvSpPr/>
          <p:nvPr/>
        </p:nvSpPr>
        <p:spPr>
          <a:xfrm>
            <a:off x="9360522" y="2411098"/>
            <a:ext cx="106255" cy="106256"/>
          </a:xfrm>
          <a:custGeom>
            <a:avLst/>
            <a:gdLst/>
            <a:ahLst/>
            <a:cxnLst/>
            <a:rect l="l" t="t" r="r" b="b"/>
            <a:pathLst>
              <a:path w="106255" h="106256">
                <a:moveTo>
                  <a:pt x="53128" y="106256"/>
                </a:moveTo>
                <a:lnTo>
                  <a:pt x="73459" y="102212"/>
                </a:lnTo>
                <a:close/>
                <a:lnTo>
                  <a:pt x="90695" y="90695"/>
                </a:lnTo>
                <a:close/>
                <a:lnTo>
                  <a:pt x="102211" y="73459"/>
                </a:lnTo>
                <a:close/>
                <a:lnTo>
                  <a:pt x="106255" y="53128"/>
                </a:lnTo>
                <a:close/>
                <a:lnTo>
                  <a:pt x="102211" y="32797"/>
                </a:lnTo>
                <a:close/>
                <a:lnTo>
                  <a:pt x="90695" y="15561"/>
                </a:lnTo>
                <a:close/>
                <a:lnTo>
                  <a:pt x="73459" y="4045"/>
                </a:lnTo>
                <a:close/>
                <a:lnTo>
                  <a:pt x="53128" y="0"/>
                </a:lnTo>
                <a:close/>
                <a:lnTo>
                  <a:pt x="32796" y="4045"/>
                </a:lnTo>
                <a:close/>
                <a:lnTo>
                  <a:pt x="15560" y="15561"/>
                </a:lnTo>
                <a:close/>
                <a:lnTo>
                  <a:pt x="4044" y="32797"/>
                </a:lnTo>
                <a:close/>
                <a:lnTo>
                  <a:pt x="0" y="53128"/>
                </a:lnTo>
                <a:close/>
                <a:lnTo>
                  <a:pt x="4044" y="73459"/>
                </a:lnTo>
                <a:close/>
                <a:lnTo>
                  <a:pt x="15560" y="90695"/>
                </a:lnTo>
                <a:close/>
                <a:lnTo>
                  <a:pt x="32796" y="102212"/>
                </a:lnTo>
                <a:close/>
                <a:lnTo>
                  <a:pt x="53128" y="106256"/>
                </a:lnTo>
                <a:close/>
                <a:lnTo>
                  <a:pt x="53128" y="106256"/>
                </a:lnTo>
                <a:close/>
              </a:path>
            </a:pathLst>
          </a:custGeom>
          <a:solidFill>
            <a:srgbClr val="75C465"/>
          </a:solidFill>
          <a:ln w="10160">
            <a:solidFill>
              <a:srgbClr val="3333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7" name="Freeform 136"/>
          <p:cNvSpPr/>
          <p:nvPr/>
        </p:nvSpPr>
        <p:spPr>
          <a:xfrm>
            <a:off x="10037229" y="2092652"/>
            <a:ext cx="106256" cy="106256"/>
          </a:xfrm>
          <a:custGeom>
            <a:avLst/>
            <a:gdLst/>
            <a:ahLst/>
            <a:cxnLst/>
            <a:rect l="l" t="t" r="r" b="b"/>
            <a:pathLst>
              <a:path w="106256" h="106256">
                <a:moveTo>
                  <a:pt x="53128" y="106256"/>
                </a:moveTo>
                <a:lnTo>
                  <a:pt x="73459" y="102211"/>
                </a:lnTo>
                <a:close/>
                <a:lnTo>
                  <a:pt x="90695" y="90695"/>
                </a:lnTo>
                <a:close/>
                <a:lnTo>
                  <a:pt x="102212" y="73459"/>
                </a:lnTo>
                <a:close/>
                <a:lnTo>
                  <a:pt x="106256" y="53128"/>
                </a:lnTo>
                <a:close/>
                <a:lnTo>
                  <a:pt x="102212" y="32797"/>
                </a:lnTo>
                <a:close/>
                <a:lnTo>
                  <a:pt x="90695" y="15561"/>
                </a:lnTo>
                <a:close/>
                <a:lnTo>
                  <a:pt x="73459" y="4044"/>
                </a:lnTo>
                <a:close/>
                <a:lnTo>
                  <a:pt x="53128" y="0"/>
                </a:lnTo>
                <a:close/>
                <a:lnTo>
                  <a:pt x="32797" y="4044"/>
                </a:lnTo>
                <a:close/>
                <a:lnTo>
                  <a:pt x="15561" y="15561"/>
                </a:lnTo>
                <a:close/>
                <a:lnTo>
                  <a:pt x="4045" y="32797"/>
                </a:lnTo>
                <a:close/>
                <a:lnTo>
                  <a:pt x="0" y="53128"/>
                </a:lnTo>
                <a:close/>
                <a:lnTo>
                  <a:pt x="4045" y="73459"/>
                </a:lnTo>
                <a:close/>
                <a:lnTo>
                  <a:pt x="15561" y="90695"/>
                </a:lnTo>
                <a:close/>
                <a:lnTo>
                  <a:pt x="32797" y="102211"/>
                </a:lnTo>
                <a:close/>
                <a:lnTo>
                  <a:pt x="53128" y="106256"/>
                </a:lnTo>
                <a:close/>
                <a:lnTo>
                  <a:pt x="53128" y="106256"/>
                </a:lnTo>
                <a:close/>
              </a:path>
            </a:pathLst>
          </a:custGeom>
          <a:solidFill>
            <a:srgbClr val="9BD469"/>
          </a:solidFill>
          <a:ln w="10160">
            <a:solidFill>
              <a:srgbClr val="3333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8" name="Freeform 137"/>
          <p:cNvSpPr/>
          <p:nvPr/>
        </p:nvSpPr>
        <p:spPr>
          <a:xfrm>
            <a:off x="9583431" y="2929080"/>
            <a:ext cx="106255" cy="106256"/>
          </a:xfrm>
          <a:custGeom>
            <a:avLst/>
            <a:gdLst/>
            <a:ahLst/>
            <a:cxnLst/>
            <a:rect l="l" t="t" r="r" b="b"/>
            <a:pathLst>
              <a:path w="106255" h="106256">
                <a:moveTo>
                  <a:pt x="53127" y="106256"/>
                </a:moveTo>
                <a:lnTo>
                  <a:pt x="73459" y="102211"/>
                </a:lnTo>
                <a:close/>
                <a:lnTo>
                  <a:pt x="90695" y="90695"/>
                </a:lnTo>
                <a:close/>
                <a:lnTo>
                  <a:pt x="102211" y="73459"/>
                </a:lnTo>
                <a:close/>
                <a:lnTo>
                  <a:pt x="106255" y="53128"/>
                </a:lnTo>
                <a:close/>
                <a:lnTo>
                  <a:pt x="102211" y="32797"/>
                </a:lnTo>
                <a:close/>
                <a:lnTo>
                  <a:pt x="90695" y="15561"/>
                </a:lnTo>
                <a:close/>
                <a:lnTo>
                  <a:pt x="73459" y="4044"/>
                </a:lnTo>
                <a:close/>
                <a:lnTo>
                  <a:pt x="53127" y="0"/>
                </a:lnTo>
                <a:close/>
                <a:lnTo>
                  <a:pt x="32796" y="4044"/>
                </a:lnTo>
                <a:close/>
                <a:lnTo>
                  <a:pt x="15560" y="15561"/>
                </a:lnTo>
                <a:close/>
                <a:lnTo>
                  <a:pt x="4044" y="32797"/>
                </a:lnTo>
                <a:close/>
                <a:lnTo>
                  <a:pt x="0" y="53128"/>
                </a:lnTo>
                <a:close/>
                <a:lnTo>
                  <a:pt x="4044" y="73459"/>
                </a:lnTo>
                <a:close/>
                <a:lnTo>
                  <a:pt x="15560" y="90695"/>
                </a:lnTo>
                <a:close/>
                <a:lnTo>
                  <a:pt x="32796" y="102211"/>
                </a:lnTo>
                <a:close/>
                <a:lnTo>
                  <a:pt x="53127" y="106256"/>
                </a:lnTo>
                <a:close/>
                <a:lnTo>
                  <a:pt x="53127" y="106256"/>
                </a:lnTo>
                <a:close/>
              </a:path>
            </a:pathLst>
          </a:custGeom>
          <a:solidFill>
            <a:srgbClr val="9DD569"/>
          </a:solidFill>
          <a:ln w="10160">
            <a:solidFill>
              <a:srgbClr val="3333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9" name="Freeform 138"/>
          <p:cNvSpPr/>
          <p:nvPr/>
        </p:nvSpPr>
        <p:spPr>
          <a:xfrm>
            <a:off x="11150457" y="1727955"/>
            <a:ext cx="106256" cy="106256"/>
          </a:xfrm>
          <a:custGeom>
            <a:avLst/>
            <a:gdLst/>
            <a:ahLst/>
            <a:cxnLst/>
            <a:rect l="l" t="t" r="r" b="b"/>
            <a:pathLst>
              <a:path w="106256" h="106256">
                <a:moveTo>
                  <a:pt x="53128" y="106256"/>
                </a:moveTo>
                <a:lnTo>
                  <a:pt x="73459" y="102211"/>
                </a:lnTo>
                <a:close/>
                <a:lnTo>
                  <a:pt x="90695" y="90695"/>
                </a:lnTo>
                <a:close/>
                <a:lnTo>
                  <a:pt x="102211" y="73459"/>
                </a:lnTo>
                <a:close/>
                <a:lnTo>
                  <a:pt x="106256" y="53128"/>
                </a:lnTo>
                <a:close/>
                <a:lnTo>
                  <a:pt x="102211" y="32797"/>
                </a:lnTo>
                <a:close/>
                <a:lnTo>
                  <a:pt x="90695" y="15561"/>
                </a:lnTo>
                <a:close/>
                <a:lnTo>
                  <a:pt x="73459" y="4044"/>
                </a:lnTo>
                <a:close/>
                <a:lnTo>
                  <a:pt x="53128" y="0"/>
                </a:lnTo>
                <a:close/>
                <a:lnTo>
                  <a:pt x="32797" y="4044"/>
                </a:lnTo>
                <a:close/>
                <a:lnTo>
                  <a:pt x="15561" y="15561"/>
                </a:lnTo>
                <a:close/>
                <a:lnTo>
                  <a:pt x="4044" y="32797"/>
                </a:lnTo>
                <a:close/>
                <a:lnTo>
                  <a:pt x="0" y="53128"/>
                </a:lnTo>
                <a:close/>
                <a:lnTo>
                  <a:pt x="4044" y="73459"/>
                </a:lnTo>
                <a:close/>
                <a:lnTo>
                  <a:pt x="15561" y="90695"/>
                </a:lnTo>
                <a:close/>
                <a:lnTo>
                  <a:pt x="32797" y="102211"/>
                </a:lnTo>
                <a:close/>
                <a:lnTo>
                  <a:pt x="53128" y="106256"/>
                </a:lnTo>
                <a:close/>
                <a:lnTo>
                  <a:pt x="53128" y="106256"/>
                </a:lnTo>
                <a:close/>
              </a:path>
            </a:pathLst>
          </a:custGeom>
          <a:solidFill>
            <a:srgbClr val="FCAA5F"/>
          </a:solidFill>
          <a:ln w="10160">
            <a:solidFill>
              <a:srgbClr val="3333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0" name="Freeform 139"/>
          <p:cNvSpPr/>
          <p:nvPr/>
        </p:nvSpPr>
        <p:spPr>
          <a:xfrm>
            <a:off x="10711995" y="1690797"/>
            <a:ext cx="106256" cy="106256"/>
          </a:xfrm>
          <a:custGeom>
            <a:avLst/>
            <a:gdLst/>
            <a:ahLst/>
            <a:cxnLst/>
            <a:rect l="l" t="t" r="r" b="b"/>
            <a:pathLst>
              <a:path w="106256" h="106256">
                <a:moveTo>
                  <a:pt x="53128" y="106256"/>
                </a:moveTo>
                <a:lnTo>
                  <a:pt x="73459" y="102212"/>
                </a:lnTo>
                <a:close/>
                <a:lnTo>
                  <a:pt x="90695" y="90695"/>
                </a:lnTo>
                <a:close/>
                <a:lnTo>
                  <a:pt x="102212" y="73459"/>
                </a:lnTo>
                <a:close/>
                <a:lnTo>
                  <a:pt x="106256" y="53128"/>
                </a:lnTo>
                <a:close/>
                <a:lnTo>
                  <a:pt x="102212" y="32797"/>
                </a:lnTo>
                <a:close/>
                <a:lnTo>
                  <a:pt x="90695" y="15561"/>
                </a:lnTo>
                <a:close/>
                <a:lnTo>
                  <a:pt x="73459" y="4044"/>
                </a:lnTo>
                <a:close/>
                <a:lnTo>
                  <a:pt x="53128" y="0"/>
                </a:lnTo>
                <a:close/>
                <a:lnTo>
                  <a:pt x="32797" y="4044"/>
                </a:lnTo>
                <a:close/>
                <a:lnTo>
                  <a:pt x="15561" y="15561"/>
                </a:lnTo>
                <a:close/>
                <a:lnTo>
                  <a:pt x="4045" y="32797"/>
                </a:lnTo>
                <a:close/>
                <a:lnTo>
                  <a:pt x="0" y="53128"/>
                </a:lnTo>
                <a:close/>
                <a:lnTo>
                  <a:pt x="4045" y="73459"/>
                </a:lnTo>
                <a:close/>
                <a:lnTo>
                  <a:pt x="15561" y="90695"/>
                </a:lnTo>
                <a:close/>
                <a:lnTo>
                  <a:pt x="32797" y="102212"/>
                </a:lnTo>
                <a:close/>
                <a:lnTo>
                  <a:pt x="53128" y="106256"/>
                </a:lnTo>
                <a:close/>
                <a:lnTo>
                  <a:pt x="53128" y="106256"/>
                </a:lnTo>
                <a:close/>
              </a:path>
            </a:pathLst>
          </a:custGeom>
          <a:solidFill>
            <a:srgbClr val="F67C4A"/>
          </a:solidFill>
          <a:ln w="10160">
            <a:solidFill>
              <a:srgbClr val="3333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1" name="Freeform 140"/>
          <p:cNvSpPr/>
          <p:nvPr/>
        </p:nvSpPr>
        <p:spPr>
          <a:xfrm>
            <a:off x="11556665" y="815478"/>
            <a:ext cx="106255" cy="106256"/>
          </a:xfrm>
          <a:custGeom>
            <a:avLst/>
            <a:gdLst/>
            <a:ahLst/>
            <a:cxnLst/>
            <a:rect l="l" t="t" r="r" b="b"/>
            <a:pathLst>
              <a:path w="106255" h="106256">
                <a:moveTo>
                  <a:pt x="53128" y="106256"/>
                </a:moveTo>
                <a:lnTo>
                  <a:pt x="73459" y="102212"/>
                </a:lnTo>
                <a:close/>
                <a:lnTo>
                  <a:pt x="90695" y="90695"/>
                </a:lnTo>
                <a:close/>
                <a:lnTo>
                  <a:pt x="102211" y="73459"/>
                </a:lnTo>
                <a:close/>
                <a:lnTo>
                  <a:pt x="106255" y="53128"/>
                </a:lnTo>
                <a:close/>
                <a:lnTo>
                  <a:pt x="102211" y="32797"/>
                </a:lnTo>
                <a:close/>
                <a:lnTo>
                  <a:pt x="90695" y="15561"/>
                </a:lnTo>
                <a:close/>
                <a:lnTo>
                  <a:pt x="73459" y="4045"/>
                </a:lnTo>
                <a:close/>
                <a:lnTo>
                  <a:pt x="53128" y="0"/>
                </a:lnTo>
                <a:close/>
                <a:lnTo>
                  <a:pt x="32796" y="4045"/>
                </a:lnTo>
                <a:close/>
                <a:lnTo>
                  <a:pt x="15560" y="15561"/>
                </a:lnTo>
                <a:close/>
                <a:lnTo>
                  <a:pt x="4044" y="32797"/>
                </a:lnTo>
                <a:close/>
                <a:lnTo>
                  <a:pt x="0" y="53128"/>
                </a:lnTo>
                <a:close/>
                <a:lnTo>
                  <a:pt x="4044" y="73459"/>
                </a:lnTo>
                <a:close/>
                <a:lnTo>
                  <a:pt x="15560" y="90695"/>
                </a:lnTo>
                <a:close/>
                <a:lnTo>
                  <a:pt x="32796" y="102212"/>
                </a:lnTo>
                <a:close/>
                <a:lnTo>
                  <a:pt x="53128" y="106256"/>
                </a:lnTo>
                <a:close/>
                <a:lnTo>
                  <a:pt x="53128" y="106256"/>
                </a:lnTo>
                <a:close/>
              </a:path>
            </a:pathLst>
          </a:custGeom>
          <a:solidFill>
            <a:srgbClr val="BB1526"/>
          </a:solidFill>
          <a:ln w="10160">
            <a:solidFill>
              <a:srgbClr val="3333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2" name="Freeform 141"/>
          <p:cNvSpPr/>
          <p:nvPr/>
        </p:nvSpPr>
        <p:spPr>
          <a:xfrm>
            <a:off x="11311636" y="1055544"/>
            <a:ext cx="106256" cy="106255"/>
          </a:xfrm>
          <a:custGeom>
            <a:avLst/>
            <a:gdLst/>
            <a:ahLst/>
            <a:cxnLst/>
            <a:rect l="l" t="t" r="r" b="b"/>
            <a:pathLst>
              <a:path w="106256" h="106255">
                <a:moveTo>
                  <a:pt x="53128" y="106255"/>
                </a:moveTo>
                <a:lnTo>
                  <a:pt x="73459" y="102211"/>
                </a:lnTo>
                <a:close/>
                <a:lnTo>
                  <a:pt x="90695" y="90695"/>
                </a:lnTo>
                <a:close/>
                <a:lnTo>
                  <a:pt x="102212" y="73459"/>
                </a:lnTo>
                <a:close/>
                <a:lnTo>
                  <a:pt x="106256" y="53128"/>
                </a:lnTo>
                <a:close/>
                <a:lnTo>
                  <a:pt x="102212" y="32796"/>
                </a:lnTo>
                <a:close/>
                <a:lnTo>
                  <a:pt x="90695" y="15560"/>
                </a:lnTo>
                <a:close/>
                <a:lnTo>
                  <a:pt x="73459" y="4044"/>
                </a:lnTo>
                <a:close/>
                <a:lnTo>
                  <a:pt x="53128" y="0"/>
                </a:lnTo>
                <a:close/>
                <a:lnTo>
                  <a:pt x="32797" y="4044"/>
                </a:lnTo>
                <a:close/>
                <a:lnTo>
                  <a:pt x="15561" y="15560"/>
                </a:lnTo>
                <a:close/>
                <a:lnTo>
                  <a:pt x="4045" y="32796"/>
                </a:lnTo>
                <a:close/>
                <a:lnTo>
                  <a:pt x="0" y="53128"/>
                </a:lnTo>
                <a:close/>
                <a:lnTo>
                  <a:pt x="4045" y="73459"/>
                </a:lnTo>
                <a:close/>
                <a:lnTo>
                  <a:pt x="15561" y="90695"/>
                </a:lnTo>
                <a:close/>
                <a:lnTo>
                  <a:pt x="32797" y="102211"/>
                </a:lnTo>
                <a:close/>
                <a:lnTo>
                  <a:pt x="53128" y="106255"/>
                </a:lnTo>
                <a:close/>
                <a:lnTo>
                  <a:pt x="53128" y="106255"/>
                </a:lnTo>
                <a:close/>
              </a:path>
            </a:pathLst>
          </a:custGeom>
          <a:solidFill>
            <a:srgbClr val="FECA79"/>
          </a:solidFill>
          <a:ln w="10160">
            <a:solidFill>
              <a:srgbClr val="3333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3" name="Freeform 142"/>
          <p:cNvSpPr/>
          <p:nvPr/>
        </p:nvSpPr>
        <p:spPr>
          <a:xfrm>
            <a:off x="9996088" y="2019194"/>
            <a:ext cx="106256" cy="106256"/>
          </a:xfrm>
          <a:custGeom>
            <a:avLst/>
            <a:gdLst/>
            <a:ahLst/>
            <a:cxnLst/>
            <a:rect l="l" t="t" r="r" b="b"/>
            <a:pathLst>
              <a:path w="106256" h="106256">
                <a:moveTo>
                  <a:pt x="53128" y="106256"/>
                </a:moveTo>
                <a:lnTo>
                  <a:pt x="73459" y="102212"/>
                </a:lnTo>
                <a:close/>
                <a:lnTo>
                  <a:pt x="90695" y="90695"/>
                </a:lnTo>
                <a:close/>
                <a:lnTo>
                  <a:pt x="102211" y="73459"/>
                </a:lnTo>
                <a:close/>
                <a:lnTo>
                  <a:pt x="106256" y="53128"/>
                </a:lnTo>
                <a:close/>
                <a:lnTo>
                  <a:pt x="102211" y="32797"/>
                </a:lnTo>
                <a:close/>
                <a:lnTo>
                  <a:pt x="90695" y="15561"/>
                </a:lnTo>
                <a:close/>
                <a:lnTo>
                  <a:pt x="73459" y="4044"/>
                </a:lnTo>
                <a:close/>
                <a:lnTo>
                  <a:pt x="53128" y="0"/>
                </a:lnTo>
                <a:close/>
                <a:lnTo>
                  <a:pt x="32797" y="4044"/>
                </a:lnTo>
                <a:close/>
                <a:lnTo>
                  <a:pt x="15561" y="15561"/>
                </a:lnTo>
                <a:close/>
                <a:lnTo>
                  <a:pt x="4044" y="32797"/>
                </a:lnTo>
                <a:close/>
                <a:lnTo>
                  <a:pt x="0" y="53128"/>
                </a:lnTo>
                <a:close/>
                <a:lnTo>
                  <a:pt x="4044" y="73459"/>
                </a:lnTo>
                <a:close/>
                <a:lnTo>
                  <a:pt x="15561" y="90695"/>
                </a:lnTo>
                <a:close/>
                <a:lnTo>
                  <a:pt x="32797" y="102212"/>
                </a:lnTo>
                <a:close/>
                <a:lnTo>
                  <a:pt x="53128" y="106256"/>
                </a:lnTo>
                <a:close/>
                <a:lnTo>
                  <a:pt x="53128" y="106256"/>
                </a:lnTo>
                <a:close/>
              </a:path>
            </a:pathLst>
          </a:custGeom>
          <a:solidFill>
            <a:srgbClr val="E3F399"/>
          </a:solidFill>
          <a:ln w="10160">
            <a:solidFill>
              <a:srgbClr val="3333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4" name="Freeform 143"/>
          <p:cNvSpPr/>
          <p:nvPr/>
        </p:nvSpPr>
        <p:spPr>
          <a:xfrm>
            <a:off x="10831266" y="1197617"/>
            <a:ext cx="106256" cy="106255"/>
          </a:xfrm>
          <a:custGeom>
            <a:avLst/>
            <a:gdLst/>
            <a:ahLst/>
            <a:cxnLst/>
            <a:rect l="l" t="t" r="r" b="b"/>
            <a:pathLst>
              <a:path w="106256" h="106255">
                <a:moveTo>
                  <a:pt x="53128" y="106255"/>
                </a:moveTo>
                <a:lnTo>
                  <a:pt x="73459" y="102211"/>
                </a:lnTo>
                <a:close/>
                <a:lnTo>
                  <a:pt x="90695" y="90695"/>
                </a:lnTo>
                <a:close/>
                <a:lnTo>
                  <a:pt x="102212" y="73459"/>
                </a:lnTo>
                <a:close/>
                <a:lnTo>
                  <a:pt x="106256" y="53128"/>
                </a:lnTo>
                <a:close/>
                <a:lnTo>
                  <a:pt x="102212" y="32796"/>
                </a:lnTo>
                <a:close/>
                <a:lnTo>
                  <a:pt x="90695" y="15560"/>
                </a:lnTo>
                <a:close/>
                <a:lnTo>
                  <a:pt x="73459" y="4044"/>
                </a:lnTo>
                <a:close/>
                <a:lnTo>
                  <a:pt x="53128" y="0"/>
                </a:lnTo>
                <a:close/>
                <a:lnTo>
                  <a:pt x="32797" y="4044"/>
                </a:lnTo>
                <a:close/>
                <a:lnTo>
                  <a:pt x="15561" y="15560"/>
                </a:lnTo>
                <a:close/>
                <a:lnTo>
                  <a:pt x="4044" y="32796"/>
                </a:lnTo>
                <a:close/>
                <a:lnTo>
                  <a:pt x="0" y="53128"/>
                </a:lnTo>
                <a:close/>
                <a:lnTo>
                  <a:pt x="4044" y="73459"/>
                </a:lnTo>
                <a:close/>
                <a:lnTo>
                  <a:pt x="15561" y="90695"/>
                </a:lnTo>
                <a:close/>
                <a:lnTo>
                  <a:pt x="32797" y="102211"/>
                </a:lnTo>
                <a:close/>
                <a:lnTo>
                  <a:pt x="53128" y="106255"/>
                </a:lnTo>
                <a:close/>
                <a:lnTo>
                  <a:pt x="53128" y="106255"/>
                </a:lnTo>
                <a:close/>
              </a:path>
            </a:pathLst>
          </a:custGeom>
          <a:solidFill>
            <a:srgbClr val="A50026"/>
          </a:solidFill>
          <a:ln w="10160">
            <a:solidFill>
              <a:srgbClr val="3333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5" name="Rectangle 144"/>
          <p:cNvSpPr/>
          <p:nvPr/>
        </p:nvSpPr>
        <p:spPr>
          <a:xfrm>
            <a:off x="3435456" y="952759"/>
            <a:ext cx="121051" cy="2421016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6" name="Freeform 145"/>
          <p:cNvSpPr/>
          <p:nvPr/>
        </p:nvSpPr>
        <p:spPr>
          <a:xfrm>
            <a:off x="3556507" y="2918126"/>
            <a:ext cx="44450" cy="0"/>
          </a:xfrm>
          <a:custGeom>
            <a:avLst/>
            <a:gdLst/>
            <a:ahLst/>
            <a:cxnLst/>
            <a:rect l="l" t="t" r="r" b="b"/>
            <a:pathLst>
              <a:path w="44450" h="0">
                <a:moveTo>
                  <a:pt x="0" y="0"/>
                </a:moveTo>
                <a:lnTo>
                  <a:pt x="44450" y="0"/>
                </a:lnTo>
                <a:close/>
              </a:path>
            </a:pathLst>
          </a:custGeom>
          <a:noFill/>
          <a:ln w="1016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7" name="TextBox 146"/>
          <p:cNvSpPr txBox="1"/>
          <p:nvPr/>
        </p:nvSpPr>
        <p:spPr>
          <a:xfrm>
            <a:off x="3645407" y="2839376"/>
            <a:ext cx="355600" cy="190500"/>
          </a:xfrm>
          <a:prstGeom prst="rect">
            <a:avLst/>
          </a:prstGeom>
          <a:noFill/>
        </p:spPr>
        <p:txBody>
          <a:bodyPr wrap="none" lIns="0" rIns="0" tIns="0" bIns="0"/>
          <a:lstStyle/>
          <a:p>
            <a:pPr algn="l"/>
            <a:r>
              <a:rPr sz="1000" b="0" i="0">
                <a:solidFill>
                  <a:srgbClr val="000000"/>
                </a:solidFill>
                <a:latin typeface="Arial"/>
              </a:rPr>
              <a:t>120</a:t>
            </a:r>
          </a:p>
        </p:txBody>
      </p:sp>
      <p:sp>
        <p:nvSpPr>
          <p:cNvPr id="148" name="Freeform 147"/>
          <p:cNvSpPr/>
          <p:nvPr/>
        </p:nvSpPr>
        <p:spPr>
          <a:xfrm>
            <a:off x="3556507" y="2411849"/>
            <a:ext cx="44450" cy="0"/>
          </a:xfrm>
          <a:custGeom>
            <a:avLst/>
            <a:gdLst/>
            <a:ahLst/>
            <a:cxnLst/>
            <a:rect l="l" t="t" r="r" b="b"/>
            <a:pathLst>
              <a:path w="44450" h="0">
                <a:moveTo>
                  <a:pt x="0" y="0"/>
                </a:moveTo>
                <a:lnTo>
                  <a:pt x="44450" y="0"/>
                </a:lnTo>
                <a:close/>
              </a:path>
            </a:pathLst>
          </a:custGeom>
          <a:noFill/>
          <a:ln w="1016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9" name="TextBox 148"/>
          <p:cNvSpPr txBox="1"/>
          <p:nvPr/>
        </p:nvSpPr>
        <p:spPr>
          <a:xfrm>
            <a:off x="3645407" y="2333099"/>
            <a:ext cx="355600" cy="190500"/>
          </a:xfrm>
          <a:prstGeom prst="rect">
            <a:avLst/>
          </a:prstGeom>
          <a:noFill/>
        </p:spPr>
        <p:txBody>
          <a:bodyPr wrap="none" lIns="0" rIns="0" tIns="0" bIns="0"/>
          <a:lstStyle/>
          <a:p>
            <a:pPr algn="l"/>
            <a:r>
              <a:rPr sz="1000" b="0" i="0">
                <a:solidFill>
                  <a:srgbClr val="000000"/>
                </a:solidFill>
                <a:latin typeface="Arial"/>
              </a:rPr>
              <a:t>140</a:t>
            </a:r>
          </a:p>
        </p:txBody>
      </p:sp>
      <p:sp>
        <p:nvSpPr>
          <p:cNvPr id="150" name="Freeform 149"/>
          <p:cNvSpPr/>
          <p:nvPr/>
        </p:nvSpPr>
        <p:spPr>
          <a:xfrm>
            <a:off x="3556507" y="1905572"/>
            <a:ext cx="44450" cy="0"/>
          </a:xfrm>
          <a:custGeom>
            <a:avLst/>
            <a:gdLst/>
            <a:ahLst/>
            <a:cxnLst/>
            <a:rect l="l" t="t" r="r" b="b"/>
            <a:pathLst>
              <a:path w="44450" h="0">
                <a:moveTo>
                  <a:pt x="0" y="0"/>
                </a:moveTo>
                <a:lnTo>
                  <a:pt x="44450" y="0"/>
                </a:lnTo>
                <a:close/>
              </a:path>
            </a:pathLst>
          </a:custGeom>
          <a:noFill/>
          <a:ln w="1016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1" name="TextBox 150"/>
          <p:cNvSpPr txBox="1"/>
          <p:nvPr/>
        </p:nvSpPr>
        <p:spPr>
          <a:xfrm>
            <a:off x="3645407" y="1826822"/>
            <a:ext cx="355600" cy="190500"/>
          </a:xfrm>
          <a:prstGeom prst="rect">
            <a:avLst/>
          </a:prstGeom>
          <a:noFill/>
        </p:spPr>
        <p:txBody>
          <a:bodyPr wrap="none" lIns="0" rIns="0" tIns="0" bIns="0"/>
          <a:lstStyle/>
          <a:p>
            <a:pPr algn="l"/>
            <a:r>
              <a:rPr sz="1000" b="0" i="0">
                <a:solidFill>
                  <a:srgbClr val="000000"/>
                </a:solidFill>
                <a:latin typeface="Arial"/>
              </a:rPr>
              <a:t>160</a:t>
            </a:r>
          </a:p>
        </p:txBody>
      </p:sp>
      <p:sp>
        <p:nvSpPr>
          <p:cNvPr id="152" name="Freeform 151"/>
          <p:cNvSpPr/>
          <p:nvPr/>
        </p:nvSpPr>
        <p:spPr>
          <a:xfrm>
            <a:off x="3556507" y="1399295"/>
            <a:ext cx="44450" cy="0"/>
          </a:xfrm>
          <a:custGeom>
            <a:avLst/>
            <a:gdLst/>
            <a:ahLst/>
            <a:cxnLst/>
            <a:rect l="l" t="t" r="r" b="b"/>
            <a:pathLst>
              <a:path w="44450" h="0">
                <a:moveTo>
                  <a:pt x="0" y="0"/>
                </a:moveTo>
                <a:lnTo>
                  <a:pt x="44450" y="0"/>
                </a:lnTo>
                <a:close/>
              </a:path>
            </a:pathLst>
          </a:custGeom>
          <a:noFill/>
          <a:ln w="1016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3" name="TextBox 152"/>
          <p:cNvSpPr txBox="1"/>
          <p:nvPr/>
        </p:nvSpPr>
        <p:spPr>
          <a:xfrm>
            <a:off x="3645407" y="1320545"/>
            <a:ext cx="355600" cy="190500"/>
          </a:xfrm>
          <a:prstGeom prst="rect">
            <a:avLst/>
          </a:prstGeom>
          <a:noFill/>
        </p:spPr>
        <p:txBody>
          <a:bodyPr wrap="none" lIns="0" rIns="0" tIns="0" bIns="0"/>
          <a:lstStyle/>
          <a:p>
            <a:pPr algn="l"/>
            <a:r>
              <a:rPr sz="1000" b="0" i="0">
                <a:solidFill>
                  <a:srgbClr val="000000"/>
                </a:solidFill>
                <a:latin typeface="Arial"/>
              </a:rPr>
              <a:t>180</a:t>
            </a:r>
          </a:p>
        </p:txBody>
      </p:sp>
      <p:sp>
        <p:nvSpPr>
          <p:cNvPr id="154" name="TextBox 153"/>
          <p:cNvSpPr txBox="1"/>
          <p:nvPr/>
        </p:nvSpPr>
        <p:spPr>
          <a:xfrm rot="16200000">
            <a:off x="3939868" y="1875553"/>
            <a:ext cx="1422400" cy="190500"/>
          </a:xfrm>
          <a:prstGeom prst="rect">
            <a:avLst/>
          </a:prstGeom>
          <a:noFill/>
        </p:spPr>
        <p:txBody>
          <a:bodyPr wrap="none" lIns="0" rIns="0" tIns="0" bIns="0"/>
          <a:lstStyle/>
          <a:p>
            <a:pPr algn="l"/>
            <a:r>
              <a:rPr sz="1000" b="0" i="0">
                <a:solidFill>
                  <a:srgbClr val="000000"/>
                </a:solidFill>
                <a:latin typeface="Arial"/>
              </a:rPr>
              <a:t>Obs. stress (MPa)</a:t>
            </a:r>
          </a:p>
        </p:txBody>
      </p:sp>
      <p:sp>
        <p:nvSpPr>
          <p:cNvPr id="155" name="Freeform 154"/>
          <p:cNvSpPr/>
          <p:nvPr/>
        </p:nvSpPr>
        <p:spPr>
          <a:xfrm>
            <a:off x="3435456" y="952759"/>
            <a:ext cx="121051" cy="2421016"/>
          </a:xfrm>
          <a:custGeom>
            <a:avLst/>
            <a:gdLst/>
            <a:ahLst/>
            <a:cxnLst/>
            <a:rect l="l" t="t" r="r" b="b"/>
            <a:pathLst>
              <a:path w="121051" h="2421016">
                <a:moveTo>
                  <a:pt x="0" y="2421016"/>
                </a:moveTo>
                <a:lnTo>
                  <a:pt x="60526" y="2421016"/>
                </a:lnTo>
                <a:close/>
                <a:lnTo>
                  <a:pt x="121051" y="2421016"/>
                </a:lnTo>
                <a:close/>
                <a:lnTo>
                  <a:pt x="121051" y="0"/>
                </a:lnTo>
                <a:close/>
                <a:lnTo>
                  <a:pt x="60526" y="0"/>
                </a:lnTo>
                <a:close/>
                <a:lnTo>
                  <a:pt x="0" y="0"/>
                </a:lnTo>
                <a:close/>
                <a:lnTo>
                  <a:pt x="0" y="2421016"/>
                </a:lnTo>
                <a:close/>
                <a:lnTo>
                  <a:pt x="0" y="2421016"/>
                </a:lnTo>
                <a:close/>
              </a:path>
            </a:pathLst>
          </a:custGeom>
          <a:noFill/>
          <a:ln w="1016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6" name="Rectangle 155"/>
          <p:cNvSpPr/>
          <p:nvPr/>
        </p:nvSpPr>
        <p:spPr>
          <a:xfrm>
            <a:off x="7665471" y="952759"/>
            <a:ext cx="121051" cy="2421016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7" name="Freeform 156"/>
          <p:cNvSpPr/>
          <p:nvPr/>
        </p:nvSpPr>
        <p:spPr>
          <a:xfrm>
            <a:off x="7786521" y="2918126"/>
            <a:ext cx="44450" cy="0"/>
          </a:xfrm>
          <a:custGeom>
            <a:avLst/>
            <a:gdLst/>
            <a:ahLst/>
            <a:cxnLst/>
            <a:rect l="l" t="t" r="r" b="b"/>
            <a:pathLst>
              <a:path w="44450" h="0">
                <a:moveTo>
                  <a:pt x="0" y="0"/>
                </a:moveTo>
                <a:lnTo>
                  <a:pt x="44450" y="0"/>
                </a:lnTo>
                <a:close/>
              </a:path>
            </a:pathLst>
          </a:custGeom>
          <a:noFill/>
          <a:ln w="1016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8" name="TextBox 157"/>
          <p:cNvSpPr txBox="1"/>
          <p:nvPr/>
        </p:nvSpPr>
        <p:spPr>
          <a:xfrm>
            <a:off x="7875421" y="2839376"/>
            <a:ext cx="355600" cy="190500"/>
          </a:xfrm>
          <a:prstGeom prst="rect">
            <a:avLst/>
          </a:prstGeom>
          <a:noFill/>
        </p:spPr>
        <p:txBody>
          <a:bodyPr wrap="none" lIns="0" rIns="0" tIns="0" bIns="0"/>
          <a:lstStyle/>
          <a:p>
            <a:pPr algn="l"/>
            <a:r>
              <a:rPr sz="1000" b="0" i="0">
                <a:solidFill>
                  <a:srgbClr val="000000"/>
                </a:solidFill>
                <a:latin typeface="Arial"/>
              </a:rPr>
              <a:t>120</a:t>
            </a:r>
          </a:p>
        </p:txBody>
      </p:sp>
      <p:sp>
        <p:nvSpPr>
          <p:cNvPr id="159" name="Freeform 158"/>
          <p:cNvSpPr/>
          <p:nvPr/>
        </p:nvSpPr>
        <p:spPr>
          <a:xfrm>
            <a:off x="7786521" y="2411849"/>
            <a:ext cx="44450" cy="0"/>
          </a:xfrm>
          <a:custGeom>
            <a:avLst/>
            <a:gdLst/>
            <a:ahLst/>
            <a:cxnLst/>
            <a:rect l="l" t="t" r="r" b="b"/>
            <a:pathLst>
              <a:path w="44450" h="0">
                <a:moveTo>
                  <a:pt x="0" y="0"/>
                </a:moveTo>
                <a:lnTo>
                  <a:pt x="44450" y="0"/>
                </a:lnTo>
                <a:close/>
              </a:path>
            </a:pathLst>
          </a:custGeom>
          <a:noFill/>
          <a:ln w="1016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0" name="TextBox 159"/>
          <p:cNvSpPr txBox="1"/>
          <p:nvPr/>
        </p:nvSpPr>
        <p:spPr>
          <a:xfrm>
            <a:off x="7875421" y="2333099"/>
            <a:ext cx="355600" cy="190500"/>
          </a:xfrm>
          <a:prstGeom prst="rect">
            <a:avLst/>
          </a:prstGeom>
          <a:noFill/>
        </p:spPr>
        <p:txBody>
          <a:bodyPr wrap="none" lIns="0" rIns="0" tIns="0" bIns="0"/>
          <a:lstStyle/>
          <a:p>
            <a:pPr algn="l"/>
            <a:r>
              <a:rPr sz="1000" b="0" i="0">
                <a:solidFill>
                  <a:srgbClr val="000000"/>
                </a:solidFill>
                <a:latin typeface="Arial"/>
              </a:rPr>
              <a:t>140</a:t>
            </a:r>
          </a:p>
        </p:txBody>
      </p:sp>
      <p:sp>
        <p:nvSpPr>
          <p:cNvPr id="161" name="Freeform 160"/>
          <p:cNvSpPr/>
          <p:nvPr/>
        </p:nvSpPr>
        <p:spPr>
          <a:xfrm>
            <a:off x="7786521" y="1905572"/>
            <a:ext cx="44450" cy="0"/>
          </a:xfrm>
          <a:custGeom>
            <a:avLst/>
            <a:gdLst/>
            <a:ahLst/>
            <a:cxnLst/>
            <a:rect l="l" t="t" r="r" b="b"/>
            <a:pathLst>
              <a:path w="44450" h="0">
                <a:moveTo>
                  <a:pt x="0" y="0"/>
                </a:moveTo>
                <a:lnTo>
                  <a:pt x="44450" y="0"/>
                </a:lnTo>
                <a:close/>
              </a:path>
            </a:pathLst>
          </a:custGeom>
          <a:noFill/>
          <a:ln w="1016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2" name="TextBox 161"/>
          <p:cNvSpPr txBox="1"/>
          <p:nvPr/>
        </p:nvSpPr>
        <p:spPr>
          <a:xfrm>
            <a:off x="7875421" y="1826822"/>
            <a:ext cx="355600" cy="190500"/>
          </a:xfrm>
          <a:prstGeom prst="rect">
            <a:avLst/>
          </a:prstGeom>
          <a:noFill/>
        </p:spPr>
        <p:txBody>
          <a:bodyPr wrap="none" lIns="0" rIns="0" tIns="0" bIns="0"/>
          <a:lstStyle/>
          <a:p>
            <a:pPr algn="l"/>
            <a:r>
              <a:rPr sz="1000" b="0" i="0">
                <a:solidFill>
                  <a:srgbClr val="000000"/>
                </a:solidFill>
                <a:latin typeface="Arial"/>
              </a:rPr>
              <a:t>160</a:t>
            </a:r>
          </a:p>
        </p:txBody>
      </p:sp>
      <p:sp>
        <p:nvSpPr>
          <p:cNvPr id="163" name="Freeform 162"/>
          <p:cNvSpPr/>
          <p:nvPr/>
        </p:nvSpPr>
        <p:spPr>
          <a:xfrm>
            <a:off x="7786521" y="1399295"/>
            <a:ext cx="44450" cy="0"/>
          </a:xfrm>
          <a:custGeom>
            <a:avLst/>
            <a:gdLst/>
            <a:ahLst/>
            <a:cxnLst/>
            <a:rect l="l" t="t" r="r" b="b"/>
            <a:pathLst>
              <a:path w="44450" h="0">
                <a:moveTo>
                  <a:pt x="0" y="0"/>
                </a:moveTo>
                <a:lnTo>
                  <a:pt x="44450" y="0"/>
                </a:lnTo>
                <a:close/>
              </a:path>
            </a:pathLst>
          </a:custGeom>
          <a:noFill/>
          <a:ln w="1016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4" name="TextBox 163"/>
          <p:cNvSpPr txBox="1"/>
          <p:nvPr/>
        </p:nvSpPr>
        <p:spPr>
          <a:xfrm>
            <a:off x="7875421" y="1320545"/>
            <a:ext cx="355600" cy="190500"/>
          </a:xfrm>
          <a:prstGeom prst="rect">
            <a:avLst/>
          </a:prstGeom>
          <a:noFill/>
        </p:spPr>
        <p:txBody>
          <a:bodyPr wrap="none" lIns="0" rIns="0" tIns="0" bIns="0"/>
          <a:lstStyle/>
          <a:p>
            <a:pPr algn="l"/>
            <a:r>
              <a:rPr sz="1000" b="0" i="0">
                <a:solidFill>
                  <a:srgbClr val="000000"/>
                </a:solidFill>
                <a:latin typeface="Arial"/>
              </a:rPr>
              <a:t>180</a:t>
            </a:r>
          </a:p>
        </p:txBody>
      </p:sp>
      <p:sp>
        <p:nvSpPr>
          <p:cNvPr id="165" name="TextBox 164"/>
          <p:cNvSpPr txBox="1"/>
          <p:nvPr/>
        </p:nvSpPr>
        <p:spPr>
          <a:xfrm rot="16200000">
            <a:off x="8169883" y="1875553"/>
            <a:ext cx="1422400" cy="190500"/>
          </a:xfrm>
          <a:prstGeom prst="rect">
            <a:avLst/>
          </a:prstGeom>
          <a:noFill/>
        </p:spPr>
        <p:txBody>
          <a:bodyPr wrap="none" lIns="0" rIns="0" tIns="0" bIns="0"/>
          <a:lstStyle/>
          <a:p>
            <a:pPr algn="l"/>
            <a:r>
              <a:rPr sz="1000" b="0" i="0">
                <a:solidFill>
                  <a:srgbClr val="000000"/>
                </a:solidFill>
                <a:latin typeface="Arial"/>
              </a:rPr>
              <a:t>Obs. stress (MPa)</a:t>
            </a:r>
          </a:p>
        </p:txBody>
      </p:sp>
      <p:sp>
        <p:nvSpPr>
          <p:cNvPr id="166" name="Freeform 165"/>
          <p:cNvSpPr/>
          <p:nvPr/>
        </p:nvSpPr>
        <p:spPr>
          <a:xfrm>
            <a:off x="7665471" y="952759"/>
            <a:ext cx="121050" cy="2421016"/>
          </a:xfrm>
          <a:custGeom>
            <a:avLst/>
            <a:gdLst/>
            <a:ahLst/>
            <a:cxnLst/>
            <a:rect l="l" t="t" r="r" b="b"/>
            <a:pathLst>
              <a:path w="121050" h="2421016">
                <a:moveTo>
                  <a:pt x="0" y="2421016"/>
                </a:moveTo>
                <a:lnTo>
                  <a:pt x="60525" y="2421016"/>
                </a:lnTo>
                <a:close/>
                <a:lnTo>
                  <a:pt x="121050" y="2421016"/>
                </a:lnTo>
                <a:close/>
                <a:lnTo>
                  <a:pt x="121050" y="0"/>
                </a:lnTo>
                <a:close/>
                <a:lnTo>
                  <a:pt x="60525" y="0"/>
                </a:lnTo>
                <a:close/>
                <a:lnTo>
                  <a:pt x="0" y="0"/>
                </a:lnTo>
                <a:close/>
                <a:lnTo>
                  <a:pt x="0" y="2421016"/>
                </a:lnTo>
                <a:close/>
                <a:lnTo>
                  <a:pt x="0" y="2421016"/>
                </a:lnTo>
                <a:close/>
              </a:path>
            </a:pathLst>
          </a:custGeom>
          <a:noFill/>
          <a:ln w="1016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7" name="Rectangle 166"/>
          <p:cNvSpPr/>
          <p:nvPr/>
        </p:nvSpPr>
        <p:spPr>
          <a:xfrm>
            <a:off x="11895485" y="952759"/>
            <a:ext cx="121051" cy="2421016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8" name="Freeform 167"/>
          <p:cNvSpPr/>
          <p:nvPr/>
        </p:nvSpPr>
        <p:spPr>
          <a:xfrm>
            <a:off x="12016536" y="2918126"/>
            <a:ext cx="44450" cy="0"/>
          </a:xfrm>
          <a:custGeom>
            <a:avLst/>
            <a:gdLst/>
            <a:ahLst/>
            <a:cxnLst/>
            <a:rect l="l" t="t" r="r" b="b"/>
            <a:pathLst>
              <a:path w="44450" h="0">
                <a:moveTo>
                  <a:pt x="0" y="0"/>
                </a:moveTo>
                <a:lnTo>
                  <a:pt x="44450" y="0"/>
                </a:lnTo>
                <a:close/>
              </a:path>
            </a:pathLst>
          </a:custGeom>
          <a:noFill/>
          <a:ln w="1016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9" name="TextBox 168"/>
          <p:cNvSpPr txBox="1"/>
          <p:nvPr/>
        </p:nvSpPr>
        <p:spPr>
          <a:xfrm>
            <a:off x="12105436" y="2839376"/>
            <a:ext cx="355600" cy="190500"/>
          </a:xfrm>
          <a:prstGeom prst="rect">
            <a:avLst/>
          </a:prstGeom>
          <a:noFill/>
        </p:spPr>
        <p:txBody>
          <a:bodyPr wrap="none" lIns="0" rIns="0" tIns="0" bIns="0"/>
          <a:lstStyle/>
          <a:p>
            <a:pPr algn="l"/>
            <a:r>
              <a:rPr sz="1000" b="0" i="0">
                <a:solidFill>
                  <a:srgbClr val="000000"/>
                </a:solidFill>
                <a:latin typeface="Arial"/>
              </a:rPr>
              <a:t>120</a:t>
            </a:r>
          </a:p>
        </p:txBody>
      </p:sp>
      <p:sp>
        <p:nvSpPr>
          <p:cNvPr id="170" name="Freeform 169"/>
          <p:cNvSpPr/>
          <p:nvPr/>
        </p:nvSpPr>
        <p:spPr>
          <a:xfrm>
            <a:off x="12016536" y="2411849"/>
            <a:ext cx="44450" cy="0"/>
          </a:xfrm>
          <a:custGeom>
            <a:avLst/>
            <a:gdLst/>
            <a:ahLst/>
            <a:cxnLst/>
            <a:rect l="l" t="t" r="r" b="b"/>
            <a:pathLst>
              <a:path w="44450" h="0">
                <a:moveTo>
                  <a:pt x="0" y="0"/>
                </a:moveTo>
                <a:lnTo>
                  <a:pt x="44450" y="0"/>
                </a:lnTo>
                <a:close/>
              </a:path>
            </a:pathLst>
          </a:custGeom>
          <a:noFill/>
          <a:ln w="1016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1" name="TextBox 170"/>
          <p:cNvSpPr txBox="1"/>
          <p:nvPr/>
        </p:nvSpPr>
        <p:spPr>
          <a:xfrm>
            <a:off x="12105436" y="2333099"/>
            <a:ext cx="355600" cy="190500"/>
          </a:xfrm>
          <a:prstGeom prst="rect">
            <a:avLst/>
          </a:prstGeom>
          <a:noFill/>
        </p:spPr>
        <p:txBody>
          <a:bodyPr wrap="none" lIns="0" rIns="0" tIns="0" bIns="0"/>
          <a:lstStyle/>
          <a:p>
            <a:pPr algn="l"/>
            <a:r>
              <a:rPr sz="1000" b="0" i="0">
                <a:solidFill>
                  <a:srgbClr val="000000"/>
                </a:solidFill>
                <a:latin typeface="Arial"/>
              </a:rPr>
              <a:t>140</a:t>
            </a:r>
          </a:p>
        </p:txBody>
      </p:sp>
      <p:sp>
        <p:nvSpPr>
          <p:cNvPr id="172" name="Freeform 171"/>
          <p:cNvSpPr/>
          <p:nvPr/>
        </p:nvSpPr>
        <p:spPr>
          <a:xfrm>
            <a:off x="12016536" y="1905572"/>
            <a:ext cx="44450" cy="0"/>
          </a:xfrm>
          <a:custGeom>
            <a:avLst/>
            <a:gdLst/>
            <a:ahLst/>
            <a:cxnLst/>
            <a:rect l="l" t="t" r="r" b="b"/>
            <a:pathLst>
              <a:path w="44450" h="0">
                <a:moveTo>
                  <a:pt x="0" y="0"/>
                </a:moveTo>
                <a:lnTo>
                  <a:pt x="44450" y="0"/>
                </a:lnTo>
                <a:close/>
              </a:path>
            </a:pathLst>
          </a:custGeom>
          <a:noFill/>
          <a:ln w="1016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3" name="TextBox 172"/>
          <p:cNvSpPr txBox="1"/>
          <p:nvPr/>
        </p:nvSpPr>
        <p:spPr>
          <a:xfrm>
            <a:off x="12105436" y="1826822"/>
            <a:ext cx="355600" cy="190500"/>
          </a:xfrm>
          <a:prstGeom prst="rect">
            <a:avLst/>
          </a:prstGeom>
          <a:noFill/>
        </p:spPr>
        <p:txBody>
          <a:bodyPr wrap="none" lIns="0" rIns="0" tIns="0" bIns="0"/>
          <a:lstStyle/>
          <a:p>
            <a:pPr algn="l"/>
            <a:r>
              <a:rPr sz="1000" b="0" i="0">
                <a:solidFill>
                  <a:srgbClr val="000000"/>
                </a:solidFill>
                <a:latin typeface="Arial"/>
              </a:rPr>
              <a:t>160</a:t>
            </a:r>
          </a:p>
        </p:txBody>
      </p:sp>
      <p:sp>
        <p:nvSpPr>
          <p:cNvPr id="174" name="Freeform 173"/>
          <p:cNvSpPr/>
          <p:nvPr/>
        </p:nvSpPr>
        <p:spPr>
          <a:xfrm>
            <a:off x="12016536" y="1399295"/>
            <a:ext cx="44450" cy="0"/>
          </a:xfrm>
          <a:custGeom>
            <a:avLst/>
            <a:gdLst/>
            <a:ahLst/>
            <a:cxnLst/>
            <a:rect l="l" t="t" r="r" b="b"/>
            <a:pathLst>
              <a:path w="44450" h="0">
                <a:moveTo>
                  <a:pt x="0" y="0"/>
                </a:moveTo>
                <a:lnTo>
                  <a:pt x="44450" y="0"/>
                </a:lnTo>
                <a:close/>
              </a:path>
            </a:pathLst>
          </a:custGeom>
          <a:noFill/>
          <a:ln w="1016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5" name="TextBox 174"/>
          <p:cNvSpPr txBox="1"/>
          <p:nvPr/>
        </p:nvSpPr>
        <p:spPr>
          <a:xfrm>
            <a:off x="12105436" y="1320545"/>
            <a:ext cx="355600" cy="190500"/>
          </a:xfrm>
          <a:prstGeom prst="rect">
            <a:avLst/>
          </a:prstGeom>
          <a:noFill/>
        </p:spPr>
        <p:txBody>
          <a:bodyPr wrap="none" lIns="0" rIns="0" tIns="0" bIns="0"/>
          <a:lstStyle/>
          <a:p>
            <a:pPr algn="l"/>
            <a:r>
              <a:rPr sz="1000" b="0" i="0">
                <a:solidFill>
                  <a:srgbClr val="000000"/>
                </a:solidFill>
                <a:latin typeface="Arial"/>
              </a:rPr>
              <a:t>180</a:t>
            </a:r>
          </a:p>
        </p:txBody>
      </p:sp>
      <p:sp>
        <p:nvSpPr>
          <p:cNvPr id="176" name="TextBox 175"/>
          <p:cNvSpPr txBox="1"/>
          <p:nvPr/>
        </p:nvSpPr>
        <p:spPr>
          <a:xfrm rot="16200000">
            <a:off x="12399897" y="1875553"/>
            <a:ext cx="1422400" cy="190500"/>
          </a:xfrm>
          <a:prstGeom prst="rect">
            <a:avLst/>
          </a:prstGeom>
          <a:noFill/>
        </p:spPr>
        <p:txBody>
          <a:bodyPr wrap="none" lIns="0" rIns="0" tIns="0" bIns="0"/>
          <a:lstStyle/>
          <a:p>
            <a:pPr algn="l"/>
            <a:r>
              <a:rPr sz="1000" b="0" i="0">
                <a:solidFill>
                  <a:srgbClr val="000000"/>
                </a:solidFill>
                <a:latin typeface="Arial"/>
              </a:rPr>
              <a:t>Obs. stress (MPa)</a:t>
            </a:r>
          </a:p>
        </p:txBody>
      </p:sp>
      <p:sp>
        <p:nvSpPr>
          <p:cNvPr id="177" name="Freeform 176"/>
          <p:cNvSpPr/>
          <p:nvPr/>
        </p:nvSpPr>
        <p:spPr>
          <a:xfrm>
            <a:off x="11895485" y="952759"/>
            <a:ext cx="121051" cy="2421016"/>
          </a:xfrm>
          <a:custGeom>
            <a:avLst/>
            <a:gdLst/>
            <a:ahLst/>
            <a:cxnLst/>
            <a:rect l="l" t="t" r="r" b="b"/>
            <a:pathLst>
              <a:path w="121051" h="2421016">
                <a:moveTo>
                  <a:pt x="0" y="2421016"/>
                </a:moveTo>
                <a:lnTo>
                  <a:pt x="60525" y="2421016"/>
                </a:lnTo>
                <a:close/>
                <a:lnTo>
                  <a:pt x="121051" y="2421016"/>
                </a:lnTo>
                <a:close/>
                <a:lnTo>
                  <a:pt x="121051" y="0"/>
                </a:lnTo>
                <a:close/>
                <a:lnTo>
                  <a:pt x="60525" y="0"/>
                </a:lnTo>
                <a:close/>
                <a:lnTo>
                  <a:pt x="0" y="0"/>
                </a:lnTo>
                <a:close/>
                <a:lnTo>
                  <a:pt x="0" y="2421016"/>
                </a:lnTo>
                <a:close/>
                <a:lnTo>
                  <a:pt x="0" y="2421016"/>
                </a:lnTo>
                <a:close/>
              </a:path>
            </a:pathLst>
          </a:custGeom>
          <a:noFill/>
          <a:ln w="1016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8" name="TextBox 177"/>
          <p:cNvSpPr txBox="1"/>
          <p:nvPr/>
        </p:nvSpPr>
        <p:spPr>
          <a:xfrm>
            <a:off x="3908315" y="55507"/>
            <a:ext cx="5364480" cy="228600"/>
          </a:xfrm>
          <a:prstGeom prst="rect">
            <a:avLst/>
          </a:prstGeom>
          <a:noFill/>
        </p:spPr>
        <p:txBody>
          <a:bodyPr wrap="none" lIns="0" rIns="0" tIns="0" bIns="0"/>
          <a:lstStyle/>
          <a:p>
            <a:pPr algn="l"/>
            <a:r>
              <a:rPr sz="1200" b="1" i="0">
                <a:solidFill>
                  <a:srgbClr val="000000"/>
                </a:solidFill>
                <a:latin typeface="Arial"/>
              </a:rPr>
              <a:t>Figure 5 (v3) | Joint posterior density — parameter pairs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