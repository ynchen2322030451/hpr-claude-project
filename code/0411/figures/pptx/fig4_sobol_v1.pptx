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782505" cy="432709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82505" cy="4327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590" y="732130"/>
            <a:ext cx="4448374" cy="31180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7016" y="3501914"/>
            <a:ext cx="13755" cy="20649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47016" y="3126478"/>
            <a:ext cx="109044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47016" y="2751041"/>
            <a:ext cx="216853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47016" y="2375604"/>
            <a:ext cx="350705" cy="206490"/>
          </a:xfrm>
          <a:prstGeom prst="rect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47016" y="2000167"/>
            <a:ext cx="370402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47016" y="1624731"/>
            <a:ext cx="418109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47016" y="1249294"/>
            <a:ext cx="1110423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47016" y="873857"/>
            <a:ext cx="3858423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247016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6031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4" name="Freeform 13"/>
          <p:cNvSpPr/>
          <p:nvPr/>
        </p:nvSpPr>
        <p:spPr>
          <a:xfrm>
            <a:off x="1905097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4112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6" name="Freeform 15"/>
          <p:cNvSpPr/>
          <p:nvPr/>
        </p:nvSpPr>
        <p:spPr>
          <a:xfrm>
            <a:off x="2563178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2193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8" name="Freeform 17"/>
          <p:cNvSpPr/>
          <p:nvPr/>
        </p:nvSpPr>
        <p:spPr>
          <a:xfrm>
            <a:off x="3221260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0275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20" name="Freeform 19"/>
          <p:cNvSpPr/>
          <p:nvPr/>
        </p:nvSpPr>
        <p:spPr>
          <a:xfrm>
            <a:off x="3879341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8356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2" name="Freeform 21"/>
          <p:cNvSpPr/>
          <p:nvPr/>
        </p:nvSpPr>
        <p:spPr>
          <a:xfrm>
            <a:off x="4537422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6438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24" name="Freeform 23"/>
          <p:cNvSpPr/>
          <p:nvPr/>
        </p:nvSpPr>
        <p:spPr>
          <a:xfrm>
            <a:off x="5195504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4519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4337" y="4082244"/>
            <a:ext cx="2794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First-order Sobol index S1 (90% CI)</a:t>
            </a:r>
          </a:p>
        </p:txBody>
      </p:sp>
      <p:sp>
        <p:nvSpPr>
          <p:cNvPr id="27" name="Freeform 26"/>
          <p:cNvSpPr/>
          <p:nvPr/>
        </p:nvSpPr>
        <p:spPr>
          <a:xfrm>
            <a:off x="993140" y="360516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" y="3526420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kslope (SS316)</a:t>
            </a:r>
          </a:p>
        </p:txBody>
      </p:sp>
      <p:sp>
        <p:nvSpPr>
          <p:cNvPr id="29" name="Freeform 28"/>
          <p:cNvSpPr/>
          <p:nvPr/>
        </p:nvSpPr>
        <p:spPr>
          <a:xfrm>
            <a:off x="993140" y="322972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930" y="3150973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Tref (SS316)</a:t>
            </a:r>
          </a:p>
        </p:txBody>
      </p:sp>
      <p:sp>
        <p:nvSpPr>
          <p:cNvPr id="31" name="Freeform 30"/>
          <p:cNvSpPr/>
          <p:nvPr/>
        </p:nvSpPr>
        <p:spPr>
          <a:xfrm>
            <a:off x="993140" y="285428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840" y="2769057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αslope</a:t>
            </a:r>
          </a:p>
        </p:txBody>
      </p:sp>
      <p:sp>
        <p:nvSpPr>
          <p:cNvPr id="33" name="Freeform 32"/>
          <p:cNvSpPr/>
          <p:nvPr/>
        </p:nvSpPr>
        <p:spPr>
          <a:xfrm>
            <a:off x="993140" y="24788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" y="2400099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kref (SS316)</a:t>
            </a:r>
          </a:p>
        </p:txBody>
      </p:sp>
      <p:sp>
        <p:nvSpPr>
          <p:cNvPr id="35" name="Freeform 34"/>
          <p:cNvSpPr/>
          <p:nvPr/>
        </p:nvSpPr>
        <p:spPr>
          <a:xfrm>
            <a:off x="993140" y="210341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8950" y="2024672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E slope</a:t>
            </a:r>
          </a:p>
        </p:txBody>
      </p:sp>
      <p:sp>
        <p:nvSpPr>
          <p:cNvPr id="37" name="Freeform 36"/>
          <p:cNvSpPr/>
          <p:nvPr/>
        </p:nvSpPr>
        <p:spPr>
          <a:xfrm>
            <a:off x="993140" y="172797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870" y="1649226"/>
            <a:ext cx="812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Poisson ν</a:t>
            </a:r>
          </a:p>
        </p:txBody>
      </p:sp>
      <p:sp>
        <p:nvSpPr>
          <p:cNvPr id="39" name="Freeform 38"/>
          <p:cNvSpPr/>
          <p:nvPr/>
        </p:nvSpPr>
        <p:spPr>
          <a:xfrm>
            <a:off x="993140" y="135253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970" y="127378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41" name="Freeform 40"/>
          <p:cNvSpPr/>
          <p:nvPr/>
        </p:nvSpPr>
        <p:spPr>
          <a:xfrm>
            <a:off x="993140" y="977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730" y="898362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E intercept</a:t>
            </a:r>
          </a:p>
        </p:txBody>
      </p:sp>
      <p:sp>
        <p:nvSpPr>
          <p:cNvPr id="43" name="Freeform 42"/>
          <p:cNvSpPr/>
          <p:nvPr/>
        </p:nvSpPr>
        <p:spPr>
          <a:xfrm>
            <a:off x="1239789" y="3605160"/>
            <a:ext cx="41962" cy="0"/>
          </a:xfrm>
          <a:custGeom>
            <a:avLst/>
            <a:gdLst/>
            <a:ahLst/>
            <a:cxnLst/>
            <a:rect l="l" t="t" r="r" b="b"/>
            <a:pathLst>
              <a:path w="41962" h="0">
                <a:moveTo>
                  <a:pt x="0" y="0"/>
                </a:moveTo>
                <a:lnTo>
                  <a:pt x="41962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333126" y="3229723"/>
            <a:ext cx="45866" cy="0"/>
          </a:xfrm>
          <a:custGeom>
            <a:avLst/>
            <a:gdLst/>
            <a:ahLst/>
            <a:cxnLst/>
            <a:rect l="l" t="t" r="r" b="b"/>
            <a:pathLst>
              <a:path w="45866" h="0">
                <a:moveTo>
                  <a:pt x="0" y="0"/>
                </a:moveTo>
                <a:lnTo>
                  <a:pt x="45866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443316" y="2854286"/>
            <a:ext cx="41106" cy="0"/>
          </a:xfrm>
          <a:custGeom>
            <a:avLst/>
            <a:gdLst/>
            <a:ahLst/>
            <a:cxnLst/>
            <a:rect l="l" t="t" r="r" b="b"/>
            <a:pathLst>
              <a:path w="41106" h="0">
                <a:moveTo>
                  <a:pt x="0" y="0"/>
                </a:moveTo>
                <a:lnTo>
                  <a:pt x="41106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578536" y="2478849"/>
            <a:ext cx="38370" cy="0"/>
          </a:xfrm>
          <a:custGeom>
            <a:avLst/>
            <a:gdLst/>
            <a:ahLst/>
            <a:cxnLst/>
            <a:rect l="l" t="t" r="r" b="b"/>
            <a:pathLst>
              <a:path w="38370" h="0">
                <a:moveTo>
                  <a:pt x="0" y="0"/>
                </a:moveTo>
                <a:lnTo>
                  <a:pt x="38370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595296" y="2103412"/>
            <a:ext cx="44243" cy="0"/>
          </a:xfrm>
          <a:custGeom>
            <a:avLst/>
            <a:gdLst/>
            <a:ahLst/>
            <a:cxnLst/>
            <a:rect l="l" t="t" r="r" b="b"/>
            <a:pathLst>
              <a:path w="44243" h="0">
                <a:moveTo>
                  <a:pt x="0" y="0"/>
                </a:moveTo>
                <a:lnTo>
                  <a:pt x="44243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640560" y="1727976"/>
            <a:ext cx="49130" cy="0"/>
          </a:xfrm>
          <a:custGeom>
            <a:avLst/>
            <a:gdLst/>
            <a:ahLst/>
            <a:cxnLst/>
            <a:rect l="l" t="t" r="r" b="b"/>
            <a:pathLst>
              <a:path w="49130" h="0">
                <a:moveTo>
                  <a:pt x="0" y="0"/>
                </a:moveTo>
                <a:lnTo>
                  <a:pt x="49130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334946" y="1352539"/>
            <a:ext cx="44985" cy="0"/>
          </a:xfrm>
          <a:custGeom>
            <a:avLst/>
            <a:gdLst/>
            <a:ahLst/>
            <a:cxnLst/>
            <a:rect l="l" t="t" r="r" b="b"/>
            <a:pathLst>
              <a:path w="44985" h="0">
                <a:moveTo>
                  <a:pt x="0" y="0"/>
                </a:moveTo>
                <a:lnTo>
                  <a:pt x="44985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091811" y="977102"/>
            <a:ext cx="27255" cy="0"/>
          </a:xfrm>
          <a:custGeom>
            <a:avLst/>
            <a:gdLst/>
            <a:ahLst/>
            <a:cxnLst/>
            <a:rect l="l" t="t" r="r" b="b"/>
            <a:pathLst>
              <a:path w="27255" h="0">
                <a:moveTo>
                  <a:pt x="0" y="0"/>
                </a:moveTo>
                <a:lnTo>
                  <a:pt x="27255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239789" y="356706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33126" y="31916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443316" y="281618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578536" y="244074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595296" y="206531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640560" y="168987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334946" y="131443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5091811" y="93900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281751" y="356706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378992" y="31916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484422" y="281618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616906" y="244074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39539" y="206531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89690" y="168987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379931" y="131443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119066" y="93900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247016" y="732130"/>
            <a:ext cx="0" cy="3118002"/>
          </a:xfrm>
          <a:custGeom>
            <a:avLst/>
            <a:gdLst/>
            <a:ahLst/>
            <a:cxnLst/>
            <a:rect l="l" t="t" r="r" b="b"/>
            <a:pathLst>
              <a:path w="0" h="3118002">
                <a:moveTo>
                  <a:pt x="0" y="3118002"/>
                </a:moveTo>
                <a:lnTo>
                  <a:pt x="0" y="0"/>
                </a:lnTo>
                <a:close/>
              </a:path>
            </a:pathLst>
          </a:custGeom>
          <a:noFill/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037590" y="732130"/>
            <a:ext cx="0" cy="3118002"/>
          </a:xfrm>
          <a:custGeom>
            <a:avLst/>
            <a:gdLst/>
            <a:ahLst/>
            <a:cxnLst/>
            <a:rect l="l" t="t" r="r" b="b"/>
            <a:pathLst>
              <a:path w="0" h="3118002">
                <a:moveTo>
                  <a:pt x="0" y="311800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037590" y="3850132"/>
            <a:ext cx="4448374" cy="0"/>
          </a:xfrm>
          <a:custGeom>
            <a:avLst/>
            <a:gdLst/>
            <a:ahLst/>
            <a:cxnLst/>
            <a:rect l="l" t="t" r="r" b="b"/>
            <a:pathLst>
              <a:path w="4448374" h="0">
                <a:moveTo>
                  <a:pt x="0" y="0"/>
                </a:moveTo>
                <a:lnTo>
                  <a:pt x="444837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84874" y="898940"/>
            <a:ext cx="6261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C0392B"/>
                </a:solidFill>
                <a:latin typeface="Arial"/>
              </a:rPr>
              <a:t>S1=0.586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04523" y="400178"/>
            <a:ext cx="24371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Max global stress (coupled)</a:t>
            </a:r>
          </a:p>
        </p:txBody>
      </p:sp>
      <p:sp>
        <p:nvSpPr>
          <p:cNvPr id="72" name="Freeform 71"/>
          <p:cNvSpPr/>
          <p:nvPr/>
        </p:nvSpPr>
        <p:spPr>
          <a:xfrm>
            <a:off x="1209929" y="3560258"/>
            <a:ext cx="89802" cy="89803"/>
          </a:xfrm>
          <a:custGeom>
            <a:avLst/>
            <a:gdLst/>
            <a:ahLst/>
            <a:cxnLst/>
            <a:rect l="l" t="t" r="r" b="b"/>
            <a:pathLst>
              <a:path w="89802" h="89803">
                <a:moveTo>
                  <a:pt x="44901" y="89803"/>
                </a:moveTo>
                <a:lnTo>
                  <a:pt x="89802" y="44902"/>
                </a:lnTo>
                <a:close/>
                <a:lnTo>
                  <a:pt x="44901" y="0"/>
                </a:lnTo>
                <a:close/>
                <a:lnTo>
                  <a:pt x="0" y="44902"/>
                </a:lnTo>
                <a:close/>
                <a:lnTo>
                  <a:pt x="44901" y="8980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357211" y="3184821"/>
            <a:ext cx="89803" cy="89803"/>
          </a:xfrm>
          <a:custGeom>
            <a:avLst/>
            <a:gdLst/>
            <a:ahLst/>
            <a:cxnLst/>
            <a:rect l="l" t="t" r="r" b="b"/>
            <a:pathLst>
              <a:path w="89803" h="89803">
                <a:moveTo>
                  <a:pt x="44902" y="89803"/>
                </a:moveTo>
                <a:lnTo>
                  <a:pt x="89803" y="44902"/>
                </a:lnTo>
                <a:close/>
                <a:lnTo>
                  <a:pt x="44902" y="0"/>
                </a:lnTo>
                <a:close/>
                <a:lnTo>
                  <a:pt x="0" y="44902"/>
                </a:lnTo>
                <a:close/>
                <a:lnTo>
                  <a:pt x="44902" y="8980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363083" y="2809385"/>
            <a:ext cx="89803" cy="89802"/>
          </a:xfrm>
          <a:custGeom>
            <a:avLst/>
            <a:gdLst/>
            <a:ahLst/>
            <a:cxnLst/>
            <a:rect l="l" t="t" r="r" b="b"/>
            <a:pathLst>
              <a:path w="89803" h="89802">
                <a:moveTo>
                  <a:pt x="44901" y="89802"/>
                </a:moveTo>
                <a:lnTo>
                  <a:pt x="89803" y="44901"/>
                </a:lnTo>
                <a:close/>
                <a:lnTo>
                  <a:pt x="44901" y="0"/>
                </a:lnTo>
                <a:close/>
                <a:lnTo>
                  <a:pt x="0" y="44901"/>
                </a:lnTo>
                <a:close/>
                <a:lnTo>
                  <a:pt x="44901" y="8980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629198" y="2433948"/>
            <a:ext cx="89802" cy="89802"/>
          </a:xfrm>
          <a:custGeom>
            <a:avLst/>
            <a:gdLst/>
            <a:ahLst/>
            <a:cxnLst/>
            <a:rect l="l" t="t" r="r" b="b"/>
            <a:pathLst>
              <a:path w="89802" h="89802">
                <a:moveTo>
                  <a:pt x="44901" y="89802"/>
                </a:moveTo>
                <a:lnTo>
                  <a:pt x="89802" y="44901"/>
                </a:lnTo>
                <a:close/>
                <a:lnTo>
                  <a:pt x="44901" y="0"/>
                </a:lnTo>
                <a:close/>
                <a:lnTo>
                  <a:pt x="0" y="44901"/>
                </a:lnTo>
                <a:close/>
                <a:lnTo>
                  <a:pt x="44901" y="8980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551421" y="2058511"/>
            <a:ext cx="89802" cy="89803"/>
          </a:xfrm>
          <a:custGeom>
            <a:avLst/>
            <a:gdLst/>
            <a:ahLst/>
            <a:cxnLst/>
            <a:rect l="l" t="t" r="r" b="b"/>
            <a:pathLst>
              <a:path w="89802" h="89803">
                <a:moveTo>
                  <a:pt x="44901" y="89803"/>
                </a:moveTo>
                <a:lnTo>
                  <a:pt x="89802" y="44901"/>
                </a:lnTo>
                <a:close/>
                <a:lnTo>
                  <a:pt x="44901" y="0"/>
                </a:lnTo>
                <a:close/>
                <a:lnTo>
                  <a:pt x="0" y="44901"/>
                </a:lnTo>
                <a:close/>
                <a:lnTo>
                  <a:pt x="44901" y="8980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537227" y="1683074"/>
            <a:ext cx="89802" cy="89803"/>
          </a:xfrm>
          <a:custGeom>
            <a:avLst/>
            <a:gdLst/>
            <a:ahLst/>
            <a:cxnLst/>
            <a:rect l="l" t="t" r="r" b="b"/>
            <a:pathLst>
              <a:path w="89802" h="89803">
                <a:moveTo>
                  <a:pt x="44901" y="89803"/>
                </a:moveTo>
                <a:lnTo>
                  <a:pt x="89802" y="44902"/>
                </a:lnTo>
                <a:close/>
                <a:lnTo>
                  <a:pt x="44901" y="0"/>
                </a:lnTo>
                <a:close/>
                <a:lnTo>
                  <a:pt x="0" y="44902"/>
                </a:lnTo>
                <a:close/>
                <a:lnTo>
                  <a:pt x="44901" y="8980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237144" y="1307638"/>
            <a:ext cx="89803" cy="89802"/>
          </a:xfrm>
          <a:custGeom>
            <a:avLst/>
            <a:gdLst/>
            <a:ahLst/>
            <a:cxnLst/>
            <a:rect l="l" t="t" r="r" b="b"/>
            <a:pathLst>
              <a:path w="89803" h="89802">
                <a:moveTo>
                  <a:pt x="44901" y="89802"/>
                </a:moveTo>
                <a:lnTo>
                  <a:pt x="89803" y="44901"/>
                </a:lnTo>
                <a:close/>
                <a:lnTo>
                  <a:pt x="44901" y="0"/>
                </a:lnTo>
                <a:close/>
                <a:lnTo>
                  <a:pt x="0" y="44901"/>
                </a:lnTo>
                <a:close/>
                <a:lnTo>
                  <a:pt x="44901" y="8980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5238864" y="932201"/>
            <a:ext cx="89803" cy="89802"/>
          </a:xfrm>
          <a:custGeom>
            <a:avLst/>
            <a:gdLst/>
            <a:ahLst/>
            <a:cxnLst/>
            <a:rect l="l" t="t" r="r" b="b"/>
            <a:pathLst>
              <a:path w="89803" h="89802">
                <a:moveTo>
                  <a:pt x="44901" y="89802"/>
                </a:moveTo>
                <a:lnTo>
                  <a:pt x="89803" y="44901"/>
                </a:lnTo>
                <a:close/>
                <a:lnTo>
                  <a:pt x="44901" y="0"/>
                </a:lnTo>
                <a:close/>
                <a:lnTo>
                  <a:pt x="0" y="44901"/>
                </a:lnTo>
                <a:close/>
                <a:lnTo>
                  <a:pt x="44901" y="8980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4265383" y="3470592"/>
            <a:ext cx="1169781" cy="328740"/>
          </a:xfrm>
          <a:custGeom>
            <a:avLst/>
            <a:gdLst/>
            <a:ahLst/>
            <a:cxnLst/>
            <a:rect l="l" t="t" r="r" b="b"/>
            <a:pathLst>
              <a:path w="1169781" h="328740">
                <a:moveTo>
                  <a:pt x="20320" y="328740"/>
                </a:moveTo>
                <a:lnTo>
                  <a:pt x="1149461" y="328740"/>
                </a:lnTo>
                <a:close/>
                <a:lnTo>
                  <a:pt x="1164701" y="323660"/>
                </a:lnTo>
                <a:close/>
                <a:lnTo>
                  <a:pt x="1169781" y="308420"/>
                </a:lnTo>
                <a:close/>
                <a:lnTo>
                  <a:pt x="1169781" y="20320"/>
                </a:lnTo>
                <a:close/>
                <a:lnTo>
                  <a:pt x="1164701" y="5080"/>
                </a:lnTo>
                <a:close/>
                <a:lnTo>
                  <a:pt x="1149461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420"/>
                </a:lnTo>
                <a:close/>
                <a:lnTo>
                  <a:pt x="5080" y="323660"/>
                </a:lnTo>
                <a:close/>
                <a:lnTo>
                  <a:pt x="20320" y="328740"/>
                </a:lnTo>
                <a:close/>
                <a:lnTo>
                  <a:pt x="20320" y="32874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4362722" y="3507971"/>
            <a:ext cx="89802" cy="89803"/>
          </a:xfrm>
          <a:custGeom>
            <a:avLst/>
            <a:gdLst/>
            <a:ahLst/>
            <a:cxnLst/>
            <a:rect l="l" t="t" r="r" b="b"/>
            <a:pathLst>
              <a:path w="89802" h="89803">
                <a:moveTo>
                  <a:pt x="44901" y="89803"/>
                </a:moveTo>
                <a:lnTo>
                  <a:pt x="89802" y="44902"/>
                </a:lnTo>
                <a:close/>
                <a:lnTo>
                  <a:pt x="44901" y="0"/>
                </a:lnTo>
                <a:close/>
                <a:lnTo>
                  <a:pt x="0" y="44902"/>
                </a:lnTo>
                <a:close/>
                <a:lnTo>
                  <a:pt x="44901" y="8980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90503" y="3486833"/>
            <a:ext cx="7721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 S1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06023" y="3666442"/>
            <a:ext cx="203200" cy="71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90503" y="3635962"/>
            <a:ext cx="10769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CI includes zero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844755" y="732130"/>
            <a:ext cx="4448374" cy="31180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44755" y="3501914"/>
            <a:ext cx="17928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844755" y="3126478"/>
            <a:ext cx="18229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844755" y="2751041"/>
            <a:ext cx="27739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844755" y="2375604"/>
            <a:ext cx="32828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844755" y="2000167"/>
            <a:ext cx="55854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844755" y="1624731"/>
            <a:ext cx="114810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844755" y="1249294"/>
            <a:ext cx="1084122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844755" y="873857"/>
            <a:ext cx="4230670" cy="206490"/>
          </a:xfrm>
          <a:prstGeom prst="rect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6844755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43770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96" name="Freeform 95"/>
          <p:cNvSpPr/>
          <p:nvPr/>
        </p:nvSpPr>
        <p:spPr>
          <a:xfrm>
            <a:off x="7393753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292768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98" name="Freeform 97"/>
          <p:cNvSpPr/>
          <p:nvPr/>
        </p:nvSpPr>
        <p:spPr>
          <a:xfrm>
            <a:off x="7942751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841766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00" name="Freeform 99"/>
          <p:cNvSpPr/>
          <p:nvPr/>
        </p:nvSpPr>
        <p:spPr>
          <a:xfrm>
            <a:off x="8491749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90764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9040747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39762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04" name="Freeform 103"/>
          <p:cNvSpPr/>
          <p:nvPr/>
        </p:nvSpPr>
        <p:spPr>
          <a:xfrm>
            <a:off x="9589745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88760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06" name="Freeform 105"/>
          <p:cNvSpPr/>
          <p:nvPr/>
        </p:nvSpPr>
        <p:spPr>
          <a:xfrm>
            <a:off x="10138743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37758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08" name="Freeform 107"/>
          <p:cNvSpPr/>
          <p:nvPr/>
        </p:nvSpPr>
        <p:spPr>
          <a:xfrm>
            <a:off x="10687741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586756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110" name="Freeform 109"/>
          <p:cNvSpPr/>
          <p:nvPr/>
        </p:nvSpPr>
        <p:spPr>
          <a:xfrm>
            <a:off x="11236739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135754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61502" y="4082244"/>
            <a:ext cx="2794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First-order Sobol index S1 (90% CI)</a:t>
            </a:r>
          </a:p>
        </p:txBody>
      </p:sp>
      <p:sp>
        <p:nvSpPr>
          <p:cNvPr id="113" name="Freeform 112"/>
          <p:cNvSpPr/>
          <p:nvPr/>
        </p:nvSpPr>
        <p:spPr>
          <a:xfrm>
            <a:off x="6800305" y="360516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296115" y="3526420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E slope</a:t>
            </a:r>
          </a:p>
        </p:txBody>
      </p:sp>
      <p:sp>
        <p:nvSpPr>
          <p:cNvPr id="115" name="Freeform 114"/>
          <p:cNvSpPr/>
          <p:nvPr/>
        </p:nvSpPr>
        <p:spPr>
          <a:xfrm>
            <a:off x="6800305" y="322972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59895" y="3150983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E intercept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6800305" y="285428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898605" y="2775546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kslope (SS316)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6800305" y="24788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009095" y="2400099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Tref (SS316)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6800305" y="210341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012905" y="2024662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kref (SS316)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6800305" y="172797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164035" y="1649226"/>
            <a:ext cx="812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Poisson ν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6800305" y="135253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432005" y="1267310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αslope</a:t>
            </a:r>
          </a:p>
        </p:txBody>
      </p:sp>
      <p:sp>
        <p:nvSpPr>
          <p:cNvPr id="127" name="Freeform 126"/>
          <p:cNvSpPr/>
          <p:nvPr/>
        </p:nvSpPr>
        <p:spPr>
          <a:xfrm>
            <a:off x="6800305" y="977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56135" y="89835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129" name="Freeform 128"/>
          <p:cNvSpPr/>
          <p:nvPr/>
        </p:nvSpPr>
        <p:spPr>
          <a:xfrm>
            <a:off x="6845497" y="3605160"/>
            <a:ext cx="34371" cy="0"/>
          </a:xfrm>
          <a:custGeom>
            <a:avLst/>
            <a:gdLst/>
            <a:ahLst/>
            <a:cxnLst/>
            <a:rect l="l" t="t" r="r" b="b"/>
            <a:pathLst>
              <a:path w="34371" h="0">
                <a:moveTo>
                  <a:pt x="0" y="0"/>
                </a:moveTo>
                <a:lnTo>
                  <a:pt x="34371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6845570" y="3229723"/>
            <a:ext cx="34828" cy="0"/>
          </a:xfrm>
          <a:custGeom>
            <a:avLst/>
            <a:gdLst/>
            <a:ahLst/>
            <a:cxnLst/>
            <a:rect l="l" t="t" r="r" b="b"/>
            <a:pathLst>
              <a:path w="34828" h="0">
                <a:moveTo>
                  <a:pt x="0" y="0"/>
                </a:moveTo>
                <a:lnTo>
                  <a:pt x="34828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6854304" y="2854286"/>
            <a:ext cx="36380" cy="0"/>
          </a:xfrm>
          <a:custGeom>
            <a:avLst/>
            <a:gdLst/>
            <a:ahLst/>
            <a:cxnLst/>
            <a:rect l="l" t="t" r="r" b="b"/>
            <a:pathLst>
              <a:path w="36380" h="0">
                <a:moveTo>
                  <a:pt x="0" y="0"/>
                </a:moveTo>
                <a:lnTo>
                  <a:pt x="36380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859941" y="2478849"/>
            <a:ext cx="35285" cy="0"/>
          </a:xfrm>
          <a:custGeom>
            <a:avLst/>
            <a:gdLst/>
            <a:ahLst/>
            <a:cxnLst/>
            <a:rect l="l" t="t" r="r" b="b"/>
            <a:pathLst>
              <a:path w="35285" h="0">
                <a:moveTo>
                  <a:pt x="0" y="0"/>
                </a:moveTo>
                <a:lnTo>
                  <a:pt x="35285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6882747" y="2103412"/>
            <a:ext cx="35725" cy="0"/>
          </a:xfrm>
          <a:custGeom>
            <a:avLst/>
            <a:gdLst/>
            <a:ahLst/>
            <a:cxnLst/>
            <a:rect l="l" t="t" r="r" b="b"/>
            <a:pathLst>
              <a:path w="35725" h="0">
                <a:moveTo>
                  <a:pt x="0" y="0"/>
                </a:moveTo>
                <a:lnTo>
                  <a:pt x="35725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6941411" y="1727976"/>
            <a:ext cx="36308" cy="0"/>
          </a:xfrm>
          <a:custGeom>
            <a:avLst/>
            <a:gdLst/>
            <a:ahLst/>
            <a:cxnLst/>
            <a:rect l="l" t="t" r="r" b="b"/>
            <a:pathLst>
              <a:path w="36308" h="0">
                <a:moveTo>
                  <a:pt x="0" y="0"/>
                </a:moveTo>
                <a:lnTo>
                  <a:pt x="36308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7914041" y="1352539"/>
            <a:ext cx="29673" cy="0"/>
          </a:xfrm>
          <a:custGeom>
            <a:avLst/>
            <a:gdLst/>
            <a:ahLst/>
            <a:cxnLst/>
            <a:rect l="l" t="t" r="r" b="b"/>
            <a:pathLst>
              <a:path w="29673" h="0">
                <a:moveTo>
                  <a:pt x="0" y="0"/>
                </a:moveTo>
                <a:lnTo>
                  <a:pt x="29673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1069547" y="977102"/>
            <a:ext cx="11755" cy="0"/>
          </a:xfrm>
          <a:custGeom>
            <a:avLst/>
            <a:gdLst/>
            <a:ahLst/>
            <a:cxnLst/>
            <a:rect l="l" t="t" r="r" b="b"/>
            <a:pathLst>
              <a:path w="11755" h="0">
                <a:moveTo>
                  <a:pt x="0" y="0"/>
                </a:moveTo>
                <a:lnTo>
                  <a:pt x="11755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6845497" y="356706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6845570" y="31916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6854304" y="281618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6859941" y="244074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6882747" y="206531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6941411" y="168987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7914041" y="131443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1069547" y="93900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6879868" y="356706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6880398" y="31916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6890684" y="281618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6895226" y="244074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6918472" y="206531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6977719" y="168987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7943714" y="131443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1081302" y="93900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6844755" y="732130"/>
            <a:ext cx="0" cy="3118002"/>
          </a:xfrm>
          <a:custGeom>
            <a:avLst/>
            <a:gdLst/>
            <a:ahLst/>
            <a:cxnLst/>
            <a:rect l="l" t="t" r="r" b="b"/>
            <a:pathLst>
              <a:path w="0" h="3118002">
                <a:moveTo>
                  <a:pt x="0" y="3118002"/>
                </a:moveTo>
                <a:lnTo>
                  <a:pt x="0" y="0"/>
                </a:lnTo>
                <a:close/>
              </a:path>
            </a:pathLst>
          </a:custGeom>
          <a:noFill/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6844755" y="732130"/>
            <a:ext cx="0" cy="3118002"/>
          </a:xfrm>
          <a:custGeom>
            <a:avLst/>
            <a:gdLst/>
            <a:ahLst/>
            <a:cxnLst/>
            <a:rect l="l" t="t" r="r" b="b"/>
            <a:pathLst>
              <a:path w="0" h="3118002">
                <a:moveTo>
                  <a:pt x="0" y="311800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6844755" y="3850132"/>
            <a:ext cx="4448374" cy="0"/>
          </a:xfrm>
          <a:custGeom>
            <a:avLst/>
            <a:gdLst/>
            <a:ahLst/>
            <a:cxnLst/>
            <a:rect l="l" t="t" r="r" b="b"/>
            <a:pathLst>
              <a:path w="4448374" h="0">
                <a:moveTo>
                  <a:pt x="0" y="0"/>
                </a:moveTo>
                <a:lnTo>
                  <a:pt x="444837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136202" y="898940"/>
            <a:ext cx="6261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C0392B"/>
                </a:solidFill>
                <a:latin typeface="Arial"/>
              </a:rPr>
              <a:t>S1=0.771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147780" y="535280"/>
            <a:ext cx="24371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keff (coupled steady-state)</a:t>
            </a:r>
          </a:p>
        </p:txBody>
      </p:sp>
      <p:sp>
        <p:nvSpPr>
          <p:cNvPr id="158" name="Freeform 157"/>
          <p:cNvSpPr/>
          <p:nvPr/>
        </p:nvSpPr>
        <p:spPr>
          <a:xfrm>
            <a:off x="10072548" y="3619722"/>
            <a:ext cx="1169781" cy="179610"/>
          </a:xfrm>
          <a:custGeom>
            <a:avLst/>
            <a:gdLst/>
            <a:ahLst/>
            <a:cxnLst/>
            <a:rect l="l" t="t" r="r" b="b"/>
            <a:pathLst>
              <a:path w="1169781" h="179610">
                <a:moveTo>
                  <a:pt x="20320" y="179610"/>
                </a:moveTo>
                <a:lnTo>
                  <a:pt x="1149461" y="179610"/>
                </a:lnTo>
                <a:close/>
                <a:lnTo>
                  <a:pt x="1164701" y="174530"/>
                </a:lnTo>
                <a:close/>
                <a:lnTo>
                  <a:pt x="1169781" y="159290"/>
                </a:lnTo>
                <a:close/>
                <a:lnTo>
                  <a:pt x="1169781" y="20320"/>
                </a:lnTo>
                <a:close/>
                <a:lnTo>
                  <a:pt x="1164701" y="5080"/>
                </a:lnTo>
                <a:close/>
                <a:lnTo>
                  <a:pt x="1149461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159290"/>
                </a:lnTo>
                <a:close/>
                <a:lnTo>
                  <a:pt x="5080" y="174530"/>
                </a:lnTo>
                <a:close/>
                <a:lnTo>
                  <a:pt x="20320" y="179610"/>
                </a:lnTo>
                <a:close/>
                <a:lnTo>
                  <a:pt x="20320" y="17961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113188" y="3666442"/>
            <a:ext cx="203200" cy="71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397668" y="3635962"/>
            <a:ext cx="10769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CI includes zero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747199" y="55507"/>
            <a:ext cx="499872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4 (v1) | Sobol first-order sensitivity indices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