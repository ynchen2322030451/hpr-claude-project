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882447" cy="408381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82447" cy="40838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6463" y="737616"/>
            <a:ext cx="4787773" cy="27854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99501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8296" y="358150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130</a:t>
            </a:r>
          </a:p>
        </p:txBody>
      </p:sp>
      <p:sp>
        <p:nvSpPr>
          <p:cNvPr id="6" name="Freeform 5"/>
          <p:cNvSpPr/>
          <p:nvPr/>
        </p:nvSpPr>
        <p:spPr>
          <a:xfrm>
            <a:off x="1316495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95289" y="358150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8" name="Freeform 7"/>
          <p:cNvSpPr/>
          <p:nvPr/>
        </p:nvSpPr>
        <p:spPr>
          <a:xfrm>
            <a:off x="1933489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12283" y="358150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10" name="Freeform 9"/>
          <p:cNvSpPr/>
          <p:nvPr/>
        </p:nvSpPr>
        <p:spPr>
          <a:xfrm>
            <a:off x="2550482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9277" y="358150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12" name="Freeform 11"/>
          <p:cNvSpPr/>
          <p:nvPr/>
        </p:nvSpPr>
        <p:spPr>
          <a:xfrm>
            <a:off x="3167476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6270" y="358150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170</a:t>
            </a:r>
          </a:p>
        </p:txBody>
      </p:sp>
      <p:sp>
        <p:nvSpPr>
          <p:cNvPr id="14" name="Freeform 13"/>
          <p:cNvSpPr/>
          <p:nvPr/>
        </p:nvSpPr>
        <p:spPr>
          <a:xfrm>
            <a:off x="3784470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3264" y="358150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16" name="Freeform 15"/>
          <p:cNvSpPr/>
          <p:nvPr/>
        </p:nvSpPr>
        <p:spPr>
          <a:xfrm>
            <a:off x="4401463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0258" y="358150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190</a:t>
            </a:r>
          </a:p>
        </p:txBody>
      </p:sp>
      <p:sp>
        <p:nvSpPr>
          <p:cNvPr id="18" name="Freeform 17"/>
          <p:cNvSpPr/>
          <p:nvPr/>
        </p:nvSpPr>
        <p:spPr>
          <a:xfrm>
            <a:off x="5018457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7251" y="358150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77900" y="3755221"/>
            <a:ext cx="1727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Observed stress (MPa)</a:t>
            </a:r>
          </a:p>
        </p:txBody>
      </p:sp>
      <p:sp>
        <p:nvSpPr>
          <p:cNvPr id="21" name="Freeform 20"/>
          <p:cNvSpPr/>
          <p:nvPr/>
        </p:nvSpPr>
        <p:spPr>
          <a:xfrm>
            <a:off x="552013" y="346316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52" y="338441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130</a:t>
            </a:r>
          </a:p>
        </p:txBody>
      </p:sp>
      <p:sp>
        <p:nvSpPr>
          <p:cNvPr id="23" name="Freeform 22"/>
          <p:cNvSpPr/>
          <p:nvPr/>
        </p:nvSpPr>
        <p:spPr>
          <a:xfrm>
            <a:off x="552013" y="310419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52" y="302544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25" name="Freeform 24"/>
          <p:cNvSpPr/>
          <p:nvPr/>
        </p:nvSpPr>
        <p:spPr>
          <a:xfrm>
            <a:off x="552013" y="274523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52" y="266648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27" name="Freeform 26"/>
          <p:cNvSpPr/>
          <p:nvPr/>
        </p:nvSpPr>
        <p:spPr>
          <a:xfrm>
            <a:off x="552013" y="238627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52" y="230752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29" name="Freeform 28"/>
          <p:cNvSpPr/>
          <p:nvPr/>
        </p:nvSpPr>
        <p:spPr>
          <a:xfrm>
            <a:off x="552013" y="202731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52" y="194856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170</a:t>
            </a:r>
          </a:p>
        </p:txBody>
      </p:sp>
      <p:sp>
        <p:nvSpPr>
          <p:cNvPr id="31" name="Freeform 30"/>
          <p:cNvSpPr/>
          <p:nvPr/>
        </p:nvSpPr>
        <p:spPr>
          <a:xfrm>
            <a:off x="552013" y="16683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52" y="158959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33" name="Freeform 32"/>
          <p:cNvSpPr/>
          <p:nvPr/>
        </p:nvSpPr>
        <p:spPr>
          <a:xfrm>
            <a:off x="552013" y="130938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52" y="123063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190</a:t>
            </a:r>
          </a:p>
        </p:txBody>
      </p:sp>
      <p:sp>
        <p:nvSpPr>
          <p:cNvPr id="35" name="Freeform 34"/>
          <p:cNvSpPr/>
          <p:nvPr/>
        </p:nvSpPr>
        <p:spPr>
          <a:xfrm>
            <a:off x="552013" y="95042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52" y="87167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37" name="TextBox 36"/>
          <p:cNvSpPr txBox="1"/>
          <p:nvPr/>
        </p:nvSpPr>
        <p:spPr>
          <a:xfrm rot="16200000">
            <a:off x="92690" y="1806661"/>
            <a:ext cx="1803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Predicted stress (MPa)</a:t>
            </a:r>
          </a:p>
        </p:txBody>
      </p:sp>
      <p:sp>
        <p:nvSpPr>
          <p:cNvPr id="38" name="Freeform 37"/>
          <p:cNvSpPr/>
          <p:nvPr/>
        </p:nvSpPr>
        <p:spPr>
          <a:xfrm>
            <a:off x="596463" y="737616"/>
            <a:ext cx="4787773" cy="2785492"/>
          </a:xfrm>
          <a:custGeom>
            <a:avLst/>
            <a:gdLst/>
            <a:ahLst/>
            <a:cxnLst/>
            <a:rect l="l" t="t" r="r" b="b"/>
            <a:pathLst>
              <a:path w="4787773" h="2785492">
                <a:moveTo>
                  <a:pt x="0" y="2785492"/>
                </a:moveTo>
                <a:lnTo>
                  <a:pt x="4787773" y="0"/>
                </a:lnTo>
                <a:close/>
              </a:path>
            </a:pathLst>
          </a:custGeom>
          <a:noFill/>
          <a:ln w="12700">
            <a:solidFill>
              <a:srgbClr val="00000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761201" y="737616"/>
            <a:ext cx="0" cy="2785492"/>
          </a:xfrm>
          <a:custGeom>
            <a:avLst/>
            <a:gdLst/>
            <a:ahLst/>
            <a:cxnLst/>
            <a:rect l="l" t="t" r="r" b="b"/>
            <a:pathLst>
              <a:path w="0" h="2785492">
                <a:moveTo>
                  <a:pt x="0" y="2785492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C0392B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596463" y="3427265"/>
            <a:ext cx="4787773" cy="0"/>
          </a:xfrm>
          <a:custGeom>
            <a:avLst/>
            <a:gdLst/>
            <a:ahLst/>
            <a:cxnLst/>
            <a:rect l="l" t="t" r="r" b="b"/>
            <a:pathLst>
              <a:path w="4787773" h="0">
                <a:moveTo>
                  <a:pt x="0" y="0"/>
                </a:moveTo>
                <a:lnTo>
                  <a:pt x="4787773" y="0"/>
                </a:lnTo>
                <a:close/>
              </a:path>
            </a:pathLst>
          </a:custGeom>
          <a:noFill/>
          <a:ln w="15240">
            <a:solidFill>
              <a:srgbClr val="C0392B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596463" y="737616"/>
            <a:ext cx="0" cy="2785492"/>
          </a:xfrm>
          <a:custGeom>
            <a:avLst/>
            <a:gdLst/>
            <a:ahLst/>
            <a:cxnLst/>
            <a:rect l="l" t="t" r="r" b="b"/>
            <a:pathLst>
              <a:path w="0" h="2785492">
                <a:moveTo>
                  <a:pt x="0" y="278549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596463" y="3523108"/>
            <a:ext cx="4787773" cy="0"/>
          </a:xfrm>
          <a:custGeom>
            <a:avLst/>
            <a:gdLst/>
            <a:ahLst/>
            <a:cxnLst/>
            <a:rect l="l" t="t" r="r" b="b"/>
            <a:pathLst>
              <a:path w="4787773" h="0">
                <a:moveTo>
                  <a:pt x="0" y="0"/>
                </a:moveTo>
                <a:lnTo>
                  <a:pt x="4787773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596463" y="2292956"/>
            <a:ext cx="4787773" cy="0"/>
          </a:xfrm>
          <a:custGeom>
            <a:avLst/>
            <a:gdLst/>
            <a:ahLst/>
            <a:cxnLst/>
            <a:rect l="l" t="t" r="r" b="b"/>
            <a:pathLst>
              <a:path w="4787773" h="0">
                <a:moveTo>
                  <a:pt x="0" y="0"/>
                </a:moveTo>
                <a:lnTo>
                  <a:pt x="4787773" y="0"/>
                </a:lnTo>
                <a:close/>
              </a:path>
            </a:pathLst>
          </a:custGeom>
          <a:noFill/>
          <a:ln w="1524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14636" y="405664"/>
            <a:ext cx="446405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(A)  Posterior vs observed stress (10 feasible-region cases)</a:t>
            </a:r>
          </a:p>
        </p:txBody>
      </p:sp>
      <p:sp>
        <p:nvSpPr>
          <p:cNvPr id="45" name="Freeform 44"/>
          <p:cNvSpPr/>
          <p:nvPr/>
        </p:nvSpPr>
        <p:spPr>
          <a:xfrm>
            <a:off x="3611687" y="1728943"/>
            <a:ext cx="85194" cy="85194"/>
          </a:xfrm>
          <a:custGeom>
            <a:avLst/>
            <a:gdLst/>
            <a:ahLst/>
            <a:cxnLst/>
            <a:rect l="l" t="t" r="r" b="b"/>
            <a:pathLst>
              <a:path w="85194" h="85194">
                <a:moveTo>
                  <a:pt x="42597" y="85194"/>
                </a:moveTo>
                <a:lnTo>
                  <a:pt x="58898" y="81951"/>
                </a:lnTo>
                <a:close/>
                <a:lnTo>
                  <a:pt x="72718" y="72718"/>
                </a:lnTo>
                <a:close/>
                <a:lnTo>
                  <a:pt x="81951" y="58898"/>
                </a:lnTo>
                <a:close/>
                <a:lnTo>
                  <a:pt x="85194" y="42597"/>
                </a:lnTo>
                <a:close/>
                <a:lnTo>
                  <a:pt x="81951" y="26296"/>
                </a:lnTo>
                <a:close/>
                <a:lnTo>
                  <a:pt x="72718" y="12476"/>
                </a:lnTo>
                <a:close/>
                <a:lnTo>
                  <a:pt x="58898" y="3242"/>
                </a:lnTo>
                <a:close/>
                <a:lnTo>
                  <a:pt x="42597" y="0"/>
                </a:lnTo>
                <a:close/>
                <a:lnTo>
                  <a:pt x="26296" y="3242"/>
                </a:lnTo>
                <a:close/>
                <a:lnTo>
                  <a:pt x="12476" y="12476"/>
                </a:lnTo>
                <a:close/>
                <a:lnTo>
                  <a:pt x="3243" y="26296"/>
                </a:lnTo>
                <a:close/>
                <a:lnTo>
                  <a:pt x="0" y="42597"/>
                </a:lnTo>
                <a:close/>
                <a:lnTo>
                  <a:pt x="3243" y="58898"/>
                </a:lnTo>
                <a:close/>
                <a:lnTo>
                  <a:pt x="12476" y="72718"/>
                </a:lnTo>
                <a:close/>
                <a:lnTo>
                  <a:pt x="26296" y="81951"/>
                </a:lnTo>
                <a:close/>
                <a:lnTo>
                  <a:pt x="42597" y="85194"/>
                </a:lnTo>
                <a:close/>
                <a:lnTo>
                  <a:pt x="42597" y="85194"/>
                </a:lnTo>
                <a:close/>
              </a:path>
            </a:pathLst>
          </a:cu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155582" y="2408631"/>
            <a:ext cx="85194" cy="85194"/>
          </a:xfrm>
          <a:custGeom>
            <a:avLst/>
            <a:gdLst/>
            <a:ahLst/>
            <a:cxnLst/>
            <a:rect l="l" t="t" r="r" b="b"/>
            <a:pathLst>
              <a:path w="85194" h="85194">
                <a:moveTo>
                  <a:pt x="42597" y="85194"/>
                </a:moveTo>
                <a:lnTo>
                  <a:pt x="58898" y="81951"/>
                </a:lnTo>
                <a:close/>
                <a:lnTo>
                  <a:pt x="72718" y="72718"/>
                </a:lnTo>
                <a:close/>
                <a:lnTo>
                  <a:pt x="81951" y="58898"/>
                </a:lnTo>
                <a:close/>
                <a:lnTo>
                  <a:pt x="85194" y="42597"/>
                </a:lnTo>
                <a:close/>
                <a:lnTo>
                  <a:pt x="81951" y="26296"/>
                </a:lnTo>
                <a:close/>
                <a:lnTo>
                  <a:pt x="72718" y="12476"/>
                </a:lnTo>
                <a:close/>
                <a:lnTo>
                  <a:pt x="58898" y="3243"/>
                </a:lnTo>
                <a:close/>
                <a:lnTo>
                  <a:pt x="42597" y="0"/>
                </a:lnTo>
                <a:close/>
                <a:lnTo>
                  <a:pt x="26296" y="3243"/>
                </a:lnTo>
                <a:close/>
                <a:lnTo>
                  <a:pt x="12476" y="12476"/>
                </a:lnTo>
                <a:close/>
                <a:lnTo>
                  <a:pt x="3243" y="26296"/>
                </a:lnTo>
                <a:close/>
                <a:lnTo>
                  <a:pt x="0" y="42597"/>
                </a:lnTo>
                <a:close/>
                <a:lnTo>
                  <a:pt x="3243" y="58898"/>
                </a:lnTo>
                <a:close/>
                <a:lnTo>
                  <a:pt x="12476" y="72718"/>
                </a:lnTo>
                <a:close/>
                <a:lnTo>
                  <a:pt x="26296" y="81951"/>
                </a:lnTo>
                <a:close/>
                <a:lnTo>
                  <a:pt x="42597" y="85194"/>
                </a:lnTo>
                <a:close/>
                <a:lnTo>
                  <a:pt x="42597" y="85194"/>
                </a:lnTo>
                <a:close/>
              </a:path>
            </a:pathLst>
          </a:cu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065971" y="3054748"/>
            <a:ext cx="85194" cy="85195"/>
          </a:xfrm>
          <a:custGeom>
            <a:avLst/>
            <a:gdLst/>
            <a:ahLst/>
            <a:cxnLst/>
            <a:rect l="l" t="t" r="r" b="b"/>
            <a:pathLst>
              <a:path w="85194" h="85195">
                <a:moveTo>
                  <a:pt x="42597" y="85195"/>
                </a:moveTo>
                <a:lnTo>
                  <a:pt x="58898" y="81952"/>
                </a:lnTo>
                <a:close/>
                <a:lnTo>
                  <a:pt x="72718" y="72718"/>
                </a:lnTo>
                <a:close/>
                <a:lnTo>
                  <a:pt x="81952" y="58899"/>
                </a:lnTo>
                <a:close/>
                <a:lnTo>
                  <a:pt x="85194" y="42598"/>
                </a:lnTo>
                <a:close/>
                <a:lnTo>
                  <a:pt x="81952" y="26296"/>
                </a:lnTo>
                <a:close/>
                <a:lnTo>
                  <a:pt x="72718" y="12477"/>
                </a:lnTo>
                <a:close/>
                <a:lnTo>
                  <a:pt x="58898" y="3243"/>
                </a:lnTo>
                <a:close/>
                <a:lnTo>
                  <a:pt x="42597" y="0"/>
                </a:lnTo>
                <a:close/>
                <a:lnTo>
                  <a:pt x="26296" y="3243"/>
                </a:lnTo>
                <a:close/>
                <a:lnTo>
                  <a:pt x="12476" y="12477"/>
                </a:lnTo>
                <a:close/>
                <a:lnTo>
                  <a:pt x="3243" y="26296"/>
                </a:lnTo>
                <a:close/>
                <a:lnTo>
                  <a:pt x="0" y="42598"/>
                </a:lnTo>
                <a:close/>
                <a:lnTo>
                  <a:pt x="3243" y="58899"/>
                </a:lnTo>
                <a:close/>
                <a:lnTo>
                  <a:pt x="12476" y="72718"/>
                </a:lnTo>
                <a:close/>
                <a:lnTo>
                  <a:pt x="26296" y="81952"/>
                </a:lnTo>
                <a:close/>
                <a:lnTo>
                  <a:pt x="42597" y="85195"/>
                </a:lnTo>
                <a:close/>
                <a:lnTo>
                  <a:pt x="42597" y="85195"/>
                </a:lnTo>
                <a:close/>
              </a:path>
            </a:pathLst>
          </a:cu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951974" y="2495369"/>
            <a:ext cx="85194" cy="85194"/>
          </a:xfrm>
          <a:custGeom>
            <a:avLst/>
            <a:gdLst/>
            <a:ahLst/>
            <a:cxnLst/>
            <a:rect l="l" t="t" r="r" b="b"/>
            <a:pathLst>
              <a:path w="85194" h="85194">
                <a:moveTo>
                  <a:pt x="42597" y="85194"/>
                </a:moveTo>
                <a:lnTo>
                  <a:pt x="58898" y="81951"/>
                </a:lnTo>
                <a:close/>
                <a:lnTo>
                  <a:pt x="72718" y="72717"/>
                </a:lnTo>
                <a:close/>
                <a:lnTo>
                  <a:pt x="81951" y="58898"/>
                </a:lnTo>
                <a:close/>
                <a:lnTo>
                  <a:pt x="85194" y="42597"/>
                </a:lnTo>
                <a:close/>
                <a:lnTo>
                  <a:pt x="81951" y="26295"/>
                </a:lnTo>
                <a:close/>
                <a:lnTo>
                  <a:pt x="72718" y="12476"/>
                </a:lnTo>
                <a:close/>
                <a:lnTo>
                  <a:pt x="58898" y="3242"/>
                </a:lnTo>
                <a:close/>
                <a:lnTo>
                  <a:pt x="42597" y="0"/>
                </a:lnTo>
                <a:close/>
                <a:lnTo>
                  <a:pt x="26296" y="3242"/>
                </a:lnTo>
                <a:close/>
                <a:lnTo>
                  <a:pt x="12476" y="12476"/>
                </a:lnTo>
                <a:close/>
                <a:lnTo>
                  <a:pt x="3243" y="26295"/>
                </a:lnTo>
                <a:close/>
                <a:lnTo>
                  <a:pt x="0" y="42597"/>
                </a:lnTo>
                <a:close/>
                <a:lnTo>
                  <a:pt x="3243" y="58898"/>
                </a:lnTo>
                <a:close/>
                <a:lnTo>
                  <a:pt x="12476" y="72717"/>
                </a:lnTo>
                <a:close/>
                <a:lnTo>
                  <a:pt x="26296" y="81951"/>
                </a:lnTo>
                <a:close/>
                <a:lnTo>
                  <a:pt x="42597" y="85194"/>
                </a:lnTo>
                <a:close/>
                <a:lnTo>
                  <a:pt x="42597" y="85194"/>
                </a:lnTo>
                <a:close/>
              </a:path>
            </a:pathLst>
          </a:cu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085715" y="3174765"/>
            <a:ext cx="85194" cy="85195"/>
          </a:xfrm>
          <a:custGeom>
            <a:avLst/>
            <a:gdLst/>
            <a:ahLst/>
            <a:cxnLst/>
            <a:rect l="l" t="t" r="r" b="b"/>
            <a:pathLst>
              <a:path w="85194" h="85195">
                <a:moveTo>
                  <a:pt x="42597" y="85195"/>
                </a:moveTo>
                <a:lnTo>
                  <a:pt x="58898" y="81952"/>
                </a:lnTo>
                <a:close/>
                <a:lnTo>
                  <a:pt x="72718" y="72718"/>
                </a:lnTo>
                <a:close/>
                <a:lnTo>
                  <a:pt x="81951" y="58899"/>
                </a:lnTo>
                <a:close/>
                <a:lnTo>
                  <a:pt x="85194" y="42597"/>
                </a:lnTo>
                <a:close/>
                <a:lnTo>
                  <a:pt x="81951" y="26296"/>
                </a:lnTo>
                <a:close/>
                <a:lnTo>
                  <a:pt x="72718" y="12477"/>
                </a:lnTo>
                <a:close/>
                <a:lnTo>
                  <a:pt x="58898" y="3243"/>
                </a:lnTo>
                <a:close/>
                <a:lnTo>
                  <a:pt x="42597" y="0"/>
                </a:lnTo>
                <a:close/>
                <a:lnTo>
                  <a:pt x="26296" y="3243"/>
                </a:lnTo>
                <a:close/>
                <a:lnTo>
                  <a:pt x="12476" y="12477"/>
                </a:lnTo>
                <a:close/>
                <a:lnTo>
                  <a:pt x="3243" y="26296"/>
                </a:lnTo>
                <a:close/>
                <a:lnTo>
                  <a:pt x="0" y="42597"/>
                </a:lnTo>
                <a:close/>
                <a:lnTo>
                  <a:pt x="3243" y="58899"/>
                </a:lnTo>
                <a:close/>
                <a:lnTo>
                  <a:pt x="12476" y="72718"/>
                </a:lnTo>
                <a:close/>
                <a:lnTo>
                  <a:pt x="26296" y="81952"/>
                </a:lnTo>
                <a:close/>
                <a:lnTo>
                  <a:pt x="42597" y="85195"/>
                </a:lnTo>
                <a:close/>
                <a:lnTo>
                  <a:pt x="42597" y="85195"/>
                </a:lnTo>
                <a:close/>
              </a:path>
            </a:pathLst>
          </a:cu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044816" y="1762669"/>
            <a:ext cx="85195" cy="85195"/>
          </a:xfrm>
          <a:custGeom>
            <a:avLst/>
            <a:gdLst/>
            <a:ahLst/>
            <a:cxnLst/>
            <a:rect l="l" t="t" r="r" b="b"/>
            <a:pathLst>
              <a:path w="85195" h="85195">
                <a:moveTo>
                  <a:pt x="42598" y="85195"/>
                </a:moveTo>
                <a:lnTo>
                  <a:pt x="58899" y="81952"/>
                </a:lnTo>
                <a:close/>
                <a:lnTo>
                  <a:pt x="72718" y="72718"/>
                </a:lnTo>
                <a:close/>
                <a:lnTo>
                  <a:pt x="81952" y="58899"/>
                </a:lnTo>
                <a:close/>
                <a:lnTo>
                  <a:pt x="85195" y="42598"/>
                </a:lnTo>
                <a:close/>
                <a:lnTo>
                  <a:pt x="81952" y="26296"/>
                </a:lnTo>
                <a:close/>
                <a:lnTo>
                  <a:pt x="72718" y="12477"/>
                </a:lnTo>
                <a:close/>
                <a:lnTo>
                  <a:pt x="58899" y="3243"/>
                </a:lnTo>
                <a:close/>
                <a:lnTo>
                  <a:pt x="42598" y="0"/>
                </a:lnTo>
                <a:close/>
                <a:lnTo>
                  <a:pt x="26296" y="3243"/>
                </a:lnTo>
                <a:close/>
                <a:lnTo>
                  <a:pt x="12477" y="12477"/>
                </a:lnTo>
                <a:close/>
                <a:lnTo>
                  <a:pt x="3243" y="26296"/>
                </a:lnTo>
                <a:close/>
                <a:lnTo>
                  <a:pt x="0" y="42598"/>
                </a:lnTo>
                <a:close/>
                <a:lnTo>
                  <a:pt x="3243" y="58899"/>
                </a:lnTo>
                <a:close/>
                <a:lnTo>
                  <a:pt x="12477" y="72718"/>
                </a:lnTo>
                <a:close/>
                <a:lnTo>
                  <a:pt x="26296" y="81952"/>
                </a:lnTo>
                <a:close/>
                <a:lnTo>
                  <a:pt x="42598" y="85195"/>
                </a:lnTo>
                <a:close/>
                <a:lnTo>
                  <a:pt x="42598" y="85195"/>
                </a:lnTo>
                <a:close/>
              </a:path>
            </a:pathLst>
          </a:cu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62363" y="3239307"/>
            <a:ext cx="85194" cy="85194"/>
          </a:xfrm>
          <a:custGeom>
            <a:avLst/>
            <a:gdLst/>
            <a:ahLst/>
            <a:cxnLst/>
            <a:rect l="l" t="t" r="r" b="b"/>
            <a:pathLst>
              <a:path w="85194" h="85194">
                <a:moveTo>
                  <a:pt x="42597" y="85194"/>
                </a:moveTo>
                <a:lnTo>
                  <a:pt x="58898" y="81952"/>
                </a:lnTo>
                <a:close/>
                <a:lnTo>
                  <a:pt x="72718" y="72718"/>
                </a:lnTo>
                <a:close/>
                <a:lnTo>
                  <a:pt x="81952" y="58898"/>
                </a:lnTo>
                <a:close/>
                <a:lnTo>
                  <a:pt x="85194" y="42597"/>
                </a:lnTo>
                <a:close/>
                <a:lnTo>
                  <a:pt x="81952" y="26296"/>
                </a:lnTo>
                <a:close/>
                <a:lnTo>
                  <a:pt x="72718" y="12477"/>
                </a:lnTo>
                <a:close/>
                <a:lnTo>
                  <a:pt x="58898" y="3243"/>
                </a:lnTo>
                <a:close/>
                <a:lnTo>
                  <a:pt x="42597" y="0"/>
                </a:lnTo>
                <a:close/>
                <a:lnTo>
                  <a:pt x="26296" y="3243"/>
                </a:lnTo>
                <a:close/>
                <a:lnTo>
                  <a:pt x="12477" y="12477"/>
                </a:lnTo>
                <a:close/>
                <a:lnTo>
                  <a:pt x="3243" y="26296"/>
                </a:lnTo>
                <a:close/>
                <a:lnTo>
                  <a:pt x="0" y="42597"/>
                </a:lnTo>
                <a:close/>
                <a:lnTo>
                  <a:pt x="3243" y="58898"/>
                </a:lnTo>
                <a:close/>
                <a:lnTo>
                  <a:pt x="12477" y="72718"/>
                </a:lnTo>
                <a:close/>
                <a:lnTo>
                  <a:pt x="26296" y="81952"/>
                </a:lnTo>
                <a:close/>
                <a:lnTo>
                  <a:pt x="42597" y="85194"/>
                </a:lnTo>
                <a:close/>
                <a:lnTo>
                  <a:pt x="42597" y="85194"/>
                </a:lnTo>
                <a:close/>
              </a:path>
            </a:pathLst>
          </a:cu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90698" y="3076162"/>
            <a:ext cx="85194" cy="85194"/>
          </a:xfrm>
          <a:custGeom>
            <a:avLst/>
            <a:gdLst/>
            <a:ahLst/>
            <a:cxnLst/>
            <a:rect l="l" t="t" r="r" b="b"/>
            <a:pathLst>
              <a:path w="85194" h="85194">
                <a:moveTo>
                  <a:pt x="42597" y="85194"/>
                </a:moveTo>
                <a:lnTo>
                  <a:pt x="58898" y="81951"/>
                </a:lnTo>
                <a:close/>
                <a:lnTo>
                  <a:pt x="72718" y="72718"/>
                </a:lnTo>
                <a:close/>
                <a:lnTo>
                  <a:pt x="81951" y="58898"/>
                </a:lnTo>
                <a:close/>
                <a:lnTo>
                  <a:pt x="85194" y="42597"/>
                </a:lnTo>
                <a:close/>
                <a:lnTo>
                  <a:pt x="81951" y="26296"/>
                </a:lnTo>
                <a:close/>
                <a:lnTo>
                  <a:pt x="72718" y="12476"/>
                </a:lnTo>
                <a:close/>
                <a:lnTo>
                  <a:pt x="58898" y="3242"/>
                </a:lnTo>
                <a:close/>
                <a:lnTo>
                  <a:pt x="42597" y="0"/>
                </a:lnTo>
                <a:close/>
                <a:lnTo>
                  <a:pt x="26296" y="3242"/>
                </a:lnTo>
                <a:close/>
                <a:lnTo>
                  <a:pt x="12476" y="12476"/>
                </a:lnTo>
                <a:close/>
                <a:lnTo>
                  <a:pt x="3243" y="26296"/>
                </a:lnTo>
                <a:close/>
                <a:lnTo>
                  <a:pt x="0" y="42597"/>
                </a:lnTo>
                <a:close/>
                <a:lnTo>
                  <a:pt x="3243" y="58898"/>
                </a:lnTo>
                <a:close/>
                <a:lnTo>
                  <a:pt x="12476" y="72718"/>
                </a:lnTo>
                <a:close/>
                <a:lnTo>
                  <a:pt x="26296" y="81951"/>
                </a:lnTo>
                <a:close/>
                <a:lnTo>
                  <a:pt x="42597" y="85194"/>
                </a:lnTo>
                <a:close/>
                <a:lnTo>
                  <a:pt x="42597" y="85194"/>
                </a:lnTo>
                <a:close/>
              </a:path>
            </a:pathLst>
          </a:cu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4576665" y="874500"/>
            <a:ext cx="85194" cy="85194"/>
          </a:xfrm>
          <a:custGeom>
            <a:avLst/>
            <a:gdLst/>
            <a:ahLst/>
            <a:cxnLst/>
            <a:rect l="l" t="t" r="r" b="b"/>
            <a:pathLst>
              <a:path w="85194" h="85194">
                <a:moveTo>
                  <a:pt x="42597" y="85194"/>
                </a:moveTo>
                <a:lnTo>
                  <a:pt x="58898" y="81952"/>
                </a:lnTo>
                <a:close/>
                <a:lnTo>
                  <a:pt x="72718" y="72718"/>
                </a:lnTo>
                <a:close/>
                <a:lnTo>
                  <a:pt x="81952" y="58898"/>
                </a:lnTo>
                <a:close/>
                <a:lnTo>
                  <a:pt x="85194" y="42597"/>
                </a:lnTo>
                <a:close/>
                <a:lnTo>
                  <a:pt x="81952" y="26296"/>
                </a:lnTo>
                <a:close/>
                <a:lnTo>
                  <a:pt x="72718" y="12477"/>
                </a:lnTo>
                <a:close/>
                <a:lnTo>
                  <a:pt x="58898" y="3243"/>
                </a:lnTo>
                <a:close/>
                <a:lnTo>
                  <a:pt x="42597" y="0"/>
                </a:lnTo>
                <a:close/>
                <a:lnTo>
                  <a:pt x="26296" y="3243"/>
                </a:lnTo>
                <a:close/>
                <a:lnTo>
                  <a:pt x="12476" y="12477"/>
                </a:lnTo>
                <a:close/>
                <a:lnTo>
                  <a:pt x="3243" y="26296"/>
                </a:lnTo>
                <a:close/>
                <a:lnTo>
                  <a:pt x="0" y="42597"/>
                </a:lnTo>
                <a:close/>
                <a:lnTo>
                  <a:pt x="3243" y="58898"/>
                </a:lnTo>
                <a:close/>
                <a:lnTo>
                  <a:pt x="12476" y="72718"/>
                </a:lnTo>
                <a:close/>
                <a:lnTo>
                  <a:pt x="26296" y="81952"/>
                </a:lnTo>
                <a:close/>
                <a:lnTo>
                  <a:pt x="42597" y="85194"/>
                </a:lnTo>
                <a:close/>
                <a:lnTo>
                  <a:pt x="42597" y="85194"/>
                </a:lnTo>
                <a:close/>
              </a:path>
            </a:pathLst>
          </a:cu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4395886" y="1478836"/>
            <a:ext cx="85194" cy="85195"/>
          </a:xfrm>
          <a:custGeom>
            <a:avLst/>
            <a:gdLst/>
            <a:ahLst/>
            <a:cxnLst/>
            <a:rect l="l" t="t" r="r" b="b"/>
            <a:pathLst>
              <a:path w="85194" h="85195">
                <a:moveTo>
                  <a:pt x="42597" y="85195"/>
                </a:moveTo>
                <a:lnTo>
                  <a:pt x="58898" y="81952"/>
                </a:lnTo>
                <a:close/>
                <a:lnTo>
                  <a:pt x="72718" y="72718"/>
                </a:lnTo>
                <a:close/>
                <a:lnTo>
                  <a:pt x="81951" y="58899"/>
                </a:lnTo>
                <a:close/>
                <a:lnTo>
                  <a:pt x="85194" y="42597"/>
                </a:lnTo>
                <a:close/>
                <a:lnTo>
                  <a:pt x="81951" y="26296"/>
                </a:lnTo>
                <a:close/>
                <a:lnTo>
                  <a:pt x="72718" y="12477"/>
                </a:lnTo>
                <a:close/>
                <a:lnTo>
                  <a:pt x="58898" y="3243"/>
                </a:lnTo>
                <a:close/>
                <a:lnTo>
                  <a:pt x="42597" y="0"/>
                </a:lnTo>
                <a:close/>
                <a:lnTo>
                  <a:pt x="26296" y="3243"/>
                </a:lnTo>
                <a:close/>
                <a:lnTo>
                  <a:pt x="12476" y="12477"/>
                </a:lnTo>
                <a:close/>
                <a:lnTo>
                  <a:pt x="3242" y="26296"/>
                </a:lnTo>
                <a:close/>
                <a:lnTo>
                  <a:pt x="0" y="42597"/>
                </a:lnTo>
                <a:close/>
                <a:lnTo>
                  <a:pt x="3242" y="58899"/>
                </a:lnTo>
                <a:close/>
                <a:lnTo>
                  <a:pt x="12476" y="72718"/>
                </a:lnTo>
                <a:close/>
                <a:lnTo>
                  <a:pt x="26296" y="81952"/>
                </a:lnTo>
                <a:close/>
                <a:lnTo>
                  <a:pt x="42597" y="85195"/>
                </a:lnTo>
                <a:close/>
                <a:lnTo>
                  <a:pt x="42597" y="85195"/>
                </a:lnTo>
                <a:close/>
              </a:path>
            </a:pathLst>
          </a:cu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2077649" y="788416"/>
            <a:ext cx="1825402" cy="477869"/>
          </a:xfrm>
          <a:custGeom>
            <a:avLst/>
            <a:gdLst/>
            <a:ahLst/>
            <a:cxnLst/>
            <a:rect l="l" t="t" r="r" b="b"/>
            <a:pathLst>
              <a:path w="1825402" h="477869">
                <a:moveTo>
                  <a:pt x="20320" y="477869"/>
                </a:moveTo>
                <a:lnTo>
                  <a:pt x="1805082" y="477869"/>
                </a:lnTo>
                <a:close/>
                <a:lnTo>
                  <a:pt x="1820322" y="472789"/>
                </a:lnTo>
                <a:close/>
                <a:lnTo>
                  <a:pt x="1825402" y="457549"/>
                </a:lnTo>
                <a:close/>
                <a:lnTo>
                  <a:pt x="1825402" y="20320"/>
                </a:lnTo>
                <a:close/>
                <a:lnTo>
                  <a:pt x="1820322" y="5080"/>
                </a:lnTo>
                <a:close/>
                <a:lnTo>
                  <a:pt x="1805082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457549"/>
                </a:lnTo>
                <a:close/>
                <a:lnTo>
                  <a:pt x="5080" y="472789"/>
                </a:lnTo>
                <a:close/>
                <a:lnTo>
                  <a:pt x="20320" y="477869"/>
                </a:lnTo>
                <a:close/>
                <a:lnTo>
                  <a:pt x="20320" y="477869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177291" y="836989"/>
            <a:ext cx="85195" cy="85194"/>
          </a:xfrm>
          <a:custGeom>
            <a:avLst/>
            <a:gdLst/>
            <a:ahLst/>
            <a:cxnLst/>
            <a:rect l="l" t="t" r="r" b="b"/>
            <a:pathLst>
              <a:path w="85195" h="85194">
                <a:moveTo>
                  <a:pt x="42598" y="85194"/>
                </a:moveTo>
                <a:lnTo>
                  <a:pt x="58899" y="81952"/>
                </a:lnTo>
                <a:close/>
                <a:lnTo>
                  <a:pt x="72718" y="72718"/>
                </a:lnTo>
                <a:close/>
                <a:lnTo>
                  <a:pt x="81952" y="58898"/>
                </a:lnTo>
                <a:close/>
                <a:lnTo>
                  <a:pt x="85195" y="42597"/>
                </a:lnTo>
                <a:close/>
                <a:lnTo>
                  <a:pt x="81952" y="26296"/>
                </a:lnTo>
                <a:close/>
                <a:lnTo>
                  <a:pt x="72718" y="12476"/>
                </a:lnTo>
                <a:close/>
                <a:lnTo>
                  <a:pt x="58899" y="3243"/>
                </a:lnTo>
                <a:close/>
                <a:lnTo>
                  <a:pt x="42598" y="0"/>
                </a:lnTo>
                <a:close/>
                <a:lnTo>
                  <a:pt x="26296" y="3243"/>
                </a:lnTo>
                <a:close/>
                <a:lnTo>
                  <a:pt x="12477" y="12476"/>
                </a:lnTo>
                <a:close/>
                <a:lnTo>
                  <a:pt x="3243" y="26296"/>
                </a:lnTo>
                <a:close/>
                <a:lnTo>
                  <a:pt x="0" y="42597"/>
                </a:lnTo>
                <a:close/>
                <a:lnTo>
                  <a:pt x="3243" y="58898"/>
                </a:lnTo>
                <a:close/>
                <a:lnTo>
                  <a:pt x="12477" y="72718"/>
                </a:lnTo>
                <a:close/>
                <a:lnTo>
                  <a:pt x="26296" y="81952"/>
                </a:lnTo>
                <a:close/>
                <a:lnTo>
                  <a:pt x="42598" y="85194"/>
                </a:lnTo>
                <a:close/>
                <a:lnTo>
                  <a:pt x="42598" y="85194"/>
                </a:lnTo>
                <a:close/>
              </a:path>
            </a:pathLst>
          </a:custGeom>
          <a:solidFill>
            <a:srgbClr val="57A77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02769" y="804656"/>
            <a:ext cx="13208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Post. mean (obs&lt;131)</a:t>
            </a:r>
          </a:p>
        </p:txBody>
      </p:sp>
      <p:sp>
        <p:nvSpPr>
          <p:cNvPr id="58" name="Freeform 57"/>
          <p:cNvSpPr/>
          <p:nvPr/>
        </p:nvSpPr>
        <p:spPr>
          <a:xfrm>
            <a:off x="2177291" y="986119"/>
            <a:ext cx="85195" cy="85194"/>
          </a:xfrm>
          <a:custGeom>
            <a:avLst/>
            <a:gdLst/>
            <a:ahLst/>
            <a:cxnLst/>
            <a:rect l="l" t="t" r="r" b="b"/>
            <a:pathLst>
              <a:path w="85195" h="85194">
                <a:moveTo>
                  <a:pt x="42598" y="85194"/>
                </a:moveTo>
                <a:lnTo>
                  <a:pt x="58899" y="81951"/>
                </a:lnTo>
                <a:close/>
                <a:lnTo>
                  <a:pt x="72718" y="72718"/>
                </a:lnTo>
                <a:close/>
                <a:lnTo>
                  <a:pt x="81952" y="58898"/>
                </a:lnTo>
                <a:close/>
                <a:lnTo>
                  <a:pt x="85195" y="42597"/>
                </a:lnTo>
                <a:close/>
                <a:lnTo>
                  <a:pt x="81952" y="26296"/>
                </a:lnTo>
                <a:close/>
                <a:lnTo>
                  <a:pt x="72718" y="12476"/>
                </a:lnTo>
                <a:close/>
                <a:lnTo>
                  <a:pt x="58899" y="3242"/>
                </a:lnTo>
                <a:close/>
                <a:lnTo>
                  <a:pt x="42598" y="0"/>
                </a:lnTo>
                <a:close/>
                <a:lnTo>
                  <a:pt x="26296" y="3242"/>
                </a:lnTo>
                <a:close/>
                <a:lnTo>
                  <a:pt x="12477" y="12476"/>
                </a:lnTo>
                <a:close/>
                <a:lnTo>
                  <a:pt x="3243" y="26296"/>
                </a:lnTo>
                <a:close/>
                <a:lnTo>
                  <a:pt x="0" y="42597"/>
                </a:lnTo>
                <a:close/>
                <a:lnTo>
                  <a:pt x="3243" y="58898"/>
                </a:lnTo>
                <a:close/>
                <a:lnTo>
                  <a:pt x="12477" y="72718"/>
                </a:lnTo>
                <a:close/>
                <a:lnTo>
                  <a:pt x="26296" y="81951"/>
                </a:lnTo>
                <a:close/>
                <a:lnTo>
                  <a:pt x="42598" y="85194"/>
                </a:lnTo>
                <a:close/>
                <a:lnTo>
                  <a:pt x="42598" y="85194"/>
                </a:lnTo>
                <a:close/>
              </a:path>
            </a:pathLst>
          </a:cu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02769" y="953786"/>
            <a:ext cx="13208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Post. mean (obs≥131)</a:t>
            </a:r>
          </a:p>
        </p:txBody>
      </p:sp>
      <p:sp>
        <p:nvSpPr>
          <p:cNvPr id="60" name="Freeform 59"/>
          <p:cNvSpPr/>
          <p:nvPr/>
        </p:nvSpPr>
        <p:spPr>
          <a:xfrm>
            <a:off x="2118289" y="1168956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101600" y="0"/>
                </a:lnTo>
                <a:close/>
                <a:lnTo>
                  <a:pt x="203200" y="0"/>
                </a:lnTo>
                <a:close/>
              </a:path>
            </a:pathLst>
          </a:custGeom>
          <a:noFill/>
          <a:ln w="1524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02769" y="1102916"/>
            <a:ext cx="17475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Global prior mean (163 MPa)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03234" y="737616"/>
            <a:ext cx="4787773" cy="27854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20860" y="2059716"/>
            <a:ext cx="355308" cy="1463393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664995" y="1803370"/>
            <a:ext cx="355308" cy="1719739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109130" y="1637855"/>
            <a:ext cx="355308" cy="1885253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553265" y="1948700"/>
            <a:ext cx="355308" cy="1574409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997400" y="1213976"/>
            <a:ext cx="355308" cy="2309133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41534" y="1169569"/>
            <a:ext cx="355308" cy="2353539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885669" y="1100941"/>
            <a:ext cx="355308" cy="2422167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329804" y="1109015"/>
            <a:ext cx="355308" cy="2414093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773939" y="1100941"/>
            <a:ext cx="355308" cy="2422167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218074" y="1100941"/>
            <a:ext cx="355308" cy="2422167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6398514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 rot="18900000">
            <a:off x="6273574" y="3559885"/>
            <a:ext cx="2844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133</a:t>
            </a:r>
          </a:p>
        </p:txBody>
      </p:sp>
      <p:sp>
        <p:nvSpPr>
          <p:cNvPr id="75" name="Freeform 74"/>
          <p:cNvSpPr/>
          <p:nvPr/>
        </p:nvSpPr>
        <p:spPr>
          <a:xfrm>
            <a:off x="6842649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 rot="18900000">
            <a:off x="6717709" y="3559885"/>
            <a:ext cx="2844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135</a:t>
            </a:r>
          </a:p>
        </p:txBody>
      </p:sp>
      <p:sp>
        <p:nvSpPr>
          <p:cNvPr id="77" name="Freeform 76"/>
          <p:cNvSpPr/>
          <p:nvPr/>
        </p:nvSpPr>
        <p:spPr>
          <a:xfrm>
            <a:off x="7286784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 rot="18900000">
            <a:off x="7161844" y="3559885"/>
            <a:ext cx="2844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137</a:t>
            </a:r>
          </a:p>
        </p:txBody>
      </p:sp>
      <p:sp>
        <p:nvSpPr>
          <p:cNvPr id="79" name="Freeform 78"/>
          <p:cNvSpPr/>
          <p:nvPr/>
        </p:nvSpPr>
        <p:spPr>
          <a:xfrm>
            <a:off x="7730919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 rot="18900000">
            <a:off x="7605978" y="3559885"/>
            <a:ext cx="2844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137</a:t>
            </a:r>
          </a:p>
        </p:txBody>
      </p:sp>
      <p:sp>
        <p:nvSpPr>
          <p:cNvPr id="81" name="Freeform 80"/>
          <p:cNvSpPr/>
          <p:nvPr/>
        </p:nvSpPr>
        <p:spPr>
          <a:xfrm>
            <a:off x="8175054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 rot="18900000">
            <a:off x="8050113" y="3559885"/>
            <a:ext cx="2844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151</a:t>
            </a:r>
          </a:p>
        </p:txBody>
      </p:sp>
      <p:sp>
        <p:nvSpPr>
          <p:cNvPr id="83" name="Freeform 82"/>
          <p:cNvSpPr/>
          <p:nvPr/>
        </p:nvSpPr>
        <p:spPr>
          <a:xfrm>
            <a:off x="8619188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 rot="18900000">
            <a:off x="8494248" y="3559885"/>
            <a:ext cx="2844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154</a:t>
            </a:r>
          </a:p>
        </p:txBody>
      </p:sp>
      <p:sp>
        <p:nvSpPr>
          <p:cNvPr id="85" name="Freeform 84"/>
          <p:cNvSpPr/>
          <p:nvPr/>
        </p:nvSpPr>
        <p:spPr>
          <a:xfrm>
            <a:off x="9063323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 rot="18900000">
            <a:off x="8938383" y="3559885"/>
            <a:ext cx="2844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178</a:t>
            </a:r>
          </a:p>
        </p:txBody>
      </p:sp>
      <p:sp>
        <p:nvSpPr>
          <p:cNvPr id="87" name="Freeform 86"/>
          <p:cNvSpPr/>
          <p:nvPr/>
        </p:nvSpPr>
        <p:spPr>
          <a:xfrm>
            <a:off x="9507458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 rot="18900000">
            <a:off x="9382518" y="3559885"/>
            <a:ext cx="2844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185</a:t>
            </a:r>
          </a:p>
        </p:txBody>
      </p:sp>
      <p:sp>
        <p:nvSpPr>
          <p:cNvPr id="89" name="Freeform 88"/>
          <p:cNvSpPr/>
          <p:nvPr/>
        </p:nvSpPr>
        <p:spPr>
          <a:xfrm>
            <a:off x="9951593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 rot="18900000">
            <a:off x="9826652" y="3559885"/>
            <a:ext cx="2844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191</a:t>
            </a:r>
          </a:p>
        </p:txBody>
      </p:sp>
      <p:sp>
        <p:nvSpPr>
          <p:cNvPr id="91" name="Freeform 90"/>
          <p:cNvSpPr/>
          <p:nvPr/>
        </p:nvSpPr>
        <p:spPr>
          <a:xfrm>
            <a:off x="10395727" y="352310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 rot="18900000">
            <a:off x="10270787" y="3559885"/>
            <a:ext cx="2844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194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84671" y="3838967"/>
            <a:ext cx="1727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Observed stress (MPa)</a:t>
            </a:r>
          </a:p>
        </p:txBody>
      </p:sp>
      <p:sp>
        <p:nvSpPr>
          <p:cNvPr id="94" name="Freeform 93"/>
          <p:cNvSpPr/>
          <p:nvPr/>
        </p:nvSpPr>
        <p:spPr>
          <a:xfrm>
            <a:off x="5958784" y="352310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712365" y="344435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96" name="Freeform 95"/>
          <p:cNvSpPr/>
          <p:nvPr/>
        </p:nvSpPr>
        <p:spPr>
          <a:xfrm>
            <a:off x="5958784" y="303867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712365" y="295992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98" name="Freeform 97"/>
          <p:cNvSpPr/>
          <p:nvPr/>
        </p:nvSpPr>
        <p:spPr>
          <a:xfrm>
            <a:off x="5958784" y="255424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712365" y="247549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100" name="Freeform 99"/>
          <p:cNvSpPr/>
          <p:nvPr/>
        </p:nvSpPr>
        <p:spPr>
          <a:xfrm>
            <a:off x="5958784" y="206980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712365" y="199105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02" name="Freeform 101"/>
          <p:cNvSpPr/>
          <p:nvPr/>
        </p:nvSpPr>
        <p:spPr>
          <a:xfrm>
            <a:off x="5958784" y="158537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712365" y="150662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104" name="Freeform 103"/>
          <p:cNvSpPr/>
          <p:nvPr/>
        </p:nvSpPr>
        <p:spPr>
          <a:xfrm>
            <a:off x="5958784" y="110094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712365" y="102219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106" name="TextBox 105"/>
          <p:cNvSpPr txBox="1"/>
          <p:nvPr/>
        </p:nvSpPr>
        <p:spPr>
          <a:xfrm rot="16200000">
            <a:off x="5539903" y="1860487"/>
            <a:ext cx="1574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P(stress &gt; 131 MPa)</a:t>
            </a:r>
          </a:p>
        </p:txBody>
      </p:sp>
      <p:sp>
        <p:nvSpPr>
          <p:cNvPr id="107" name="Freeform 106"/>
          <p:cNvSpPr/>
          <p:nvPr/>
        </p:nvSpPr>
        <p:spPr>
          <a:xfrm>
            <a:off x="6003234" y="1100941"/>
            <a:ext cx="4787773" cy="0"/>
          </a:xfrm>
          <a:custGeom>
            <a:avLst/>
            <a:gdLst/>
            <a:ahLst/>
            <a:cxnLst/>
            <a:rect l="l" t="t" r="r" b="b"/>
            <a:pathLst>
              <a:path w="4787773" h="0">
                <a:moveTo>
                  <a:pt x="0" y="0"/>
                </a:moveTo>
                <a:lnTo>
                  <a:pt x="4787773" y="0"/>
                </a:lnTo>
                <a:close/>
              </a:path>
            </a:pathLst>
          </a:custGeom>
          <a:noFill/>
          <a:ln w="12700">
            <a:solidFill>
              <a:srgbClr val="333333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6003234" y="737616"/>
            <a:ext cx="0" cy="2785492"/>
          </a:xfrm>
          <a:custGeom>
            <a:avLst/>
            <a:gdLst/>
            <a:ahLst/>
            <a:cxnLst/>
            <a:rect l="l" t="t" r="r" b="b"/>
            <a:pathLst>
              <a:path w="0" h="2785492">
                <a:moveTo>
                  <a:pt x="0" y="278549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6003234" y="3523108"/>
            <a:ext cx="4787773" cy="0"/>
          </a:xfrm>
          <a:custGeom>
            <a:avLst/>
            <a:gdLst/>
            <a:ahLst/>
            <a:cxnLst/>
            <a:rect l="l" t="t" r="r" b="b"/>
            <a:pathLst>
              <a:path w="4787773" h="0">
                <a:moveTo>
                  <a:pt x="0" y="0"/>
                </a:moveTo>
                <a:lnTo>
                  <a:pt x="4787773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140636" y="405664"/>
            <a:ext cx="316103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(B)  Risk update: 10 feasible-region cases</a:t>
            </a:r>
          </a:p>
        </p:txBody>
      </p:sp>
      <p:sp>
        <p:nvSpPr>
          <p:cNvPr id="111" name="Freeform 110"/>
          <p:cNvSpPr/>
          <p:nvPr/>
        </p:nvSpPr>
        <p:spPr>
          <a:xfrm>
            <a:off x="8922583" y="788416"/>
            <a:ext cx="1817624" cy="179610"/>
          </a:xfrm>
          <a:custGeom>
            <a:avLst/>
            <a:gdLst/>
            <a:ahLst/>
            <a:cxnLst/>
            <a:rect l="l" t="t" r="r" b="b"/>
            <a:pathLst>
              <a:path w="1817624" h="179610">
                <a:moveTo>
                  <a:pt x="20320" y="179610"/>
                </a:moveTo>
                <a:lnTo>
                  <a:pt x="1797304" y="179610"/>
                </a:lnTo>
                <a:close/>
                <a:lnTo>
                  <a:pt x="1812544" y="174530"/>
                </a:lnTo>
                <a:close/>
                <a:lnTo>
                  <a:pt x="1817624" y="159290"/>
                </a:lnTo>
                <a:close/>
                <a:lnTo>
                  <a:pt x="1817624" y="20320"/>
                </a:lnTo>
                <a:close/>
                <a:lnTo>
                  <a:pt x="1812544" y="5080"/>
                </a:lnTo>
                <a:close/>
                <a:lnTo>
                  <a:pt x="1797304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159290"/>
                </a:lnTo>
                <a:close/>
                <a:lnTo>
                  <a:pt x="5080" y="174530"/>
                </a:lnTo>
                <a:close/>
                <a:lnTo>
                  <a:pt x="20320" y="179610"/>
                </a:lnTo>
                <a:close/>
                <a:lnTo>
                  <a:pt x="20320" y="17961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963223" y="835136"/>
            <a:ext cx="203200" cy="71120"/>
          </a:xfrm>
          <a:prstGeom prst="rect">
            <a:avLst/>
          </a:prstGeom>
          <a:solidFill>
            <a:srgbClr val="C0392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247703" y="804656"/>
            <a:ext cx="17475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Posterior P(stress&gt;131 MPa)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068042" y="55507"/>
            <a:ext cx="527304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5 (v1) | Observation-driven posterior calibration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