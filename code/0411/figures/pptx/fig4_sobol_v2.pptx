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626231" cy="45063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626231" cy="45063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2715" y="932688"/>
            <a:ext cx="5247308" cy="30966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17616" y="3683520"/>
            <a:ext cx="14000" cy="205077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616" y="3310652"/>
            <a:ext cx="11098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7616" y="2937784"/>
            <a:ext cx="22071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17616" y="2564916"/>
            <a:ext cx="356951" cy="205077"/>
          </a:xfrm>
          <a:prstGeom prst="rect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417616" y="2192049"/>
            <a:ext cx="376999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17616" y="1819181"/>
            <a:ext cx="42555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17616" y="1446313"/>
            <a:ext cx="1130200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17616" y="1073446"/>
            <a:ext cx="3927142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417616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6631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14" name="Freeform 13"/>
          <p:cNvSpPr/>
          <p:nvPr/>
        </p:nvSpPr>
        <p:spPr>
          <a:xfrm>
            <a:off x="2087418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86433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0.1</a:t>
            </a:r>
          </a:p>
        </p:txBody>
      </p:sp>
      <p:sp>
        <p:nvSpPr>
          <p:cNvPr id="16" name="Freeform 15"/>
          <p:cNvSpPr/>
          <p:nvPr/>
        </p:nvSpPr>
        <p:spPr>
          <a:xfrm>
            <a:off x="2757219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56235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8" name="Freeform 17"/>
          <p:cNvSpPr/>
          <p:nvPr/>
        </p:nvSpPr>
        <p:spPr>
          <a:xfrm>
            <a:off x="3427021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26036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0.3</a:t>
            </a:r>
          </a:p>
        </p:txBody>
      </p:sp>
      <p:sp>
        <p:nvSpPr>
          <p:cNvPr id="20" name="Freeform 19"/>
          <p:cNvSpPr/>
          <p:nvPr/>
        </p:nvSpPr>
        <p:spPr>
          <a:xfrm>
            <a:off x="4096823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5838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22" name="Freeform 21"/>
          <p:cNvSpPr/>
          <p:nvPr/>
        </p:nvSpPr>
        <p:spPr>
          <a:xfrm>
            <a:off x="4766625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5640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24" name="Freeform 23"/>
          <p:cNvSpPr/>
          <p:nvPr/>
        </p:nvSpPr>
        <p:spPr>
          <a:xfrm>
            <a:off x="5436427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5442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26" name="Freeform 25"/>
          <p:cNvSpPr/>
          <p:nvPr/>
        </p:nvSpPr>
        <p:spPr>
          <a:xfrm>
            <a:off x="6106229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05244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98929" y="4261467"/>
            <a:ext cx="2794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First-order Sobol index S1 (90% CI)</a:t>
            </a:r>
          </a:p>
        </p:txBody>
      </p:sp>
      <p:sp>
        <p:nvSpPr>
          <p:cNvPr id="29" name="Freeform 28"/>
          <p:cNvSpPr/>
          <p:nvPr/>
        </p:nvSpPr>
        <p:spPr>
          <a:xfrm>
            <a:off x="1038265" y="37860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5152" y="3719129"/>
            <a:ext cx="10147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kslope (SS316)</a:t>
            </a:r>
          </a:p>
        </p:txBody>
      </p:sp>
      <p:sp>
        <p:nvSpPr>
          <p:cNvPr id="31" name="Freeform 30"/>
          <p:cNvSpPr/>
          <p:nvPr/>
        </p:nvSpPr>
        <p:spPr>
          <a:xfrm>
            <a:off x="1038265" y="34131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9069" y="3346253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Tref (SS316)</a:t>
            </a:r>
          </a:p>
        </p:txBody>
      </p:sp>
      <p:sp>
        <p:nvSpPr>
          <p:cNvPr id="33" name="Freeform 32"/>
          <p:cNvSpPr/>
          <p:nvPr/>
        </p:nvSpPr>
        <p:spPr>
          <a:xfrm>
            <a:off x="1038265" y="30403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542" y="2967878"/>
            <a:ext cx="49657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35" name="Freeform 34"/>
          <p:cNvSpPr/>
          <p:nvPr/>
        </p:nvSpPr>
        <p:spPr>
          <a:xfrm>
            <a:off x="1038265" y="26674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2307" y="2600518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kref (SS316)</a:t>
            </a:r>
          </a:p>
        </p:txBody>
      </p:sp>
      <p:sp>
        <p:nvSpPr>
          <p:cNvPr id="37" name="Freeform 36"/>
          <p:cNvSpPr/>
          <p:nvPr/>
        </p:nvSpPr>
        <p:spPr>
          <a:xfrm>
            <a:off x="1038265" y="229458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3036" y="2227658"/>
            <a:ext cx="56134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E slope</a:t>
            </a:r>
          </a:p>
        </p:txBody>
      </p:sp>
      <p:sp>
        <p:nvSpPr>
          <p:cNvPr id="39" name="Freeform 38"/>
          <p:cNvSpPr/>
          <p:nvPr/>
        </p:nvSpPr>
        <p:spPr>
          <a:xfrm>
            <a:off x="1038265" y="19217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768" y="1854782"/>
            <a:ext cx="69088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41" name="Freeform 40"/>
          <p:cNvSpPr/>
          <p:nvPr/>
        </p:nvSpPr>
        <p:spPr>
          <a:xfrm>
            <a:off x="1038265" y="15488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9053" y="1481914"/>
            <a:ext cx="4318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43" name="Freeform 42"/>
          <p:cNvSpPr/>
          <p:nvPr/>
        </p:nvSpPr>
        <p:spPr>
          <a:xfrm>
            <a:off x="1038265" y="11759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249" y="1109055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E intercept</a:t>
            </a:r>
          </a:p>
        </p:txBody>
      </p:sp>
      <p:sp>
        <p:nvSpPr>
          <p:cNvPr id="45" name="TextBox 44"/>
          <p:cNvSpPr txBox="1"/>
          <p:nvPr/>
        </p:nvSpPr>
        <p:spPr>
          <a:xfrm rot="16200000">
            <a:off x="92690" y="2238868"/>
            <a:ext cx="1270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Input parameter</a:t>
            </a:r>
          </a:p>
        </p:txBody>
      </p:sp>
      <p:sp>
        <p:nvSpPr>
          <p:cNvPr id="46" name="Freeform 45"/>
          <p:cNvSpPr/>
          <p:nvPr/>
        </p:nvSpPr>
        <p:spPr>
          <a:xfrm>
            <a:off x="1410260" y="3786058"/>
            <a:ext cx="42710" cy="0"/>
          </a:xfrm>
          <a:custGeom>
            <a:avLst/>
            <a:gdLst/>
            <a:ahLst/>
            <a:cxnLst/>
            <a:rect l="l" t="t" r="r" b="b"/>
            <a:pathLst>
              <a:path w="42710" h="0">
                <a:moveTo>
                  <a:pt x="0" y="0"/>
                </a:moveTo>
                <a:lnTo>
                  <a:pt x="4271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1505260" y="3413190"/>
            <a:ext cx="46683" cy="0"/>
          </a:xfrm>
          <a:custGeom>
            <a:avLst/>
            <a:gdLst/>
            <a:ahLst/>
            <a:cxnLst/>
            <a:rect l="l" t="t" r="r" b="b"/>
            <a:pathLst>
              <a:path w="46683" h="0">
                <a:moveTo>
                  <a:pt x="0" y="0"/>
                </a:moveTo>
                <a:lnTo>
                  <a:pt x="46683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617413" y="3040323"/>
            <a:ext cx="41837" cy="0"/>
          </a:xfrm>
          <a:custGeom>
            <a:avLst/>
            <a:gdLst/>
            <a:ahLst/>
            <a:cxnLst/>
            <a:rect l="l" t="t" r="r" b="b"/>
            <a:pathLst>
              <a:path w="41837" h="0">
                <a:moveTo>
                  <a:pt x="0" y="0"/>
                </a:moveTo>
                <a:lnTo>
                  <a:pt x="41837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755040" y="2667455"/>
            <a:ext cx="39054" cy="0"/>
          </a:xfrm>
          <a:custGeom>
            <a:avLst/>
            <a:gdLst/>
            <a:ahLst/>
            <a:cxnLst/>
            <a:rect l="l" t="t" r="r" b="b"/>
            <a:pathLst>
              <a:path w="39054" h="0">
                <a:moveTo>
                  <a:pt x="0" y="0"/>
                </a:moveTo>
                <a:lnTo>
                  <a:pt x="39054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772099" y="2294587"/>
            <a:ext cx="45031" cy="0"/>
          </a:xfrm>
          <a:custGeom>
            <a:avLst/>
            <a:gdLst/>
            <a:ahLst/>
            <a:cxnLst/>
            <a:rect l="l" t="t" r="r" b="b"/>
            <a:pathLst>
              <a:path w="45031" h="0">
                <a:moveTo>
                  <a:pt x="0" y="0"/>
                </a:moveTo>
                <a:lnTo>
                  <a:pt x="45031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1818169" y="1921720"/>
            <a:ext cx="50005" cy="0"/>
          </a:xfrm>
          <a:custGeom>
            <a:avLst/>
            <a:gdLst/>
            <a:ahLst/>
            <a:cxnLst/>
            <a:rect l="l" t="t" r="r" b="b"/>
            <a:pathLst>
              <a:path w="50005" h="0">
                <a:moveTo>
                  <a:pt x="0" y="0"/>
                </a:moveTo>
                <a:lnTo>
                  <a:pt x="50005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Freeform 51"/>
          <p:cNvSpPr/>
          <p:nvPr/>
        </p:nvSpPr>
        <p:spPr>
          <a:xfrm>
            <a:off x="2524922" y="1548852"/>
            <a:ext cx="45787" cy="0"/>
          </a:xfrm>
          <a:custGeom>
            <a:avLst/>
            <a:gdLst/>
            <a:ahLst/>
            <a:cxnLst/>
            <a:rect l="l" t="t" r="r" b="b"/>
            <a:pathLst>
              <a:path w="45787" h="0">
                <a:moveTo>
                  <a:pt x="0" y="0"/>
                </a:moveTo>
                <a:lnTo>
                  <a:pt x="45787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5330887" y="1175984"/>
            <a:ext cx="27740" cy="0"/>
          </a:xfrm>
          <a:custGeom>
            <a:avLst/>
            <a:gdLst/>
            <a:ahLst/>
            <a:cxnLst/>
            <a:rect l="l" t="t" r="r" b="b"/>
            <a:pathLst>
              <a:path w="27740" h="0">
                <a:moveTo>
                  <a:pt x="0" y="0"/>
                </a:moveTo>
                <a:lnTo>
                  <a:pt x="27740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410260" y="374795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505260" y="337509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617413" y="30022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1755040" y="262935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Freeform 57"/>
          <p:cNvSpPr/>
          <p:nvPr/>
        </p:nvSpPr>
        <p:spPr>
          <a:xfrm>
            <a:off x="1772099" y="225648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1818169" y="188362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2524922" y="151075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Freeform 60"/>
          <p:cNvSpPr/>
          <p:nvPr/>
        </p:nvSpPr>
        <p:spPr>
          <a:xfrm>
            <a:off x="5330887" y="113788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Freeform 61"/>
          <p:cNvSpPr/>
          <p:nvPr/>
        </p:nvSpPr>
        <p:spPr>
          <a:xfrm>
            <a:off x="1452970" y="374795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Freeform 62"/>
          <p:cNvSpPr/>
          <p:nvPr/>
        </p:nvSpPr>
        <p:spPr>
          <a:xfrm>
            <a:off x="1551943" y="337509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659250" y="30022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794094" y="262935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817130" y="225648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868174" y="188362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Freeform 67"/>
          <p:cNvSpPr/>
          <p:nvPr/>
        </p:nvSpPr>
        <p:spPr>
          <a:xfrm>
            <a:off x="2570709" y="151075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5358627" y="113788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417616" y="932688"/>
            <a:ext cx="0" cy="3096666"/>
          </a:xfrm>
          <a:custGeom>
            <a:avLst/>
            <a:gdLst/>
            <a:ahLst/>
            <a:cxnLst/>
            <a:rect l="l" t="t" r="r" b="b"/>
            <a:pathLst>
              <a:path w="0" h="3096666">
                <a:moveTo>
                  <a:pt x="0" y="3096666"/>
                </a:moveTo>
                <a:lnTo>
                  <a:pt x="0" y="0"/>
                </a:lnTo>
                <a:close/>
              </a:path>
            </a:pathLst>
          </a:custGeom>
          <a:noFill/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082715" y="932688"/>
            <a:ext cx="0" cy="3096666"/>
          </a:xfrm>
          <a:custGeom>
            <a:avLst/>
            <a:gdLst/>
            <a:ahLst/>
            <a:cxnLst/>
            <a:rect l="l" t="t" r="r" b="b"/>
            <a:pathLst>
              <a:path w="0" h="3096666">
                <a:moveTo>
                  <a:pt x="0" y="309666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1082715" y="4029354"/>
            <a:ext cx="5247308" cy="0"/>
          </a:xfrm>
          <a:custGeom>
            <a:avLst/>
            <a:gdLst/>
            <a:ahLst/>
            <a:cxnLst/>
            <a:rect l="l" t="t" r="r" b="b"/>
            <a:pathLst>
              <a:path w="5247308" h="0">
                <a:moveTo>
                  <a:pt x="0" y="0"/>
                </a:moveTo>
                <a:lnTo>
                  <a:pt x="524730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94564" y="2589293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C0392B"/>
                </a:solidFill>
                <a:latin typeface="Arial"/>
              </a:rPr>
              <a:t>L2 S1=0.053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122798" y="627637"/>
            <a:ext cx="15328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(A)  Max global stress</a:t>
            </a:r>
          </a:p>
        </p:txBody>
      </p:sp>
      <p:sp>
        <p:nvSpPr>
          <p:cNvPr id="75" name="Freeform 74"/>
          <p:cNvSpPr/>
          <p:nvPr/>
        </p:nvSpPr>
        <p:spPr>
          <a:xfrm>
            <a:off x="1368773" y="3729262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Freeform 75"/>
          <p:cNvSpPr/>
          <p:nvPr/>
        </p:nvSpPr>
        <p:spPr>
          <a:xfrm>
            <a:off x="1518679" y="3356394"/>
            <a:ext cx="113592" cy="113593"/>
          </a:xfrm>
          <a:custGeom>
            <a:avLst/>
            <a:gdLst/>
            <a:ahLst/>
            <a:cxnLst/>
            <a:rect l="l" t="t" r="r" b="b"/>
            <a:pathLst>
              <a:path w="113592" h="113593">
                <a:moveTo>
                  <a:pt x="56796" y="113593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Freeform 76"/>
          <p:cNvSpPr/>
          <p:nvPr/>
        </p:nvSpPr>
        <p:spPr>
          <a:xfrm>
            <a:off x="1524655" y="2983527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795509" y="2610659"/>
            <a:ext cx="113593" cy="113592"/>
          </a:xfrm>
          <a:custGeom>
            <a:avLst/>
            <a:gdLst/>
            <a:ahLst/>
            <a:cxnLst/>
            <a:rect l="l" t="t" r="r" b="b"/>
            <a:pathLst>
              <a:path w="113593" h="113592">
                <a:moveTo>
                  <a:pt x="56797" y="113592"/>
                </a:moveTo>
                <a:lnTo>
                  <a:pt x="113593" y="56796"/>
                </a:lnTo>
                <a:close/>
                <a:lnTo>
                  <a:pt x="56797" y="0"/>
                </a:lnTo>
                <a:close/>
                <a:lnTo>
                  <a:pt x="0" y="56796"/>
                </a:lnTo>
                <a:close/>
                <a:lnTo>
                  <a:pt x="56797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716347" y="2237791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701900" y="1864923"/>
            <a:ext cx="113593" cy="113593"/>
          </a:xfrm>
          <a:custGeom>
            <a:avLst/>
            <a:gdLst/>
            <a:ahLst/>
            <a:cxnLst/>
            <a:rect l="l" t="t" r="r" b="b"/>
            <a:pathLst>
              <a:path w="113593" h="113593">
                <a:moveTo>
                  <a:pt x="56797" y="113593"/>
                </a:moveTo>
                <a:lnTo>
                  <a:pt x="113593" y="56797"/>
                </a:lnTo>
                <a:close/>
                <a:lnTo>
                  <a:pt x="56797" y="0"/>
                </a:lnTo>
                <a:close/>
                <a:lnTo>
                  <a:pt x="0" y="56797"/>
                </a:lnTo>
                <a:close/>
                <a:lnTo>
                  <a:pt x="56797" y="11359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2414283" y="1492056"/>
            <a:ext cx="113593" cy="113592"/>
          </a:xfrm>
          <a:custGeom>
            <a:avLst/>
            <a:gdLst/>
            <a:ahLst/>
            <a:cxnLst/>
            <a:rect l="l" t="t" r="r" b="b"/>
            <a:pathLst>
              <a:path w="113593" h="113592">
                <a:moveTo>
                  <a:pt x="56796" y="113592"/>
                </a:moveTo>
                <a:lnTo>
                  <a:pt x="113593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5469464" y="1119188"/>
            <a:ext cx="113593" cy="113592"/>
          </a:xfrm>
          <a:custGeom>
            <a:avLst/>
            <a:gdLst/>
            <a:ahLst/>
            <a:cxnLst/>
            <a:rect l="l" t="t" r="r" b="b"/>
            <a:pathLst>
              <a:path w="113593" h="113592">
                <a:moveTo>
                  <a:pt x="56797" y="113592"/>
                </a:moveTo>
                <a:lnTo>
                  <a:pt x="113593" y="56796"/>
                </a:lnTo>
                <a:close/>
                <a:lnTo>
                  <a:pt x="56797" y="0"/>
                </a:lnTo>
                <a:close/>
                <a:lnTo>
                  <a:pt x="0" y="56796"/>
                </a:lnTo>
                <a:close/>
                <a:lnTo>
                  <a:pt x="56797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4933023" y="3649593"/>
            <a:ext cx="1346200" cy="328961"/>
          </a:xfrm>
          <a:custGeom>
            <a:avLst/>
            <a:gdLst/>
            <a:ahLst/>
            <a:cxnLst/>
            <a:rect l="l" t="t" r="r" b="b"/>
            <a:pathLst>
              <a:path w="1346200" h="328961">
                <a:moveTo>
                  <a:pt x="20320" y="328961"/>
                </a:moveTo>
                <a:lnTo>
                  <a:pt x="1325880" y="328961"/>
                </a:lnTo>
                <a:close/>
                <a:lnTo>
                  <a:pt x="1341120" y="323881"/>
                </a:lnTo>
                <a:close/>
                <a:lnTo>
                  <a:pt x="1346200" y="308641"/>
                </a:lnTo>
                <a:close/>
                <a:lnTo>
                  <a:pt x="1346200" y="20320"/>
                </a:lnTo>
                <a:close/>
                <a:lnTo>
                  <a:pt x="1341120" y="5080"/>
                </a:lnTo>
                <a:close/>
                <a:lnTo>
                  <a:pt x="132588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641"/>
                </a:lnTo>
                <a:close/>
                <a:lnTo>
                  <a:pt x="5080" y="323881"/>
                </a:lnTo>
                <a:close/>
                <a:lnTo>
                  <a:pt x="20320" y="328961"/>
                </a:lnTo>
                <a:close/>
                <a:lnTo>
                  <a:pt x="20320" y="32896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Freeform 83"/>
          <p:cNvSpPr/>
          <p:nvPr/>
        </p:nvSpPr>
        <p:spPr>
          <a:xfrm>
            <a:off x="5018467" y="3683967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258143" y="3665833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 (L0) S1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973663" y="3845458"/>
            <a:ext cx="203200" cy="71120"/>
          </a:xfrm>
          <a:prstGeom prst="rect">
            <a:avLst/>
          </a:prstGeom>
          <a:solidFill>
            <a:srgbClr val="CCCCCC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258143" y="3814978"/>
            <a:ext cx="12598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 (L2) S1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287483" y="932688"/>
            <a:ext cx="5247308" cy="30966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555355" y="3683520"/>
            <a:ext cx="17495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555355" y="3310652"/>
            <a:ext cx="17789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555355" y="2937784"/>
            <a:ext cx="27069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555355" y="2564916"/>
            <a:ext cx="3203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555355" y="2192049"/>
            <a:ext cx="54506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55355" y="1819181"/>
            <a:ext cx="112038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7555355" y="1446313"/>
            <a:ext cx="1057948" cy="205077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555355" y="1073446"/>
            <a:ext cx="4128528" cy="205077"/>
          </a:xfrm>
          <a:prstGeom prst="rect">
            <a:avLst/>
          </a:prstGeom>
          <a:solidFill>
            <a:srgbClr val="C0392B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7555355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454370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99" name="Freeform 98"/>
          <p:cNvSpPr/>
          <p:nvPr/>
        </p:nvSpPr>
        <p:spPr>
          <a:xfrm>
            <a:off x="8626842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525857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0.2</a:t>
            </a:r>
          </a:p>
        </p:txBody>
      </p:sp>
      <p:sp>
        <p:nvSpPr>
          <p:cNvPr id="101" name="Freeform 100"/>
          <p:cNvSpPr/>
          <p:nvPr/>
        </p:nvSpPr>
        <p:spPr>
          <a:xfrm>
            <a:off x="9698328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597344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0.4</a:t>
            </a:r>
          </a:p>
        </p:txBody>
      </p:sp>
      <p:sp>
        <p:nvSpPr>
          <p:cNvPr id="103" name="Freeform 102"/>
          <p:cNvSpPr/>
          <p:nvPr/>
        </p:nvSpPr>
        <p:spPr>
          <a:xfrm>
            <a:off x="10769815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668830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0.6</a:t>
            </a:r>
          </a:p>
        </p:txBody>
      </p:sp>
      <p:sp>
        <p:nvSpPr>
          <p:cNvPr id="105" name="Freeform 104"/>
          <p:cNvSpPr/>
          <p:nvPr/>
        </p:nvSpPr>
        <p:spPr>
          <a:xfrm>
            <a:off x="11841302" y="4029354"/>
            <a:ext cx="0" cy="44450"/>
          </a:xfrm>
          <a:custGeom>
            <a:avLst/>
            <a:gdLst/>
            <a:ahLst/>
            <a:cxnLst/>
            <a:rect l="l" t="t" r="r" b="b"/>
            <a:pathLst>
              <a:path w="0" h="44450">
                <a:moveTo>
                  <a:pt x="0" y="0"/>
                </a:moveTo>
                <a:lnTo>
                  <a:pt x="0" y="4445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1740317" y="4087755"/>
            <a:ext cx="3556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0.8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803697" y="4261467"/>
            <a:ext cx="2794000" cy="1905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000" b="0" i="0">
                <a:solidFill>
                  <a:srgbClr val="000000"/>
                </a:solidFill>
                <a:latin typeface="Arial"/>
              </a:rPr>
              <a:t>First-order Sobol index S1 (90% CI)</a:t>
            </a:r>
          </a:p>
        </p:txBody>
      </p:sp>
      <p:sp>
        <p:nvSpPr>
          <p:cNvPr id="108" name="Freeform 107"/>
          <p:cNvSpPr/>
          <p:nvPr/>
        </p:nvSpPr>
        <p:spPr>
          <a:xfrm>
            <a:off x="7243033" y="3786058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807804" y="3719129"/>
            <a:ext cx="56134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E slope</a:t>
            </a:r>
          </a:p>
        </p:txBody>
      </p:sp>
      <p:sp>
        <p:nvSpPr>
          <p:cNvPr id="110" name="Freeform 109"/>
          <p:cNvSpPr/>
          <p:nvPr/>
        </p:nvSpPr>
        <p:spPr>
          <a:xfrm>
            <a:off x="7243033" y="341319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607017" y="3346261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E intercept</a:t>
            </a:r>
          </a:p>
        </p:txBody>
      </p:sp>
      <p:sp>
        <p:nvSpPr>
          <p:cNvPr id="112" name="Freeform 111"/>
          <p:cNvSpPr/>
          <p:nvPr/>
        </p:nvSpPr>
        <p:spPr>
          <a:xfrm>
            <a:off x="7243033" y="3040323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69921" y="2973394"/>
            <a:ext cx="101473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kslope (SS316)</a:t>
            </a:r>
          </a:p>
        </p:txBody>
      </p:sp>
      <p:sp>
        <p:nvSpPr>
          <p:cNvPr id="114" name="Freeform 113"/>
          <p:cNvSpPr/>
          <p:nvPr/>
        </p:nvSpPr>
        <p:spPr>
          <a:xfrm>
            <a:off x="7243033" y="2667455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6563837" y="2600518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Tref (SS316)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7243033" y="2294587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567076" y="2227650"/>
            <a:ext cx="88519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kref (SS316)</a:t>
            </a:r>
          </a:p>
        </p:txBody>
      </p:sp>
      <p:sp>
        <p:nvSpPr>
          <p:cNvPr id="118" name="Freeform 117"/>
          <p:cNvSpPr/>
          <p:nvPr/>
        </p:nvSpPr>
        <p:spPr>
          <a:xfrm>
            <a:off x="7243033" y="1921720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695536" y="1854782"/>
            <a:ext cx="69088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0">
                <a:solidFill>
                  <a:srgbClr val="000000"/>
                </a:solidFill>
                <a:latin typeface="Arial"/>
              </a:rPr>
              <a:t>Poisson ν</a:t>
            </a:r>
          </a:p>
        </p:txBody>
      </p:sp>
      <p:sp>
        <p:nvSpPr>
          <p:cNvPr id="120" name="Freeform 119"/>
          <p:cNvSpPr/>
          <p:nvPr/>
        </p:nvSpPr>
        <p:spPr>
          <a:xfrm>
            <a:off x="7243033" y="1548852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923311" y="1476407"/>
            <a:ext cx="49657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αslope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7243033" y="1175984"/>
            <a:ext cx="44450" cy="0"/>
          </a:xfrm>
          <a:custGeom>
            <a:avLst/>
            <a:gdLst/>
            <a:ahLst/>
            <a:cxnLst/>
            <a:rect l="l" t="t" r="r" b="b"/>
            <a:pathLst>
              <a:path w="44450" h="0">
                <a:moveTo>
                  <a:pt x="44450" y="0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43821" y="1109047"/>
            <a:ext cx="43180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0" i="1">
                <a:solidFill>
                  <a:srgbClr val="000000"/>
                </a:solidFill>
                <a:latin typeface="Arial"/>
              </a:rPr>
              <a:t>αbase</a:t>
            </a:r>
          </a:p>
        </p:txBody>
      </p:sp>
      <p:sp>
        <p:nvSpPr>
          <p:cNvPr id="124" name="Freeform 123"/>
          <p:cNvSpPr/>
          <p:nvPr/>
        </p:nvSpPr>
        <p:spPr>
          <a:xfrm>
            <a:off x="7556079" y="3786058"/>
            <a:ext cx="33541" cy="0"/>
          </a:xfrm>
          <a:custGeom>
            <a:avLst/>
            <a:gdLst/>
            <a:ahLst/>
            <a:cxnLst/>
            <a:rect l="l" t="t" r="r" b="b"/>
            <a:pathLst>
              <a:path w="33541" h="0">
                <a:moveTo>
                  <a:pt x="0" y="0"/>
                </a:moveTo>
                <a:lnTo>
                  <a:pt x="33541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7556151" y="3413190"/>
            <a:ext cx="33986" cy="0"/>
          </a:xfrm>
          <a:custGeom>
            <a:avLst/>
            <a:gdLst/>
            <a:ahLst/>
            <a:cxnLst/>
            <a:rect l="l" t="t" r="r" b="b"/>
            <a:pathLst>
              <a:path w="33986" h="0">
                <a:moveTo>
                  <a:pt x="0" y="0"/>
                </a:moveTo>
                <a:lnTo>
                  <a:pt x="33986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7564673" y="3040323"/>
            <a:ext cx="35502" cy="0"/>
          </a:xfrm>
          <a:custGeom>
            <a:avLst/>
            <a:gdLst/>
            <a:ahLst/>
            <a:cxnLst/>
            <a:rect l="l" t="t" r="r" b="b"/>
            <a:pathLst>
              <a:path w="35502" h="0">
                <a:moveTo>
                  <a:pt x="0" y="0"/>
                </a:moveTo>
                <a:lnTo>
                  <a:pt x="35502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7570174" y="2667455"/>
            <a:ext cx="34433" cy="0"/>
          </a:xfrm>
          <a:custGeom>
            <a:avLst/>
            <a:gdLst/>
            <a:ahLst/>
            <a:cxnLst/>
            <a:rect l="l" t="t" r="r" b="b"/>
            <a:pathLst>
              <a:path w="34433" h="0">
                <a:moveTo>
                  <a:pt x="0" y="0"/>
                </a:moveTo>
                <a:lnTo>
                  <a:pt x="34433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7592430" y="2294587"/>
            <a:ext cx="34862" cy="0"/>
          </a:xfrm>
          <a:custGeom>
            <a:avLst/>
            <a:gdLst/>
            <a:ahLst/>
            <a:cxnLst/>
            <a:rect l="l" t="t" r="r" b="b"/>
            <a:pathLst>
              <a:path w="34862" h="0">
                <a:moveTo>
                  <a:pt x="0" y="0"/>
                </a:moveTo>
                <a:lnTo>
                  <a:pt x="34862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7649677" y="1921720"/>
            <a:ext cx="35432" cy="0"/>
          </a:xfrm>
          <a:custGeom>
            <a:avLst/>
            <a:gdLst/>
            <a:ahLst/>
            <a:cxnLst/>
            <a:rect l="l" t="t" r="r" b="b"/>
            <a:pathLst>
              <a:path w="35432" h="0">
                <a:moveTo>
                  <a:pt x="0" y="0"/>
                </a:moveTo>
                <a:lnTo>
                  <a:pt x="35432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8598825" y="1548852"/>
            <a:ext cx="28956" cy="0"/>
          </a:xfrm>
          <a:custGeom>
            <a:avLst/>
            <a:gdLst/>
            <a:ahLst/>
            <a:cxnLst/>
            <a:rect l="l" t="t" r="r" b="b"/>
            <a:pathLst>
              <a:path w="28956" h="0">
                <a:moveTo>
                  <a:pt x="0" y="0"/>
                </a:moveTo>
                <a:lnTo>
                  <a:pt x="28956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11678147" y="1175984"/>
            <a:ext cx="11471" cy="0"/>
          </a:xfrm>
          <a:custGeom>
            <a:avLst/>
            <a:gdLst/>
            <a:ahLst/>
            <a:cxnLst/>
            <a:rect l="l" t="t" r="r" b="b"/>
            <a:pathLst>
              <a:path w="11471" h="0">
                <a:moveTo>
                  <a:pt x="0" y="0"/>
                </a:moveTo>
                <a:lnTo>
                  <a:pt x="11471" y="0"/>
                </a:lnTo>
                <a:close/>
              </a:path>
            </a:pathLst>
          </a:custGeom>
          <a:noFill/>
          <a:ln w="1397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7556079" y="374795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56151" y="337509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7564673" y="30022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7570174" y="262935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7592430" y="225648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7649677" y="188362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8598825" y="151075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11678147" y="113788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7589620" y="3747958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7590137" y="337509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7600175" y="3002223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Freeform 142"/>
          <p:cNvSpPr/>
          <p:nvPr/>
        </p:nvSpPr>
        <p:spPr>
          <a:xfrm>
            <a:off x="7604607" y="2629355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Freeform 143"/>
          <p:cNvSpPr/>
          <p:nvPr/>
        </p:nvSpPr>
        <p:spPr>
          <a:xfrm>
            <a:off x="7627292" y="2256487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Freeform 144"/>
          <p:cNvSpPr/>
          <p:nvPr/>
        </p:nvSpPr>
        <p:spPr>
          <a:xfrm>
            <a:off x="7685109" y="1883620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Freeform 145"/>
          <p:cNvSpPr/>
          <p:nvPr/>
        </p:nvSpPr>
        <p:spPr>
          <a:xfrm>
            <a:off x="8627781" y="1510752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Freeform 146"/>
          <p:cNvSpPr/>
          <p:nvPr/>
        </p:nvSpPr>
        <p:spPr>
          <a:xfrm>
            <a:off x="11689618" y="1137884"/>
            <a:ext cx="0" cy="76200"/>
          </a:xfrm>
          <a:custGeom>
            <a:avLst/>
            <a:gdLst/>
            <a:ahLst/>
            <a:cxnLst/>
            <a:rect l="l" t="t" r="r" b="b"/>
            <a:pathLst>
              <a:path w="0" h="76200">
                <a:moveTo>
                  <a:pt x="0" y="76200"/>
                </a:moveTo>
                <a:lnTo>
                  <a:pt x="0" y="0"/>
                </a:lnTo>
                <a:close/>
              </a:path>
            </a:pathLst>
          </a:custGeom>
          <a:solidFill>
            <a:srgbClr val="555555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Freeform 147"/>
          <p:cNvSpPr/>
          <p:nvPr/>
        </p:nvSpPr>
        <p:spPr>
          <a:xfrm>
            <a:off x="7555355" y="932688"/>
            <a:ext cx="0" cy="3096666"/>
          </a:xfrm>
          <a:custGeom>
            <a:avLst/>
            <a:gdLst/>
            <a:ahLst/>
            <a:cxnLst/>
            <a:rect l="l" t="t" r="r" b="b"/>
            <a:pathLst>
              <a:path w="0" h="3096666">
                <a:moveTo>
                  <a:pt x="0" y="3096666"/>
                </a:moveTo>
                <a:lnTo>
                  <a:pt x="0" y="0"/>
                </a:lnTo>
                <a:close/>
              </a:path>
            </a:pathLst>
          </a:custGeom>
          <a:noFill/>
          <a:ln w="762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7287483" y="932688"/>
            <a:ext cx="0" cy="3096666"/>
          </a:xfrm>
          <a:custGeom>
            <a:avLst/>
            <a:gdLst/>
            <a:ahLst/>
            <a:cxnLst/>
            <a:rect l="l" t="t" r="r" b="b"/>
            <a:pathLst>
              <a:path w="0" h="3096666">
                <a:moveTo>
                  <a:pt x="0" y="3096666"/>
                </a:moveTo>
                <a:lnTo>
                  <a:pt x="0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Freeform 149"/>
          <p:cNvSpPr/>
          <p:nvPr/>
        </p:nvSpPr>
        <p:spPr>
          <a:xfrm>
            <a:off x="7287483" y="4029354"/>
            <a:ext cx="5247308" cy="0"/>
          </a:xfrm>
          <a:custGeom>
            <a:avLst/>
            <a:gdLst/>
            <a:ahLst/>
            <a:cxnLst/>
            <a:rect l="l" t="t" r="r" b="b"/>
            <a:pathLst>
              <a:path w="5247308" h="0">
                <a:moveTo>
                  <a:pt x="0" y="0"/>
                </a:moveTo>
                <a:lnTo>
                  <a:pt x="5247308" y="0"/>
                </a:lnTo>
                <a:close/>
              </a:path>
            </a:pathLst>
          </a:custGeom>
          <a:noFill/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1769980" y="1097822"/>
            <a:ext cx="820420" cy="161925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50" b="1" i="0">
                <a:solidFill>
                  <a:srgbClr val="C0392B"/>
                </a:solidFill>
                <a:latin typeface="Arial"/>
              </a:rPr>
              <a:t>L2 S1=0.771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703111" y="614176"/>
            <a:ext cx="731520" cy="17145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900" b="0" i="0">
                <a:solidFill>
                  <a:srgbClr val="000000"/>
                </a:solidFill>
                <a:latin typeface="Arial"/>
              </a:rPr>
              <a:t>(B)  keff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7513592" y="3729262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Freeform 153"/>
          <p:cNvSpPr/>
          <p:nvPr/>
        </p:nvSpPr>
        <p:spPr>
          <a:xfrm>
            <a:off x="7520152" y="3356394"/>
            <a:ext cx="113592" cy="113593"/>
          </a:xfrm>
          <a:custGeom>
            <a:avLst/>
            <a:gdLst/>
            <a:ahLst/>
            <a:cxnLst/>
            <a:rect l="l" t="t" r="r" b="b"/>
            <a:pathLst>
              <a:path w="113592" h="113593">
                <a:moveTo>
                  <a:pt x="56796" y="113593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Freeform 154"/>
          <p:cNvSpPr/>
          <p:nvPr/>
        </p:nvSpPr>
        <p:spPr>
          <a:xfrm>
            <a:off x="7531794" y="2983527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Freeform 155"/>
          <p:cNvSpPr/>
          <p:nvPr/>
        </p:nvSpPr>
        <p:spPr>
          <a:xfrm>
            <a:off x="7531839" y="2610659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Freeform 156"/>
          <p:cNvSpPr/>
          <p:nvPr/>
        </p:nvSpPr>
        <p:spPr>
          <a:xfrm>
            <a:off x="7544285" y="2237791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7581703" y="1864923"/>
            <a:ext cx="113592" cy="113593"/>
          </a:xfrm>
          <a:custGeom>
            <a:avLst/>
            <a:gdLst/>
            <a:ahLst/>
            <a:cxnLst/>
            <a:rect l="l" t="t" r="r" b="b"/>
            <a:pathLst>
              <a:path w="113592" h="113593">
                <a:moveTo>
                  <a:pt x="56796" y="113593"/>
                </a:moveTo>
                <a:lnTo>
                  <a:pt x="113592" y="56797"/>
                </a:lnTo>
                <a:close/>
                <a:lnTo>
                  <a:pt x="56796" y="0"/>
                </a:lnTo>
                <a:close/>
                <a:lnTo>
                  <a:pt x="0" y="56797"/>
                </a:lnTo>
                <a:close/>
                <a:lnTo>
                  <a:pt x="56796" y="113593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8369142" y="1492056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Freeform 159"/>
          <p:cNvSpPr/>
          <p:nvPr/>
        </p:nvSpPr>
        <p:spPr>
          <a:xfrm>
            <a:off x="11835103" y="1119188"/>
            <a:ext cx="113592" cy="113592"/>
          </a:xfrm>
          <a:custGeom>
            <a:avLst/>
            <a:gdLst/>
            <a:ahLst/>
            <a:cxnLst/>
            <a:rect l="l" t="t" r="r" b="b"/>
            <a:pathLst>
              <a:path w="113592" h="113592">
                <a:moveTo>
                  <a:pt x="56796" y="113592"/>
                </a:moveTo>
                <a:lnTo>
                  <a:pt x="113592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Freeform 160"/>
          <p:cNvSpPr/>
          <p:nvPr/>
        </p:nvSpPr>
        <p:spPr>
          <a:xfrm>
            <a:off x="11137791" y="3649593"/>
            <a:ext cx="1346200" cy="328961"/>
          </a:xfrm>
          <a:custGeom>
            <a:avLst/>
            <a:gdLst/>
            <a:ahLst/>
            <a:cxnLst/>
            <a:rect l="l" t="t" r="r" b="b"/>
            <a:pathLst>
              <a:path w="1346200" h="328961">
                <a:moveTo>
                  <a:pt x="20320" y="328961"/>
                </a:moveTo>
                <a:lnTo>
                  <a:pt x="1325880" y="328961"/>
                </a:lnTo>
                <a:close/>
                <a:lnTo>
                  <a:pt x="1341120" y="323881"/>
                </a:lnTo>
                <a:close/>
                <a:lnTo>
                  <a:pt x="1346200" y="308641"/>
                </a:lnTo>
                <a:close/>
                <a:lnTo>
                  <a:pt x="1346200" y="20320"/>
                </a:lnTo>
                <a:close/>
                <a:lnTo>
                  <a:pt x="1341120" y="5080"/>
                </a:lnTo>
                <a:close/>
                <a:lnTo>
                  <a:pt x="1325880" y="0"/>
                </a:lnTo>
                <a:close/>
                <a:lnTo>
                  <a:pt x="20320" y="0"/>
                </a:lnTo>
                <a:close/>
                <a:lnTo>
                  <a:pt x="5080" y="5080"/>
                </a:lnTo>
                <a:close/>
                <a:lnTo>
                  <a:pt x="0" y="20320"/>
                </a:lnTo>
                <a:close/>
                <a:lnTo>
                  <a:pt x="0" y="308641"/>
                </a:lnTo>
                <a:close/>
                <a:lnTo>
                  <a:pt x="5080" y="323881"/>
                </a:lnTo>
                <a:close/>
                <a:lnTo>
                  <a:pt x="20320" y="328961"/>
                </a:lnTo>
                <a:close/>
                <a:lnTo>
                  <a:pt x="20320" y="328961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 w="12700">
            <a:solidFill>
              <a:srgbClr val="CCCCCC">
                <a:alpha val="8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Freeform 161"/>
          <p:cNvSpPr/>
          <p:nvPr/>
        </p:nvSpPr>
        <p:spPr>
          <a:xfrm>
            <a:off x="11223235" y="3683967"/>
            <a:ext cx="113593" cy="113592"/>
          </a:xfrm>
          <a:custGeom>
            <a:avLst/>
            <a:gdLst/>
            <a:ahLst/>
            <a:cxnLst/>
            <a:rect l="l" t="t" r="r" b="b"/>
            <a:pathLst>
              <a:path w="113593" h="113592">
                <a:moveTo>
                  <a:pt x="56796" y="113592"/>
                </a:moveTo>
                <a:lnTo>
                  <a:pt x="113593" y="56796"/>
                </a:lnTo>
                <a:close/>
                <a:lnTo>
                  <a:pt x="56796" y="0"/>
                </a:lnTo>
                <a:close/>
                <a:lnTo>
                  <a:pt x="0" y="56796"/>
                </a:lnTo>
                <a:close/>
                <a:lnTo>
                  <a:pt x="56796" y="113592"/>
                </a:lnTo>
                <a:close/>
              </a:path>
            </a:pathLst>
          </a:custGeom>
          <a:solidFill>
            <a:srgbClr val="888888"/>
          </a:solidFill>
          <a:ln w="1270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1462911" y="3665833"/>
            <a:ext cx="107696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Baseline (L0) S1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1178431" y="3845458"/>
            <a:ext cx="203200" cy="71120"/>
          </a:xfrm>
          <a:prstGeom prst="rect">
            <a:avLst/>
          </a:prstGeom>
          <a:solidFill>
            <a:srgbClr val="AED9E0"/>
          </a:solidFill>
          <a:ln w="508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1462911" y="3814978"/>
            <a:ext cx="1259840" cy="1524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Regularized (L2) S1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484119" y="55507"/>
            <a:ext cx="6461760" cy="228600"/>
          </a:xfrm>
          <a:prstGeom prst="rect">
            <a:avLst/>
          </a:prstGeom>
          <a:noFill/>
        </p:spPr>
        <p:txBody>
          <a:bodyPr wrap="none" lIns="0" rIns="0" tIns="0" bIns="0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Figure 4 (v2) | Effect of physics regularization on Sobol attribution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