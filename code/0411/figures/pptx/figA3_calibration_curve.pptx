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53592" cy="3811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53592" cy="3811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6022" y="608990"/>
            <a:ext cx="3922903" cy="2725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12649" y="749960"/>
            <a:ext cx="3352299" cy="2336685"/>
          </a:xfrm>
          <a:custGeom>
            <a:avLst/>
            <a:gdLst/>
            <a:ahLst/>
            <a:cxnLst/>
            <a:rect l="l" t="t" r="r" b="b"/>
            <a:pathLst>
              <a:path w="3352299" h="2336685">
                <a:moveTo>
                  <a:pt x="0" y="2306782"/>
                </a:moveTo>
                <a:lnTo>
                  <a:pt x="0" y="2336685"/>
                </a:lnTo>
                <a:close/>
                <a:lnTo>
                  <a:pt x="115597" y="2256375"/>
                </a:lnTo>
                <a:close/>
                <a:lnTo>
                  <a:pt x="231193" y="2176065"/>
                </a:lnTo>
                <a:close/>
                <a:lnTo>
                  <a:pt x="346790" y="2095754"/>
                </a:lnTo>
                <a:close/>
                <a:lnTo>
                  <a:pt x="462386" y="2015444"/>
                </a:lnTo>
                <a:close/>
                <a:lnTo>
                  <a:pt x="577983" y="1935134"/>
                </a:lnTo>
                <a:close/>
                <a:lnTo>
                  <a:pt x="693580" y="1854824"/>
                </a:lnTo>
                <a:close/>
                <a:lnTo>
                  <a:pt x="809176" y="1774514"/>
                </a:lnTo>
                <a:close/>
                <a:lnTo>
                  <a:pt x="924773" y="1694203"/>
                </a:lnTo>
                <a:close/>
                <a:lnTo>
                  <a:pt x="1040369" y="1613893"/>
                </a:lnTo>
                <a:close/>
                <a:lnTo>
                  <a:pt x="1155966" y="1533583"/>
                </a:lnTo>
                <a:close/>
                <a:lnTo>
                  <a:pt x="1271562" y="1453273"/>
                </a:lnTo>
                <a:close/>
                <a:lnTo>
                  <a:pt x="1387159" y="1372963"/>
                </a:lnTo>
                <a:close/>
                <a:lnTo>
                  <a:pt x="1502755" y="1292653"/>
                </a:lnTo>
                <a:close/>
                <a:lnTo>
                  <a:pt x="1618352" y="1212342"/>
                </a:lnTo>
                <a:close/>
                <a:lnTo>
                  <a:pt x="1733948" y="1132032"/>
                </a:lnTo>
                <a:close/>
                <a:lnTo>
                  <a:pt x="1849545" y="1051722"/>
                </a:lnTo>
                <a:close/>
                <a:lnTo>
                  <a:pt x="1965141" y="971412"/>
                </a:lnTo>
                <a:close/>
                <a:lnTo>
                  <a:pt x="2080738" y="891102"/>
                </a:lnTo>
                <a:close/>
                <a:lnTo>
                  <a:pt x="2196334" y="810791"/>
                </a:lnTo>
                <a:close/>
                <a:lnTo>
                  <a:pt x="2311931" y="730481"/>
                </a:lnTo>
                <a:close/>
                <a:lnTo>
                  <a:pt x="2427527" y="650171"/>
                </a:lnTo>
                <a:close/>
                <a:lnTo>
                  <a:pt x="2543124" y="569861"/>
                </a:lnTo>
                <a:close/>
                <a:lnTo>
                  <a:pt x="2658720" y="489551"/>
                </a:lnTo>
                <a:close/>
                <a:lnTo>
                  <a:pt x="2774317" y="409241"/>
                </a:lnTo>
                <a:close/>
                <a:lnTo>
                  <a:pt x="2889913" y="328930"/>
                </a:lnTo>
                <a:close/>
                <a:lnTo>
                  <a:pt x="3005510" y="248620"/>
                </a:lnTo>
                <a:close/>
                <a:lnTo>
                  <a:pt x="3121106" y="168310"/>
                </a:lnTo>
                <a:close/>
                <a:lnTo>
                  <a:pt x="3236703" y="88000"/>
                </a:lnTo>
                <a:close/>
                <a:lnTo>
                  <a:pt x="3352299" y="7690"/>
                </a:lnTo>
                <a:close/>
                <a:lnTo>
                  <a:pt x="3352299" y="0"/>
                </a:lnTo>
                <a:close/>
                <a:lnTo>
                  <a:pt x="3352299" y="0"/>
                </a:lnTo>
                <a:close/>
                <a:lnTo>
                  <a:pt x="3236703" y="62654"/>
                </a:lnTo>
                <a:close/>
                <a:lnTo>
                  <a:pt x="3121106" y="91133"/>
                </a:lnTo>
                <a:close/>
                <a:lnTo>
                  <a:pt x="3005510" y="119611"/>
                </a:lnTo>
                <a:close/>
                <a:lnTo>
                  <a:pt x="2889913" y="159482"/>
                </a:lnTo>
                <a:close/>
                <a:lnTo>
                  <a:pt x="2774317" y="239222"/>
                </a:lnTo>
                <a:close/>
                <a:lnTo>
                  <a:pt x="2658720" y="262005"/>
                </a:lnTo>
                <a:close/>
                <a:lnTo>
                  <a:pt x="2543124" y="330354"/>
                </a:lnTo>
                <a:close/>
                <a:lnTo>
                  <a:pt x="2427527" y="387312"/>
                </a:lnTo>
                <a:close/>
                <a:lnTo>
                  <a:pt x="2311931" y="427182"/>
                </a:lnTo>
                <a:close/>
                <a:lnTo>
                  <a:pt x="2196334" y="489836"/>
                </a:lnTo>
                <a:close/>
                <a:lnTo>
                  <a:pt x="2080738" y="592359"/>
                </a:lnTo>
                <a:close/>
                <a:lnTo>
                  <a:pt x="1965141" y="672100"/>
                </a:lnTo>
                <a:close/>
                <a:lnTo>
                  <a:pt x="1849545" y="746145"/>
                </a:lnTo>
                <a:close/>
                <a:lnTo>
                  <a:pt x="1733948" y="825885"/>
                </a:lnTo>
                <a:close/>
                <a:lnTo>
                  <a:pt x="1618352" y="922713"/>
                </a:lnTo>
                <a:close/>
                <a:lnTo>
                  <a:pt x="1502755" y="985366"/>
                </a:lnTo>
                <a:close/>
                <a:lnTo>
                  <a:pt x="1387159" y="1082194"/>
                </a:lnTo>
                <a:close/>
                <a:lnTo>
                  <a:pt x="1271562" y="1196109"/>
                </a:lnTo>
                <a:close/>
                <a:lnTo>
                  <a:pt x="1155966" y="1298633"/>
                </a:lnTo>
                <a:close/>
                <a:lnTo>
                  <a:pt x="1040369" y="1401157"/>
                </a:lnTo>
                <a:close/>
                <a:lnTo>
                  <a:pt x="924773" y="1492289"/>
                </a:lnTo>
                <a:close/>
                <a:lnTo>
                  <a:pt x="809176" y="1589117"/>
                </a:lnTo>
                <a:close/>
                <a:lnTo>
                  <a:pt x="693580" y="1685945"/>
                </a:lnTo>
                <a:close/>
                <a:lnTo>
                  <a:pt x="577983" y="1765685"/>
                </a:lnTo>
                <a:close/>
                <a:lnTo>
                  <a:pt x="462386" y="1873905"/>
                </a:lnTo>
                <a:close/>
                <a:lnTo>
                  <a:pt x="346790" y="1976428"/>
                </a:lnTo>
                <a:close/>
                <a:lnTo>
                  <a:pt x="231193" y="2141605"/>
                </a:lnTo>
                <a:close/>
                <a:lnTo>
                  <a:pt x="115597" y="2227042"/>
                </a:lnTo>
                <a:close/>
                <a:lnTo>
                  <a:pt x="0" y="2306782"/>
                </a:lnTo>
                <a:close/>
                <a:lnTo>
                  <a:pt x="0" y="2306782"/>
                </a:lnTo>
                <a:close/>
              </a:path>
            </a:pathLst>
          </a:custGeom>
          <a:solidFill>
            <a:srgbClr val="57A773">
              <a:alpha val="15000"/>
            </a:srgbClr>
          </a:solidFill>
          <a:ln w="12700">
            <a:solidFill>
              <a:srgbClr val="57A773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34336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351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7" name="Freeform 6"/>
          <p:cNvSpPr/>
          <p:nvPr/>
        </p:nvSpPr>
        <p:spPr>
          <a:xfrm>
            <a:off x="144759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6606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9" name="Freeform 8"/>
          <p:cNvSpPr/>
          <p:nvPr/>
        </p:nvSpPr>
        <p:spPr>
          <a:xfrm>
            <a:off x="2160846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9861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1" name="Freeform 10"/>
          <p:cNvSpPr/>
          <p:nvPr/>
        </p:nvSpPr>
        <p:spPr>
          <a:xfrm>
            <a:off x="287410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3116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3" name="Freeform 12"/>
          <p:cNvSpPr/>
          <p:nvPr/>
        </p:nvSpPr>
        <p:spPr>
          <a:xfrm>
            <a:off x="3587356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6371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5" name="Freeform 14"/>
          <p:cNvSpPr/>
          <p:nvPr/>
        </p:nvSpPr>
        <p:spPr>
          <a:xfrm>
            <a:off x="430061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9626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9812" y="3566523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Nominal coverage</a:t>
            </a:r>
          </a:p>
        </p:txBody>
      </p:sp>
      <p:sp>
        <p:nvSpPr>
          <p:cNvPr id="18" name="Freeform 17"/>
          <p:cNvSpPr/>
          <p:nvPr/>
        </p:nvSpPr>
        <p:spPr>
          <a:xfrm>
            <a:off x="511572" y="32105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52" y="313177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0" name="Freeform 19"/>
          <p:cNvSpPr/>
          <p:nvPr/>
        </p:nvSpPr>
        <p:spPr>
          <a:xfrm>
            <a:off x="511572" y="27149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52" y="263624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2" name="Freeform 21"/>
          <p:cNvSpPr/>
          <p:nvPr/>
        </p:nvSpPr>
        <p:spPr>
          <a:xfrm>
            <a:off x="511572" y="22194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52" y="214071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4" name="Freeform 23"/>
          <p:cNvSpPr/>
          <p:nvPr/>
        </p:nvSpPr>
        <p:spPr>
          <a:xfrm>
            <a:off x="511572" y="172393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52" y="164518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6" name="Freeform 25"/>
          <p:cNvSpPr/>
          <p:nvPr/>
        </p:nvSpPr>
        <p:spPr>
          <a:xfrm>
            <a:off x="511572" y="12284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52" y="114965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8" name="Freeform 27"/>
          <p:cNvSpPr/>
          <p:nvPr/>
        </p:nvSpPr>
        <p:spPr>
          <a:xfrm>
            <a:off x="511572" y="7328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52" y="65412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2690" y="1648237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Empirical coverage (PICP)</a:t>
            </a:r>
          </a:p>
        </p:txBody>
      </p:sp>
      <p:sp>
        <p:nvSpPr>
          <p:cNvPr id="31" name="Freeform 30"/>
          <p:cNvSpPr/>
          <p:nvPr/>
        </p:nvSpPr>
        <p:spPr>
          <a:xfrm>
            <a:off x="912649" y="749960"/>
            <a:ext cx="3352299" cy="2306782"/>
          </a:xfrm>
          <a:custGeom>
            <a:avLst/>
            <a:gdLst/>
            <a:ahLst/>
            <a:cxnLst/>
            <a:rect l="l" t="t" r="r" b="b"/>
            <a:pathLst>
              <a:path w="3352299" h="2306782">
                <a:moveTo>
                  <a:pt x="0" y="2306782"/>
                </a:moveTo>
                <a:lnTo>
                  <a:pt x="115597" y="2227042"/>
                </a:lnTo>
                <a:close/>
                <a:lnTo>
                  <a:pt x="231193" y="2141605"/>
                </a:lnTo>
                <a:close/>
                <a:lnTo>
                  <a:pt x="346790" y="1976428"/>
                </a:lnTo>
                <a:close/>
                <a:lnTo>
                  <a:pt x="462386" y="1873905"/>
                </a:lnTo>
                <a:close/>
                <a:lnTo>
                  <a:pt x="577983" y="1765685"/>
                </a:lnTo>
                <a:close/>
                <a:lnTo>
                  <a:pt x="693580" y="1685945"/>
                </a:lnTo>
                <a:close/>
                <a:lnTo>
                  <a:pt x="809176" y="1589117"/>
                </a:lnTo>
                <a:close/>
                <a:lnTo>
                  <a:pt x="924773" y="1492289"/>
                </a:lnTo>
                <a:close/>
                <a:lnTo>
                  <a:pt x="1040369" y="1401157"/>
                </a:lnTo>
                <a:close/>
                <a:lnTo>
                  <a:pt x="1155966" y="1298633"/>
                </a:lnTo>
                <a:close/>
                <a:lnTo>
                  <a:pt x="1271562" y="1196109"/>
                </a:lnTo>
                <a:close/>
                <a:lnTo>
                  <a:pt x="1387159" y="1082194"/>
                </a:lnTo>
                <a:close/>
                <a:lnTo>
                  <a:pt x="1502755" y="985366"/>
                </a:lnTo>
                <a:close/>
                <a:lnTo>
                  <a:pt x="1618352" y="922713"/>
                </a:lnTo>
                <a:close/>
                <a:lnTo>
                  <a:pt x="1733948" y="825885"/>
                </a:lnTo>
                <a:close/>
                <a:lnTo>
                  <a:pt x="1849545" y="746145"/>
                </a:lnTo>
                <a:close/>
                <a:lnTo>
                  <a:pt x="1965141" y="672100"/>
                </a:lnTo>
                <a:close/>
                <a:lnTo>
                  <a:pt x="2080738" y="592359"/>
                </a:lnTo>
                <a:close/>
                <a:lnTo>
                  <a:pt x="2196334" y="489836"/>
                </a:lnTo>
                <a:close/>
                <a:lnTo>
                  <a:pt x="2311931" y="427182"/>
                </a:lnTo>
                <a:close/>
                <a:lnTo>
                  <a:pt x="2427527" y="387312"/>
                </a:lnTo>
                <a:close/>
                <a:lnTo>
                  <a:pt x="2543124" y="330354"/>
                </a:lnTo>
                <a:close/>
                <a:lnTo>
                  <a:pt x="2658720" y="262005"/>
                </a:lnTo>
                <a:close/>
                <a:lnTo>
                  <a:pt x="2774317" y="239222"/>
                </a:lnTo>
                <a:close/>
                <a:lnTo>
                  <a:pt x="2889913" y="159482"/>
                </a:lnTo>
                <a:close/>
                <a:lnTo>
                  <a:pt x="3005510" y="119611"/>
                </a:lnTo>
                <a:close/>
                <a:lnTo>
                  <a:pt x="3121106" y="91133"/>
                </a:lnTo>
                <a:close/>
                <a:lnTo>
                  <a:pt x="3236703" y="62654"/>
                </a:lnTo>
                <a:close/>
                <a:lnTo>
                  <a:pt x="3352299" y="0"/>
                </a:lnTo>
                <a:close/>
              </a:path>
            </a:pathLst>
          </a:custGeom>
          <a:noFill/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34336" y="732873"/>
            <a:ext cx="3566275" cy="2477655"/>
          </a:xfrm>
          <a:custGeom>
            <a:avLst/>
            <a:gdLst/>
            <a:ahLst/>
            <a:cxnLst/>
            <a:rect l="l" t="t" r="r" b="b"/>
            <a:pathLst>
              <a:path w="3566275" h="2477655">
                <a:moveTo>
                  <a:pt x="0" y="2477655"/>
                </a:moveTo>
                <a:lnTo>
                  <a:pt x="3566275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6022" y="608990"/>
            <a:ext cx="0" cy="2725420"/>
          </a:xfrm>
          <a:custGeom>
            <a:avLst/>
            <a:gdLst/>
            <a:ahLst/>
            <a:cxnLst/>
            <a:rect l="l" t="t" r="r" b="b"/>
            <a:pathLst>
              <a:path w="0" h="2725420">
                <a:moveTo>
                  <a:pt x="0" y="272542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56022" y="3334410"/>
            <a:ext cx="3922903" cy="0"/>
          </a:xfrm>
          <a:custGeom>
            <a:avLst/>
            <a:gdLst/>
            <a:ahLst/>
            <a:cxnLst/>
            <a:rect l="l" t="t" r="r" b="b"/>
            <a:pathLst>
              <a:path w="3922903" h="0">
                <a:moveTo>
                  <a:pt x="0" y="0"/>
                </a:moveTo>
                <a:lnTo>
                  <a:pt x="392290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63307" y="412140"/>
            <a:ext cx="19304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Coverage calibration</a:t>
            </a:r>
          </a:p>
        </p:txBody>
      </p:sp>
      <p:sp>
        <p:nvSpPr>
          <p:cNvPr id="36" name="Freeform 35"/>
          <p:cNvSpPr/>
          <p:nvPr/>
        </p:nvSpPr>
        <p:spPr>
          <a:xfrm>
            <a:off x="606822" y="659790"/>
            <a:ext cx="1484360" cy="477870"/>
          </a:xfrm>
          <a:custGeom>
            <a:avLst/>
            <a:gdLst/>
            <a:ahLst/>
            <a:cxnLst/>
            <a:rect l="l" t="t" r="r" b="b"/>
            <a:pathLst>
              <a:path w="1484360" h="477870">
                <a:moveTo>
                  <a:pt x="20320" y="477870"/>
                </a:moveTo>
                <a:lnTo>
                  <a:pt x="1464040" y="477870"/>
                </a:lnTo>
                <a:close/>
                <a:lnTo>
                  <a:pt x="1479280" y="472790"/>
                </a:lnTo>
                <a:close/>
                <a:lnTo>
                  <a:pt x="1484360" y="457550"/>
                </a:lnTo>
                <a:close/>
                <a:lnTo>
                  <a:pt x="1484360" y="20320"/>
                </a:lnTo>
                <a:close/>
                <a:lnTo>
                  <a:pt x="1479280" y="5080"/>
                </a:lnTo>
                <a:close/>
                <a:lnTo>
                  <a:pt x="146404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457550"/>
                </a:lnTo>
                <a:close/>
                <a:lnTo>
                  <a:pt x="5080" y="472790"/>
                </a:lnTo>
                <a:close/>
                <a:lnTo>
                  <a:pt x="20320" y="477870"/>
                </a:lnTo>
                <a:close/>
                <a:lnTo>
                  <a:pt x="20320" y="47787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462" y="742071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942" y="676031"/>
            <a:ext cx="13817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 surrogate</a:t>
            </a:r>
          </a:p>
        </p:txBody>
      </p:sp>
      <p:sp>
        <p:nvSpPr>
          <p:cNvPr id="39" name="Freeform 38"/>
          <p:cNvSpPr/>
          <p:nvPr/>
        </p:nvSpPr>
        <p:spPr>
          <a:xfrm>
            <a:off x="647462" y="89120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1942" y="825160"/>
            <a:ext cx="4064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Ideal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462" y="1004770"/>
            <a:ext cx="203200" cy="71120"/>
          </a:xfrm>
          <a:prstGeom prst="rect">
            <a:avLst/>
          </a:prstGeom>
          <a:solidFill>
            <a:srgbClr val="57A773">
              <a:alpha val="15000"/>
            </a:srgbClr>
          </a:solidFill>
          <a:ln w="12700">
            <a:solidFill>
              <a:srgbClr val="57A773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1942" y="974290"/>
            <a:ext cx="13817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Over-confident region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39249" y="608990"/>
            <a:ext cx="3922903" cy="2725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786649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85664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6" name="Freeform 45"/>
          <p:cNvSpPr/>
          <p:nvPr/>
        </p:nvSpPr>
        <p:spPr>
          <a:xfrm>
            <a:off x="6545431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4446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8" name="Freeform 47"/>
          <p:cNvSpPr/>
          <p:nvPr/>
        </p:nvSpPr>
        <p:spPr>
          <a:xfrm>
            <a:off x="7304213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3228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50" name="Freeform 49"/>
          <p:cNvSpPr/>
          <p:nvPr/>
        </p:nvSpPr>
        <p:spPr>
          <a:xfrm>
            <a:off x="8062995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62010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52" name="Freeform 51"/>
          <p:cNvSpPr/>
          <p:nvPr/>
        </p:nvSpPr>
        <p:spPr>
          <a:xfrm>
            <a:off x="8821777" y="333441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20792" y="339281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3039" y="3566523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Nominal coverage</a:t>
            </a:r>
          </a:p>
        </p:txBody>
      </p:sp>
      <p:sp>
        <p:nvSpPr>
          <p:cNvPr id="55" name="Freeform 54"/>
          <p:cNvSpPr/>
          <p:nvPr/>
        </p:nvSpPr>
        <p:spPr>
          <a:xfrm>
            <a:off x="4994799" y="32723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69545" y="3193600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7" name="Freeform 56"/>
          <p:cNvSpPr/>
          <p:nvPr/>
        </p:nvSpPr>
        <p:spPr>
          <a:xfrm>
            <a:off x="4994799" y="276493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88741" y="268618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9" name="Freeform 58"/>
          <p:cNvSpPr/>
          <p:nvPr/>
        </p:nvSpPr>
        <p:spPr>
          <a:xfrm>
            <a:off x="4994799" y="22575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88741" y="2178763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1" name="Freeform 60"/>
          <p:cNvSpPr/>
          <p:nvPr/>
        </p:nvSpPr>
        <p:spPr>
          <a:xfrm>
            <a:off x="4994799" y="17500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88741" y="1671345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63" name="Freeform 62"/>
          <p:cNvSpPr/>
          <p:nvPr/>
        </p:nvSpPr>
        <p:spPr>
          <a:xfrm>
            <a:off x="4994799" y="12426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88741" y="1163927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65" name="Freeform 64"/>
          <p:cNvSpPr/>
          <p:nvPr/>
        </p:nvSpPr>
        <p:spPr>
          <a:xfrm>
            <a:off x="4994799" y="7352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88741" y="656508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67" name="TextBox 66"/>
          <p:cNvSpPr txBox="1"/>
          <p:nvPr/>
        </p:nvSpPr>
        <p:spPr>
          <a:xfrm rot="16200000">
            <a:off x="4616279" y="1577703"/>
            <a:ext cx="2870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Mean prediction interval width (MPa)</a:t>
            </a:r>
          </a:p>
        </p:txBody>
      </p:sp>
      <p:sp>
        <p:nvSpPr>
          <p:cNvPr id="68" name="Freeform 67"/>
          <p:cNvSpPr/>
          <p:nvPr/>
        </p:nvSpPr>
        <p:spPr>
          <a:xfrm>
            <a:off x="5217563" y="732873"/>
            <a:ext cx="3566275" cy="2477655"/>
          </a:xfrm>
          <a:custGeom>
            <a:avLst/>
            <a:gdLst/>
            <a:ahLst/>
            <a:cxnLst/>
            <a:rect l="l" t="t" r="r" b="b"/>
            <a:pathLst>
              <a:path w="3566275" h="2477655">
                <a:moveTo>
                  <a:pt x="0" y="2477655"/>
                </a:moveTo>
                <a:lnTo>
                  <a:pt x="122975" y="2437462"/>
                </a:lnTo>
                <a:close/>
                <a:lnTo>
                  <a:pt x="245950" y="2397099"/>
                </a:lnTo>
                <a:close/>
                <a:lnTo>
                  <a:pt x="368925" y="2356496"/>
                </a:lnTo>
                <a:close/>
                <a:lnTo>
                  <a:pt x="491900" y="2315580"/>
                </a:lnTo>
                <a:close/>
                <a:lnTo>
                  <a:pt x="614875" y="2274275"/>
                </a:lnTo>
                <a:close/>
                <a:lnTo>
                  <a:pt x="737850" y="2232498"/>
                </a:lnTo>
                <a:close/>
                <a:lnTo>
                  <a:pt x="860825" y="2190163"/>
                </a:lnTo>
                <a:close/>
                <a:lnTo>
                  <a:pt x="983800" y="2147173"/>
                </a:lnTo>
                <a:close/>
                <a:lnTo>
                  <a:pt x="1106775" y="2103424"/>
                </a:lnTo>
                <a:close/>
                <a:lnTo>
                  <a:pt x="1229750" y="2058798"/>
                </a:lnTo>
                <a:close/>
                <a:lnTo>
                  <a:pt x="1352725" y="2013165"/>
                </a:lnTo>
                <a:close/>
                <a:lnTo>
                  <a:pt x="1475700" y="1966375"/>
                </a:lnTo>
                <a:close/>
                <a:lnTo>
                  <a:pt x="1598675" y="1918256"/>
                </a:lnTo>
                <a:close/>
                <a:lnTo>
                  <a:pt x="1721650" y="1868610"/>
                </a:lnTo>
                <a:close/>
                <a:lnTo>
                  <a:pt x="1844625" y="1817201"/>
                </a:lnTo>
                <a:close/>
                <a:lnTo>
                  <a:pt x="1967600" y="1763748"/>
                </a:lnTo>
                <a:close/>
                <a:lnTo>
                  <a:pt x="2090575" y="1707910"/>
                </a:lnTo>
                <a:close/>
                <a:lnTo>
                  <a:pt x="2213550" y="1649269"/>
                </a:lnTo>
                <a:close/>
                <a:lnTo>
                  <a:pt x="2336525" y="1587294"/>
                </a:lnTo>
                <a:close/>
                <a:lnTo>
                  <a:pt x="2459500" y="1521309"/>
                </a:lnTo>
                <a:close/>
                <a:lnTo>
                  <a:pt x="2582475" y="1450414"/>
                </a:lnTo>
                <a:close/>
                <a:lnTo>
                  <a:pt x="2705450" y="1373390"/>
                </a:lnTo>
                <a:close/>
                <a:lnTo>
                  <a:pt x="2828425" y="1288501"/>
                </a:lnTo>
                <a:close/>
                <a:lnTo>
                  <a:pt x="2951400" y="1193163"/>
                </a:lnTo>
                <a:close/>
                <a:lnTo>
                  <a:pt x="3074375" y="1083246"/>
                </a:lnTo>
                <a:close/>
                <a:lnTo>
                  <a:pt x="3197350" y="951492"/>
                </a:lnTo>
                <a:close/>
                <a:lnTo>
                  <a:pt x="3320325" y="783100"/>
                </a:lnTo>
                <a:close/>
                <a:lnTo>
                  <a:pt x="3443300" y="538681"/>
                </a:lnTo>
                <a:close/>
                <a:lnTo>
                  <a:pt x="3566275" y="0"/>
                </a:lnTo>
                <a:close/>
              </a:path>
            </a:pathLst>
          </a:custGeom>
          <a:noFill/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5039249" y="608990"/>
            <a:ext cx="0" cy="2725420"/>
          </a:xfrm>
          <a:custGeom>
            <a:avLst/>
            <a:gdLst/>
            <a:ahLst/>
            <a:cxnLst/>
            <a:rect l="l" t="t" r="r" b="b"/>
            <a:pathLst>
              <a:path w="0" h="2725420">
                <a:moveTo>
                  <a:pt x="0" y="272542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039249" y="3334410"/>
            <a:ext cx="3922903" cy="0"/>
          </a:xfrm>
          <a:custGeom>
            <a:avLst/>
            <a:gdLst/>
            <a:ahLst/>
            <a:cxnLst/>
            <a:rect l="l" t="t" r="r" b="b"/>
            <a:pathLst>
              <a:path w="3922903" h="0">
                <a:moveTo>
                  <a:pt x="0" y="0"/>
                </a:moveTo>
                <a:lnTo>
                  <a:pt x="392290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71865" y="412140"/>
            <a:ext cx="236474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Interval width vs coverage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40265" y="55507"/>
            <a:ext cx="46329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A3 | Surrogate calibration (stress output)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