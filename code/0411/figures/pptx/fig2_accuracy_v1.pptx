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711247" cy="37815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711247" cy="37815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6463" y="743102"/>
            <a:ext cx="3267795" cy="25510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856009" y="142840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251340" y="254905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099043" y="267481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304083" y="193014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3413" y="297865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2702857" y="157899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222966" y="257228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256394" y="192999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249899" y="194015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35771" y="246301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741805" y="319403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71837" y="2510432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8"/>
                </a:lnTo>
                <a:close/>
                <a:lnTo>
                  <a:pt x="6442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740950" y="318893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289554" y="193745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436039" y="166270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558497" y="250476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331676" y="277307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501578" y="250826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538669" y="252166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339197" y="263210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631654" y="240328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2343738" y="1998765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257493" y="273163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466806" y="186152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786685" y="230141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154082" y="273163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474571" y="251705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245870" y="282283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187071" y="278712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319027" y="271998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2442022" y="1884368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887703" y="2270354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2"/>
                </a:lnTo>
                <a:close/>
                <a:lnTo>
                  <a:pt x="21998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2654485" y="1982870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266479" y="181182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364152" y="254228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295610" y="2637478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586529" y="248129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350405" y="214427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184263" y="229133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3139407" y="157897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208266" y="268178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199475" y="1934338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2"/>
                </a:lnTo>
                <a:close/>
                <a:lnTo>
                  <a:pt x="21998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518939" y="172984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589948" y="229997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360392" y="255664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123925" y="2080804"/>
            <a:ext cx="43995" cy="43995"/>
          </a:xfrm>
          <a:custGeom>
            <a:avLst/>
            <a:gdLst/>
            <a:ahLst/>
            <a:cxnLst/>
            <a:rect l="l" t="t" r="r" b="b"/>
            <a:pathLst>
              <a:path w="43995" h="43995">
                <a:moveTo>
                  <a:pt x="21998" y="43995"/>
                </a:moveTo>
                <a:lnTo>
                  <a:pt x="37552" y="37552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8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8" y="43995"/>
                </a:lnTo>
                <a:close/>
                <a:lnTo>
                  <a:pt x="21998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2053332" y="209707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539182" y="237158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2474498" y="172862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064614" y="2130273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8"/>
                </a:lnTo>
                <a:close/>
                <a:lnTo>
                  <a:pt x="6442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773011" y="240787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002469" y="287934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486536" y="261790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517743" y="164932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426028" y="247707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287503" y="214410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302105" y="266761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288260" y="267904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365446" y="160701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733869" y="247142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250241" y="194334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428519" y="1817353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8"/>
                </a:lnTo>
                <a:close/>
                <a:lnTo>
                  <a:pt x="6442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2452961" y="195855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349550" y="180845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55464" y="296359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2483386" y="201514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443463" y="249930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1046398" y="290351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189122" y="282666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1777455" y="233856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497647" y="2494470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467734" y="253202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2211782" y="192155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708571" y="240874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749594" y="236711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346302" y="201148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2233661" y="199572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1320907" y="276530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1481408" y="2494031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8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1579179" y="251125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1892319" y="226068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465854" y="249629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2295195" y="1863606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1212881" y="256810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1758140" y="241491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1602083" y="251376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1578324" y="2557335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2244600" y="214791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2158966" y="200418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1880354" y="234983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2299639" y="207039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1809419" y="242960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3466904" y="107866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1571658" y="256160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1893173" y="234419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1787198" y="240719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1869414" y="227013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1896250" y="212936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2523383" y="1989431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980761" y="294879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753769" y="3140744"/>
            <a:ext cx="43995" cy="43995"/>
          </a:xfrm>
          <a:custGeom>
            <a:avLst/>
            <a:gdLst/>
            <a:ahLst/>
            <a:cxnLst/>
            <a:rect l="l" t="t" r="r" b="b"/>
            <a:pathLst>
              <a:path w="43995" h="43995">
                <a:moveTo>
                  <a:pt x="21998" y="43995"/>
                </a:moveTo>
                <a:lnTo>
                  <a:pt x="37552" y="37552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8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8" y="43995"/>
                </a:lnTo>
                <a:close/>
                <a:lnTo>
                  <a:pt x="21998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1571658" y="2419520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2" y="37552"/>
                </a:lnTo>
                <a:close/>
                <a:lnTo>
                  <a:pt x="43994" y="21998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1962741" y="207262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1754551" y="249938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1617809" y="245312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2183750" y="196196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085638" y="202210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1308088" y="279594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342713" y="223912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2767297" y="1890965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1965305" y="2255232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8"/>
                </a:lnTo>
                <a:close/>
                <a:lnTo>
                  <a:pt x="6442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306818" y="187837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241939" y="277446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366472" y="179774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2222380" y="213938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994436" y="296986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888290" y="305469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2064785" y="215266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251267" y="199977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912048" y="3047666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8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1233051" y="271391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2192126" y="200539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1821213" y="233476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2034530" y="204563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1912146" y="214767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2554492" y="195916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1585332" y="2416022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8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1825999" y="223235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1436625" y="2459794"/>
            <a:ext cx="43995" cy="43995"/>
          </a:xfrm>
          <a:custGeom>
            <a:avLst/>
            <a:gdLst/>
            <a:ahLst/>
            <a:cxnLst/>
            <a:rect l="l" t="t" r="r" b="b"/>
            <a:pathLst>
              <a:path w="43995" h="43995">
                <a:moveTo>
                  <a:pt x="21997" y="43995"/>
                </a:moveTo>
                <a:lnTo>
                  <a:pt x="37552" y="37552"/>
                </a:lnTo>
                <a:close/>
                <a:lnTo>
                  <a:pt x="43995" y="21998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2267676" y="215650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815914" y="229752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1970945" y="215650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301764" y="263050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809492" y="311186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2087005" y="219716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597468" y="2434903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2" y="37552"/>
                </a:lnTo>
                <a:close/>
                <a:lnTo>
                  <a:pt x="43994" y="21998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1516107" y="240920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2074015" y="222457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961105" y="298399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2643033" y="177168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1397483" y="261224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1661395" y="233142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752402" y="307138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2303912" y="192992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2459969" y="182480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2039145" y="233977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1790787" y="2358597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8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1675411" y="246432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1323129" y="2796867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8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2032308" y="206866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1804120" y="235632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1103487" y="2827594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1888900" y="223048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1863090" y="231000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972484" y="2163836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8"/>
                </a:lnTo>
                <a:close/>
                <a:lnTo>
                  <a:pt x="6442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975902" y="214345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3122485" y="132935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763268" y="239436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681394" y="2575503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1858817" y="245835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1954194" y="217426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1333727" y="275639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1684641" y="2459431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1359537" y="275332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889999" y="308264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1534567" y="247922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1744466" y="252326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1168782" y="274834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2054700" y="198975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1825486" y="213505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1906676" y="2081532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3032919" y="145451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1507560" y="236750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1519867" y="254191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679074" y="320220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526362" y="2345610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1026570" y="298065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931803" y="211088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714041" y="2393522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1702418" y="230168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1024519" y="301967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2211440" y="1854504"/>
            <a:ext cx="43995" cy="43995"/>
          </a:xfrm>
          <a:custGeom>
            <a:avLst/>
            <a:gdLst/>
            <a:ahLst/>
            <a:cxnLst/>
            <a:rect l="l" t="t" r="r" b="b"/>
            <a:pathLst>
              <a:path w="43995" h="43995">
                <a:moveTo>
                  <a:pt x="21997" y="43995"/>
                </a:moveTo>
                <a:lnTo>
                  <a:pt x="37552" y="37552"/>
                </a:lnTo>
                <a:close/>
                <a:lnTo>
                  <a:pt x="43995" y="21998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2402879" y="176887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1614390" y="250343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2442535" y="175437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1990260" y="225712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921718" y="231022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2007866" y="194606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2072134" y="205044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837451" y="237223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948212" y="243288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1930777" y="227050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2526973" y="157880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1986841" y="2369762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2"/>
                </a:lnTo>
                <a:close/>
                <a:lnTo>
                  <a:pt x="21998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1528243" y="239818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2336218" y="176397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1411841" y="258974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1697290" y="247412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1283645" y="271938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2224944" y="220295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1542430" y="241707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1527901" y="239145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1229974" y="289565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1179379" y="293324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1529097" y="243054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1033065" y="293324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1632508" y="2324804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2"/>
                </a:lnTo>
                <a:close/>
                <a:lnTo>
                  <a:pt x="21998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1300567" y="257470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1334582" y="254912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2647306" y="164317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2306305" y="199289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2550561" y="1643727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865556" y="302615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913587" y="297697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1709597" y="238375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1335607" y="269098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910852" y="297215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1193737" y="278930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1753867" y="228351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2647648" y="1643727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1261254" y="263008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1541746" y="242202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1546703" y="269950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1650969" y="233407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1312874" y="258852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1076823" y="265991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1286893" y="249646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1581743" y="267344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1380732" y="252285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1430130" y="244428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2256223" y="1942384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8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1469785" y="254642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1619347" y="252826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2281008" y="187951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1972142" y="229609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1927359" y="232707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2025300" y="218366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1527559" y="240982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1668232" y="239995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2116917" y="2120894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1738655" y="2245137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1893686" y="213357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1810444" y="2441163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2015386" y="2289086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1898643" y="213293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1056482" y="279071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1559693" y="258510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1067422" y="287490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3756797" y="84507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2303912" y="186485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1277321" y="262813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1998465" y="210464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2228362" y="2012216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2" y="37552"/>
                </a:lnTo>
                <a:close/>
                <a:lnTo>
                  <a:pt x="43994" y="21998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1173910" y="2742216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8"/>
                </a:lnTo>
                <a:close/>
                <a:lnTo>
                  <a:pt x="6442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2265624" y="2003174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2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8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2177768" y="205280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2390744" y="188675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880427" y="2992586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1219718" y="269220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1096992" y="273943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1560890" y="254182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2757554" y="146131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1335094" y="262441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1701563" y="253557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1700196" y="250363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2376557" y="175823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659930" y="306733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2068032" y="213272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1710281" y="240192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2980273" y="185477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1767883" y="239372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1741902" y="2324818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2" y="37552"/>
                </a:lnTo>
                <a:close/>
                <a:lnTo>
                  <a:pt x="43994" y="21998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1753867" y="236972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1201942" y="2761397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1610117" y="2422190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2452961" y="188633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1376801" y="266947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1469273" y="253449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2105978" y="213386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1739851" y="225854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2326133" y="191980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1671651" y="231835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1796428" y="223405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2459115" y="172445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1380903" y="261645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3322128" y="1535563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2" y="37552"/>
                </a:lnTo>
                <a:close/>
                <a:lnTo>
                  <a:pt x="43994" y="21998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1595075" y="241436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1655242" y="245482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1743441" y="238635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1719853" y="240835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2060511" y="237974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1913343" y="215631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1914368" y="239134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1964450" y="234389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1810786" y="248546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1443121" y="264160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1729595" y="240855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1400560" y="276731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1472520" y="249032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1962228" y="235345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2699268" y="167606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2435868" y="1909474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1746517" y="224840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2070767" y="218004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1791129" y="216870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1694213" y="2230914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1725322" y="241735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2026326" y="219800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2079655" y="210089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1069644" y="2850046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1604818" y="246389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2069229" y="216752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1793693" y="236931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1994191" y="221829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1940007" y="239592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1957784" y="226219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2247848" y="216752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2334679" y="185795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2108200" y="196335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2392111" y="183035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1470811" y="253929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2171956" y="208055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1645841" y="253131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2231097" y="194375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1247067" y="270423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1242793" y="2724523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8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2"/>
                </a:lnTo>
                <a:close/>
                <a:lnTo>
                  <a:pt x="21998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8" y="43994"/>
                </a:lnTo>
                <a:close/>
                <a:lnTo>
                  <a:pt x="21998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1059046" y="287881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2137258" y="214956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1716263" y="232297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1894370" y="231195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1439018" y="2639217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2170247" y="209706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1494912" y="249542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1292704" y="257961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1275441" y="258763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1586529" y="242453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1995217" y="198145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1361588" y="259762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2245284" y="212362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2358438" y="204176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1290140" y="2655156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2564064" y="168456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2472447" y="192662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2428860" y="184760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1385860" y="264983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1191857" y="274653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1941375" y="222886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1967698" y="221156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2384590" y="182075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1909069" y="2243776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1837793" y="230622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2535177" y="1781805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2" y="37552"/>
                </a:lnTo>
                <a:close/>
                <a:lnTo>
                  <a:pt x="43994" y="21998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1461752" y="249798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1765661" y="249329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1414405" y="268799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1046569" y="281606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1409277" y="253598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1588238" y="238955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1904625" y="221756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3101632" y="138177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1466367" y="260308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2003934" y="221756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2384248" y="188295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1662763" y="238813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2075895" y="212405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1748568" y="234800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1972655" y="216085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1971800" y="230142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Freeform 371"/>
          <p:cNvSpPr/>
          <p:nvPr/>
        </p:nvSpPr>
        <p:spPr>
          <a:xfrm>
            <a:off x="2425955" y="184515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777016" y="3101853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789835" y="309032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790177" y="309113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1109470" y="270169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2266992" y="177459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2484412" y="176619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1253904" y="279046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1537986" y="2490959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1635585" y="247858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1896250" y="229667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2122558" y="196016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1538327" y="248387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2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1696777" y="250981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1918470" y="2173877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1665498" y="234299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1477819" y="265535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2038974" y="2134658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1975731" y="212821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3064198" y="1493729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2183408" y="200935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2223576" y="213465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1806342" y="222716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1332360" y="265535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1308088" y="269191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1713186" y="235410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2007011" y="233850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1882747" y="217833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1477819" y="249202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2280495" y="203301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2530904" y="179606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1232538" y="275446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1539011" y="242017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1513543" y="262424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2285794" y="2036842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1961544" y="218117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2126831" y="225500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2212295" y="2091665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1870953" y="225052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2231610" y="199043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1244503" y="280720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1431839" y="2410848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1288431" y="268201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1184849" y="2762222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1" y="37552"/>
                </a:lnTo>
                <a:close/>
                <a:lnTo>
                  <a:pt x="43994" y="21998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Freeform 415"/>
          <p:cNvSpPr/>
          <p:nvPr/>
        </p:nvSpPr>
        <p:spPr>
          <a:xfrm>
            <a:off x="1257493" y="2705281"/>
            <a:ext cx="43994" cy="43995"/>
          </a:xfrm>
          <a:custGeom>
            <a:avLst/>
            <a:gdLst/>
            <a:ahLst/>
            <a:cxnLst/>
            <a:rect l="l" t="t" r="r" b="b"/>
            <a:pathLst>
              <a:path w="43994" h="43995">
                <a:moveTo>
                  <a:pt x="21997" y="43995"/>
                </a:moveTo>
                <a:lnTo>
                  <a:pt x="37552" y="37552"/>
                </a:lnTo>
                <a:close/>
                <a:lnTo>
                  <a:pt x="43994" y="21998"/>
                </a:lnTo>
                <a:close/>
                <a:lnTo>
                  <a:pt x="37552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7" y="43995"/>
                </a:lnTo>
                <a:close/>
                <a:lnTo>
                  <a:pt x="21997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2186143" y="217316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2012993" y="2021866"/>
            <a:ext cx="43995" cy="43994"/>
          </a:xfrm>
          <a:custGeom>
            <a:avLst/>
            <a:gdLst/>
            <a:ahLst/>
            <a:cxnLst/>
            <a:rect l="l" t="t" r="r" b="b"/>
            <a:pathLst>
              <a:path w="43995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5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1555420" y="2581604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1636098" y="252144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1177328" y="282482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Freeform 421"/>
          <p:cNvSpPr/>
          <p:nvPr/>
        </p:nvSpPr>
        <p:spPr>
          <a:xfrm>
            <a:off x="2121191" y="201747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1252707" y="2702235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2262890" y="186260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2" y="6442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Freeform 424"/>
          <p:cNvSpPr/>
          <p:nvPr/>
        </p:nvSpPr>
        <p:spPr>
          <a:xfrm>
            <a:off x="1445001" y="252755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Freeform 425"/>
          <p:cNvSpPr/>
          <p:nvPr/>
        </p:nvSpPr>
        <p:spPr>
          <a:xfrm>
            <a:off x="1173568" y="281932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Freeform 426"/>
          <p:cNvSpPr/>
          <p:nvPr/>
        </p:nvSpPr>
        <p:spPr>
          <a:xfrm>
            <a:off x="2375360" y="1777552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1196814" y="265449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Freeform 428"/>
          <p:cNvSpPr/>
          <p:nvPr/>
        </p:nvSpPr>
        <p:spPr>
          <a:xfrm>
            <a:off x="1414576" y="263708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Freeform 429"/>
          <p:cNvSpPr/>
          <p:nvPr/>
        </p:nvSpPr>
        <p:spPr>
          <a:xfrm>
            <a:off x="889657" y="2846593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Freeform 430"/>
          <p:cNvSpPr/>
          <p:nvPr/>
        </p:nvSpPr>
        <p:spPr>
          <a:xfrm>
            <a:off x="1577470" y="2648258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Freeform 431"/>
          <p:cNvSpPr/>
          <p:nvPr/>
        </p:nvSpPr>
        <p:spPr>
          <a:xfrm>
            <a:off x="1269116" y="2732170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897178" y="284412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Freeform 433"/>
          <p:cNvSpPr/>
          <p:nvPr/>
        </p:nvSpPr>
        <p:spPr>
          <a:xfrm>
            <a:off x="1379023" y="2627326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Freeform 434"/>
          <p:cNvSpPr/>
          <p:nvPr/>
        </p:nvSpPr>
        <p:spPr>
          <a:xfrm>
            <a:off x="1369964" y="281576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1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2" y="6443"/>
                </a:lnTo>
                <a:close/>
                <a:lnTo>
                  <a:pt x="0" y="21997"/>
                </a:lnTo>
                <a:close/>
                <a:lnTo>
                  <a:pt x="6442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Freeform 435"/>
          <p:cNvSpPr/>
          <p:nvPr/>
        </p:nvSpPr>
        <p:spPr>
          <a:xfrm>
            <a:off x="1285525" y="2646791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2" y="37551"/>
                </a:lnTo>
                <a:close/>
                <a:lnTo>
                  <a:pt x="43994" y="21997"/>
                </a:lnTo>
                <a:close/>
                <a:lnTo>
                  <a:pt x="37552" y="6442"/>
                </a:lnTo>
                <a:close/>
                <a:lnTo>
                  <a:pt x="21997" y="0"/>
                </a:lnTo>
                <a:close/>
                <a:lnTo>
                  <a:pt x="6443" y="6442"/>
                </a:lnTo>
                <a:close/>
                <a:lnTo>
                  <a:pt x="0" y="21997"/>
                </a:lnTo>
                <a:close/>
                <a:lnTo>
                  <a:pt x="6443" y="37551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Freeform 436"/>
          <p:cNvSpPr/>
          <p:nvPr/>
        </p:nvSpPr>
        <p:spPr>
          <a:xfrm>
            <a:off x="770349" y="3007553"/>
            <a:ext cx="43995" cy="43995"/>
          </a:xfrm>
          <a:custGeom>
            <a:avLst/>
            <a:gdLst/>
            <a:ahLst/>
            <a:cxnLst/>
            <a:rect l="l" t="t" r="r" b="b"/>
            <a:pathLst>
              <a:path w="43995" h="43995">
                <a:moveTo>
                  <a:pt x="21998" y="43995"/>
                </a:moveTo>
                <a:lnTo>
                  <a:pt x="37552" y="37552"/>
                </a:lnTo>
                <a:close/>
                <a:lnTo>
                  <a:pt x="43995" y="21998"/>
                </a:lnTo>
                <a:close/>
                <a:lnTo>
                  <a:pt x="37552" y="6443"/>
                </a:lnTo>
                <a:close/>
                <a:lnTo>
                  <a:pt x="21998" y="0"/>
                </a:lnTo>
                <a:close/>
                <a:lnTo>
                  <a:pt x="6443" y="6443"/>
                </a:lnTo>
                <a:close/>
                <a:lnTo>
                  <a:pt x="0" y="21998"/>
                </a:lnTo>
                <a:close/>
                <a:lnTo>
                  <a:pt x="6443" y="37552"/>
                </a:lnTo>
                <a:close/>
                <a:lnTo>
                  <a:pt x="21998" y="43995"/>
                </a:lnTo>
                <a:close/>
                <a:lnTo>
                  <a:pt x="21998" y="43995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Freeform 437"/>
          <p:cNvSpPr/>
          <p:nvPr/>
        </p:nvSpPr>
        <p:spPr>
          <a:xfrm>
            <a:off x="2089398" y="1963527"/>
            <a:ext cx="43994" cy="43994"/>
          </a:xfrm>
          <a:custGeom>
            <a:avLst/>
            <a:gdLst/>
            <a:ahLst/>
            <a:cxnLst/>
            <a:rect l="l" t="t" r="r" b="b"/>
            <a:pathLst>
              <a:path w="43994" h="43994">
                <a:moveTo>
                  <a:pt x="21997" y="43994"/>
                </a:moveTo>
                <a:lnTo>
                  <a:pt x="37551" y="37552"/>
                </a:lnTo>
                <a:close/>
                <a:lnTo>
                  <a:pt x="43994" y="21997"/>
                </a:lnTo>
                <a:close/>
                <a:lnTo>
                  <a:pt x="37551" y="6443"/>
                </a:lnTo>
                <a:close/>
                <a:lnTo>
                  <a:pt x="21997" y="0"/>
                </a:lnTo>
                <a:close/>
                <a:lnTo>
                  <a:pt x="6443" y="6443"/>
                </a:lnTo>
                <a:close/>
                <a:lnTo>
                  <a:pt x="0" y="21997"/>
                </a:lnTo>
                <a:close/>
                <a:lnTo>
                  <a:pt x="6443" y="37552"/>
                </a:lnTo>
                <a:close/>
                <a:lnTo>
                  <a:pt x="21997" y="43994"/>
                </a:lnTo>
                <a:close/>
                <a:lnTo>
                  <a:pt x="21997" y="43994"/>
                </a:lnTo>
                <a:close/>
              </a:path>
            </a:pathLst>
          </a:custGeom>
          <a:solidFill>
            <a:srgbClr val="2E86AB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729616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TextBox 439"/>
          <p:cNvSpPr txBox="1"/>
          <p:nvPr/>
        </p:nvSpPr>
        <p:spPr>
          <a:xfrm>
            <a:off x="608410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441" name="Freeform 440"/>
          <p:cNvSpPr/>
          <p:nvPr/>
        </p:nvSpPr>
        <p:spPr>
          <a:xfrm>
            <a:off x="1156935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1035730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443" name="Freeform 442"/>
          <p:cNvSpPr/>
          <p:nvPr/>
        </p:nvSpPr>
        <p:spPr>
          <a:xfrm>
            <a:off x="1584254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TextBox 443"/>
          <p:cNvSpPr txBox="1"/>
          <p:nvPr/>
        </p:nvSpPr>
        <p:spPr>
          <a:xfrm>
            <a:off x="1463049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445" name="Freeform 444"/>
          <p:cNvSpPr/>
          <p:nvPr/>
        </p:nvSpPr>
        <p:spPr>
          <a:xfrm>
            <a:off x="2011573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TextBox 445"/>
          <p:cNvSpPr txBox="1"/>
          <p:nvPr/>
        </p:nvSpPr>
        <p:spPr>
          <a:xfrm>
            <a:off x="1890368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175</a:t>
            </a:r>
          </a:p>
        </p:txBody>
      </p:sp>
      <p:sp>
        <p:nvSpPr>
          <p:cNvPr id="447" name="Freeform 446"/>
          <p:cNvSpPr/>
          <p:nvPr/>
        </p:nvSpPr>
        <p:spPr>
          <a:xfrm>
            <a:off x="2438892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TextBox 447"/>
          <p:cNvSpPr txBox="1"/>
          <p:nvPr/>
        </p:nvSpPr>
        <p:spPr>
          <a:xfrm>
            <a:off x="2317687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449" name="Freeform 448"/>
          <p:cNvSpPr/>
          <p:nvPr/>
        </p:nvSpPr>
        <p:spPr>
          <a:xfrm>
            <a:off x="2866212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TextBox 449"/>
          <p:cNvSpPr txBox="1"/>
          <p:nvPr/>
        </p:nvSpPr>
        <p:spPr>
          <a:xfrm>
            <a:off x="2745006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225</a:t>
            </a:r>
          </a:p>
        </p:txBody>
      </p:sp>
      <p:sp>
        <p:nvSpPr>
          <p:cNvPr id="451" name="Freeform 450"/>
          <p:cNvSpPr/>
          <p:nvPr/>
        </p:nvSpPr>
        <p:spPr>
          <a:xfrm>
            <a:off x="3293531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3172325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453" name="Freeform 452"/>
          <p:cNvSpPr/>
          <p:nvPr/>
        </p:nvSpPr>
        <p:spPr>
          <a:xfrm>
            <a:off x="3720850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TextBox 453"/>
          <p:cNvSpPr txBox="1"/>
          <p:nvPr/>
        </p:nvSpPr>
        <p:spPr>
          <a:xfrm>
            <a:off x="3599644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275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1688597" y="3526289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True stress (MPa)</a:t>
            </a:r>
          </a:p>
        </p:txBody>
      </p:sp>
      <p:sp>
        <p:nvSpPr>
          <p:cNvPr id="456" name="Freeform 455"/>
          <p:cNvSpPr/>
          <p:nvPr/>
        </p:nvSpPr>
        <p:spPr>
          <a:xfrm>
            <a:off x="552013" y="319022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TextBox 456"/>
          <p:cNvSpPr txBox="1"/>
          <p:nvPr/>
        </p:nvSpPr>
        <p:spPr>
          <a:xfrm>
            <a:off x="265152" y="3111478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458" name="Freeform 457"/>
          <p:cNvSpPr/>
          <p:nvPr/>
        </p:nvSpPr>
        <p:spPr>
          <a:xfrm>
            <a:off x="552013" y="285663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265152" y="277788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460" name="Freeform 459"/>
          <p:cNvSpPr/>
          <p:nvPr/>
        </p:nvSpPr>
        <p:spPr>
          <a:xfrm>
            <a:off x="552013" y="252303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265152" y="244428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462" name="Freeform 461"/>
          <p:cNvSpPr/>
          <p:nvPr/>
        </p:nvSpPr>
        <p:spPr>
          <a:xfrm>
            <a:off x="552013" y="218944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TextBox 462"/>
          <p:cNvSpPr txBox="1"/>
          <p:nvPr/>
        </p:nvSpPr>
        <p:spPr>
          <a:xfrm>
            <a:off x="265152" y="2110691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175</a:t>
            </a:r>
          </a:p>
        </p:txBody>
      </p:sp>
      <p:sp>
        <p:nvSpPr>
          <p:cNvPr id="464" name="Freeform 463"/>
          <p:cNvSpPr/>
          <p:nvPr/>
        </p:nvSpPr>
        <p:spPr>
          <a:xfrm>
            <a:off x="552013" y="185584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TextBox 464"/>
          <p:cNvSpPr txBox="1"/>
          <p:nvPr/>
        </p:nvSpPr>
        <p:spPr>
          <a:xfrm>
            <a:off x="265152" y="17770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466" name="Freeform 465"/>
          <p:cNvSpPr/>
          <p:nvPr/>
        </p:nvSpPr>
        <p:spPr>
          <a:xfrm>
            <a:off x="552013" y="152224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TextBox 466"/>
          <p:cNvSpPr txBox="1"/>
          <p:nvPr/>
        </p:nvSpPr>
        <p:spPr>
          <a:xfrm>
            <a:off x="265152" y="144349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225</a:t>
            </a:r>
          </a:p>
        </p:txBody>
      </p:sp>
      <p:sp>
        <p:nvSpPr>
          <p:cNvPr id="468" name="Freeform 467"/>
          <p:cNvSpPr/>
          <p:nvPr/>
        </p:nvSpPr>
        <p:spPr>
          <a:xfrm>
            <a:off x="552013" y="118865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>
            <a:off x="265152" y="110990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470" name="Freeform 469"/>
          <p:cNvSpPr/>
          <p:nvPr/>
        </p:nvSpPr>
        <p:spPr>
          <a:xfrm>
            <a:off x="552013" y="85505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TextBox 470"/>
          <p:cNvSpPr txBox="1"/>
          <p:nvPr/>
        </p:nvSpPr>
        <p:spPr>
          <a:xfrm>
            <a:off x="265152" y="77630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275</a:t>
            </a:r>
          </a:p>
        </p:txBody>
      </p:sp>
      <p:sp>
        <p:nvSpPr>
          <p:cNvPr id="472" name="TextBox 471"/>
          <p:cNvSpPr txBox="1"/>
          <p:nvPr/>
        </p:nvSpPr>
        <p:spPr>
          <a:xfrm rot="16200000">
            <a:off x="92690" y="1694938"/>
            <a:ext cx="1803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Predicted stress (MPa)</a:t>
            </a:r>
          </a:p>
        </p:txBody>
      </p:sp>
      <p:sp>
        <p:nvSpPr>
          <p:cNvPr id="473" name="Freeform 472"/>
          <p:cNvSpPr/>
          <p:nvPr/>
        </p:nvSpPr>
        <p:spPr>
          <a:xfrm>
            <a:off x="596463" y="743102"/>
            <a:ext cx="3267795" cy="2551075"/>
          </a:xfrm>
          <a:custGeom>
            <a:avLst/>
            <a:gdLst/>
            <a:ahLst/>
            <a:cxnLst/>
            <a:rect l="l" t="t" r="r" b="b"/>
            <a:pathLst>
              <a:path w="3267795" h="2551075">
                <a:moveTo>
                  <a:pt x="0" y="2551075"/>
                </a:moveTo>
                <a:lnTo>
                  <a:pt x="3267795" y="0"/>
                </a:lnTo>
                <a:close/>
              </a:path>
            </a:pathLst>
          </a:custGeom>
          <a:noFill/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Freeform 473"/>
          <p:cNvSpPr/>
          <p:nvPr/>
        </p:nvSpPr>
        <p:spPr>
          <a:xfrm>
            <a:off x="596463" y="743102"/>
            <a:ext cx="0" cy="2551075"/>
          </a:xfrm>
          <a:custGeom>
            <a:avLst/>
            <a:gdLst/>
            <a:ahLst/>
            <a:cxnLst/>
            <a:rect l="l" t="t" r="r" b="b"/>
            <a:pathLst>
              <a:path w="0" h="2551075">
                <a:moveTo>
                  <a:pt x="0" y="2551075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Freeform 474"/>
          <p:cNvSpPr/>
          <p:nvPr/>
        </p:nvSpPr>
        <p:spPr>
          <a:xfrm>
            <a:off x="596463" y="3294177"/>
            <a:ext cx="3267795" cy="0"/>
          </a:xfrm>
          <a:custGeom>
            <a:avLst/>
            <a:gdLst/>
            <a:ahLst/>
            <a:cxnLst/>
            <a:rect l="l" t="t" r="r" b="b"/>
            <a:pathLst>
              <a:path w="3267795" h="0">
                <a:moveTo>
                  <a:pt x="0" y="0"/>
                </a:moveTo>
                <a:lnTo>
                  <a:pt x="3267795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TextBox 475"/>
          <p:cNvSpPr txBox="1"/>
          <p:nvPr/>
        </p:nvSpPr>
        <p:spPr>
          <a:xfrm>
            <a:off x="759853" y="870242"/>
            <a:ext cx="75565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R² = 0.929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1198832" y="411151"/>
            <a:ext cx="258191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(A)  Parity — coupled steady-state</a:t>
            </a:r>
          </a:p>
        </p:txBody>
      </p:sp>
      <p:sp>
        <p:nvSpPr>
          <p:cNvPr id="478" name="Rectangle 477"/>
          <p:cNvSpPr/>
          <p:nvPr/>
        </p:nvSpPr>
        <p:spPr>
          <a:xfrm>
            <a:off x="4974238" y="743102"/>
            <a:ext cx="3267795" cy="25510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4974238" y="2832812"/>
            <a:ext cx="2696305" cy="172703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4974238" y="2339374"/>
            <a:ext cx="1821008" cy="172703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4974238" y="1845936"/>
            <a:ext cx="1817537" cy="172703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4974238" y="1352498"/>
            <a:ext cx="2888194" cy="172703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4974238" y="859060"/>
            <a:ext cx="3073012" cy="172703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4974238" y="3005516"/>
            <a:ext cx="2723655" cy="172703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4974238" y="2512078"/>
            <a:ext cx="1823387" cy="172703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4974238" y="2018640"/>
            <a:ext cx="1812804" cy="172703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4974238" y="1525202"/>
            <a:ext cx="2891658" cy="172703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4974238" y="1031764"/>
            <a:ext cx="3105425" cy="172703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Freeform 488"/>
          <p:cNvSpPr/>
          <p:nvPr/>
        </p:nvSpPr>
        <p:spPr>
          <a:xfrm>
            <a:off x="4974238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TextBox 489"/>
          <p:cNvSpPr txBox="1"/>
          <p:nvPr/>
        </p:nvSpPr>
        <p:spPr>
          <a:xfrm>
            <a:off x="4873253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491" name="Freeform 490"/>
          <p:cNvSpPr/>
          <p:nvPr/>
        </p:nvSpPr>
        <p:spPr>
          <a:xfrm>
            <a:off x="5596675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TextBox 491"/>
          <p:cNvSpPr txBox="1"/>
          <p:nvPr/>
        </p:nvSpPr>
        <p:spPr>
          <a:xfrm>
            <a:off x="5495690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493" name="Freeform 492"/>
          <p:cNvSpPr/>
          <p:nvPr/>
        </p:nvSpPr>
        <p:spPr>
          <a:xfrm>
            <a:off x="6219112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TextBox 493"/>
          <p:cNvSpPr txBox="1"/>
          <p:nvPr/>
        </p:nvSpPr>
        <p:spPr>
          <a:xfrm>
            <a:off x="6118127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495" name="Freeform 494"/>
          <p:cNvSpPr/>
          <p:nvPr/>
        </p:nvSpPr>
        <p:spPr>
          <a:xfrm>
            <a:off x="6841549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TextBox 495"/>
          <p:cNvSpPr txBox="1"/>
          <p:nvPr/>
        </p:nvSpPr>
        <p:spPr>
          <a:xfrm>
            <a:off x="6740564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497" name="Freeform 496"/>
          <p:cNvSpPr/>
          <p:nvPr/>
        </p:nvSpPr>
        <p:spPr>
          <a:xfrm>
            <a:off x="7463986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TextBox 497"/>
          <p:cNvSpPr txBox="1"/>
          <p:nvPr/>
        </p:nvSpPr>
        <p:spPr>
          <a:xfrm>
            <a:off x="7363002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499" name="Freeform 498"/>
          <p:cNvSpPr/>
          <p:nvPr/>
        </p:nvSpPr>
        <p:spPr>
          <a:xfrm>
            <a:off x="8086424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TextBox 499"/>
          <p:cNvSpPr txBox="1"/>
          <p:nvPr/>
        </p:nvSpPr>
        <p:spPr>
          <a:xfrm>
            <a:off x="7985439" y="335257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6220150" y="3536727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1">
                <a:solidFill>
                  <a:srgbClr val="000000"/>
                </a:solidFill>
                <a:latin typeface="Arial"/>
              </a:rPr>
              <a:t>R2 (test set)</a:t>
            </a:r>
          </a:p>
        </p:txBody>
      </p:sp>
      <p:sp>
        <p:nvSpPr>
          <p:cNvPr id="502" name="Freeform 501"/>
          <p:cNvSpPr/>
          <p:nvPr/>
        </p:nvSpPr>
        <p:spPr>
          <a:xfrm>
            <a:off x="4929788" y="300551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TextBox 502"/>
          <p:cNvSpPr txBox="1"/>
          <p:nvPr/>
        </p:nvSpPr>
        <p:spPr>
          <a:xfrm>
            <a:off x="4720175" y="2938578"/>
            <a:ext cx="3670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keff</a:t>
            </a:r>
          </a:p>
        </p:txBody>
      </p:sp>
      <p:sp>
        <p:nvSpPr>
          <p:cNvPr id="504" name="Freeform 503"/>
          <p:cNvSpPr/>
          <p:nvPr/>
        </p:nvSpPr>
        <p:spPr>
          <a:xfrm>
            <a:off x="4929788" y="251207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TextBox 504"/>
          <p:cNvSpPr txBox="1"/>
          <p:nvPr/>
        </p:nvSpPr>
        <p:spPr>
          <a:xfrm>
            <a:off x="4425016" y="2392902"/>
            <a:ext cx="62611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Max fuel</a:t>
            </a:r>
          </a:p>
        </p:txBody>
      </p:sp>
      <p:sp>
        <p:nvSpPr>
          <p:cNvPr id="506" name="Freeform 505"/>
          <p:cNvSpPr/>
          <p:nvPr/>
        </p:nvSpPr>
        <p:spPr>
          <a:xfrm>
            <a:off x="4929788" y="201864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TextBox 506"/>
          <p:cNvSpPr txBox="1"/>
          <p:nvPr/>
        </p:nvSpPr>
        <p:spPr>
          <a:xfrm>
            <a:off x="4151464" y="1899464"/>
            <a:ext cx="8851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Max monolith</a:t>
            </a:r>
          </a:p>
        </p:txBody>
      </p:sp>
      <p:sp>
        <p:nvSpPr>
          <p:cNvPr id="508" name="Freeform 507"/>
          <p:cNvSpPr/>
          <p:nvPr/>
        </p:nvSpPr>
        <p:spPr>
          <a:xfrm>
            <a:off x="4929788" y="15252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TextBox 508"/>
          <p:cNvSpPr txBox="1"/>
          <p:nvPr/>
        </p:nvSpPr>
        <p:spPr>
          <a:xfrm>
            <a:off x="4298596" y="1406026"/>
            <a:ext cx="75565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Max global</a:t>
            </a:r>
          </a:p>
        </p:txBody>
      </p:sp>
      <p:sp>
        <p:nvSpPr>
          <p:cNvPr id="510" name="Freeform 509"/>
          <p:cNvSpPr/>
          <p:nvPr/>
        </p:nvSpPr>
        <p:spPr>
          <a:xfrm>
            <a:off x="4929788" y="103176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TextBox 510"/>
          <p:cNvSpPr txBox="1"/>
          <p:nvPr/>
        </p:nvSpPr>
        <p:spPr>
          <a:xfrm>
            <a:off x="4659352" y="912589"/>
            <a:ext cx="3670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Wall</a:t>
            </a:r>
          </a:p>
        </p:txBody>
      </p:sp>
      <p:sp>
        <p:nvSpPr>
          <p:cNvPr id="512" name="Freeform 511"/>
          <p:cNvSpPr/>
          <p:nvPr/>
        </p:nvSpPr>
        <p:spPr>
          <a:xfrm>
            <a:off x="8086424" y="743102"/>
            <a:ext cx="0" cy="2551075"/>
          </a:xfrm>
          <a:custGeom>
            <a:avLst/>
            <a:gdLst/>
            <a:ahLst/>
            <a:cxnLst/>
            <a:rect l="l" t="t" r="r" b="b"/>
            <a:pathLst>
              <a:path w="0" h="2551075">
                <a:moveTo>
                  <a:pt x="0" y="2551075"/>
                </a:moveTo>
                <a:lnTo>
                  <a:pt x="0" y="0"/>
                </a:lnTo>
                <a:close/>
              </a:path>
            </a:pathLst>
          </a:custGeom>
          <a:noFill/>
          <a:ln w="889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Freeform 512"/>
          <p:cNvSpPr/>
          <p:nvPr/>
        </p:nvSpPr>
        <p:spPr>
          <a:xfrm>
            <a:off x="4974238" y="743102"/>
            <a:ext cx="0" cy="2551075"/>
          </a:xfrm>
          <a:custGeom>
            <a:avLst/>
            <a:gdLst/>
            <a:ahLst/>
            <a:cxnLst/>
            <a:rect l="l" t="t" r="r" b="b"/>
            <a:pathLst>
              <a:path w="0" h="2551075">
                <a:moveTo>
                  <a:pt x="0" y="2551075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Freeform 513"/>
          <p:cNvSpPr/>
          <p:nvPr/>
        </p:nvSpPr>
        <p:spPr>
          <a:xfrm>
            <a:off x="4974238" y="3294177"/>
            <a:ext cx="3267795" cy="0"/>
          </a:xfrm>
          <a:custGeom>
            <a:avLst/>
            <a:gdLst/>
            <a:ahLst/>
            <a:cxnLst/>
            <a:rect l="l" t="t" r="r" b="b"/>
            <a:pathLst>
              <a:path w="3267795" h="0">
                <a:moveTo>
                  <a:pt x="0" y="0"/>
                </a:moveTo>
                <a:lnTo>
                  <a:pt x="3267795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TextBox 514"/>
          <p:cNvSpPr txBox="1"/>
          <p:nvPr/>
        </p:nvSpPr>
        <p:spPr>
          <a:xfrm>
            <a:off x="5822101" y="546252"/>
            <a:ext cx="193040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(B)  R2 — primary outputs</a:t>
            </a:r>
          </a:p>
        </p:txBody>
      </p:sp>
      <p:sp>
        <p:nvSpPr>
          <p:cNvPr id="516" name="Freeform 515"/>
          <p:cNvSpPr/>
          <p:nvPr/>
        </p:nvSpPr>
        <p:spPr>
          <a:xfrm>
            <a:off x="6686759" y="2914637"/>
            <a:ext cx="1504474" cy="328740"/>
          </a:xfrm>
          <a:custGeom>
            <a:avLst/>
            <a:gdLst/>
            <a:ahLst/>
            <a:cxnLst/>
            <a:rect l="l" t="t" r="r" b="b"/>
            <a:pathLst>
              <a:path w="1504474" h="328740">
                <a:moveTo>
                  <a:pt x="20320" y="328740"/>
                </a:moveTo>
                <a:lnTo>
                  <a:pt x="1484154" y="328740"/>
                </a:lnTo>
                <a:close/>
                <a:lnTo>
                  <a:pt x="1499394" y="323660"/>
                </a:lnTo>
                <a:close/>
                <a:lnTo>
                  <a:pt x="1504474" y="308420"/>
                </a:lnTo>
                <a:close/>
                <a:lnTo>
                  <a:pt x="1504474" y="20320"/>
                </a:lnTo>
                <a:close/>
                <a:lnTo>
                  <a:pt x="1499394" y="5080"/>
                </a:lnTo>
                <a:close/>
                <a:lnTo>
                  <a:pt x="1484154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308420"/>
                </a:lnTo>
                <a:close/>
                <a:lnTo>
                  <a:pt x="5080" y="323660"/>
                </a:lnTo>
                <a:close/>
                <a:lnTo>
                  <a:pt x="20320" y="328740"/>
                </a:lnTo>
                <a:close/>
                <a:lnTo>
                  <a:pt x="20320" y="32874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Rectangle 516"/>
          <p:cNvSpPr/>
          <p:nvPr/>
        </p:nvSpPr>
        <p:spPr>
          <a:xfrm>
            <a:off x="6727399" y="2961357"/>
            <a:ext cx="203200" cy="71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TextBox 517"/>
          <p:cNvSpPr txBox="1"/>
          <p:nvPr/>
        </p:nvSpPr>
        <p:spPr>
          <a:xfrm>
            <a:off x="7011879" y="2930877"/>
            <a:ext cx="5892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Baseline</a:t>
            </a:r>
          </a:p>
        </p:txBody>
      </p:sp>
      <p:sp>
        <p:nvSpPr>
          <p:cNvPr id="519" name="Rectangle 518"/>
          <p:cNvSpPr/>
          <p:nvPr/>
        </p:nvSpPr>
        <p:spPr>
          <a:xfrm>
            <a:off x="6727399" y="3110487"/>
            <a:ext cx="203200" cy="71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TextBox 519"/>
          <p:cNvSpPr txBox="1"/>
          <p:nvPr/>
        </p:nvSpPr>
        <p:spPr>
          <a:xfrm>
            <a:off x="7011879" y="3080007"/>
            <a:ext cx="14427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Regularized (selected)</a:t>
            </a:r>
          </a:p>
        </p:txBody>
      </p:sp>
      <p:sp>
        <p:nvSpPr>
          <p:cNvPr id="521" name="Rectangle 520"/>
          <p:cNvSpPr/>
          <p:nvPr/>
        </p:nvSpPr>
        <p:spPr>
          <a:xfrm>
            <a:off x="9352013" y="743102"/>
            <a:ext cx="3267795" cy="25510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9500549" y="1183974"/>
            <a:ext cx="611619" cy="684791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Rectangle 522"/>
          <p:cNvSpPr/>
          <p:nvPr/>
        </p:nvSpPr>
        <p:spPr>
          <a:xfrm>
            <a:off x="11248033" y="2389176"/>
            <a:ext cx="611619" cy="564271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10112168" y="1113219"/>
            <a:ext cx="611619" cy="6918667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Rectangle 524"/>
          <p:cNvSpPr/>
          <p:nvPr/>
        </p:nvSpPr>
        <p:spPr>
          <a:xfrm>
            <a:off x="11859652" y="1148067"/>
            <a:ext cx="611619" cy="68838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Freeform 525"/>
          <p:cNvSpPr/>
          <p:nvPr/>
        </p:nvSpPr>
        <p:spPr>
          <a:xfrm>
            <a:off x="10112168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TextBox 526"/>
          <p:cNvSpPr txBox="1"/>
          <p:nvPr/>
        </p:nvSpPr>
        <p:spPr>
          <a:xfrm>
            <a:off x="9893284" y="3352216"/>
            <a:ext cx="80010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1">
                <a:solidFill>
                  <a:srgbClr val="000000"/>
                </a:solidFill>
                <a:latin typeface="Arial"/>
              </a:rPr>
              <a:t>Eintercept</a:t>
            </a:r>
          </a:p>
        </p:txBody>
      </p:sp>
      <p:sp>
        <p:nvSpPr>
          <p:cNvPr id="528" name="Freeform 527"/>
          <p:cNvSpPr/>
          <p:nvPr/>
        </p:nvSpPr>
        <p:spPr>
          <a:xfrm>
            <a:off x="11859652" y="329417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TextBox 528"/>
          <p:cNvSpPr txBox="1"/>
          <p:nvPr/>
        </p:nvSpPr>
        <p:spPr>
          <a:xfrm>
            <a:off x="11724778" y="3355627"/>
            <a:ext cx="45720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1">
                <a:solidFill>
                  <a:srgbClr val="000000"/>
                </a:solidFill>
                <a:latin typeface="Arial"/>
              </a:rPr>
              <a:t>αbase</a:t>
            </a:r>
          </a:p>
        </p:txBody>
      </p:sp>
      <p:sp>
        <p:nvSpPr>
          <p:cNvPr id="530" name="Freeform 529"/>
          <p:cNvSpPr/>
          <p:nvPr/>
        </p:nvSpPr>
        <p:spPr>
          <a:xfrm>
            <a:off x="9307563" y="32941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TextBox 530"/>
          <p:cNvSpPr txBox="1"/>
          <p:nvPr/>
        </p:nvSpPr>
        <p:spPr>
          <a:xfrm>
            <a:off x="8980339" y="3215427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0.65</a:t>
            </a:r>
          </a:p>
        </p:txBody>
      </p:sp>
      <p:sp>
        <p:nvSpPr>
          <p:cNvPr id="532" name="Freeform 531"/>
          <p:cNvSpPr/>
          <p:nvPr/>
        </p:nvSpPr>
        <p:spPr>
          <a:xfrm>
            <a:off x="9307563" y="292973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TextBox 532"/>
          <p:cNvSpPr txBox="1"/>
          <p:nvPr/>
        </p:nvSpPr>
        <p:spPr>
          <a:xfrm>
            <a:off x="8980339" y="285098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0.70</a:t>
            </a:r>
          </a:p>
        </p:txBody>
      </p:sp>
      <p:sp>
        <p:nvSpPr>
          <p:cNvPr id="534" name="Freeform 533"/>
          <p:cNvSpPr/>
          <p:nvPr/>
        </p:nvSpPr>
        <p:spPr>
          <a:xfrm>
            <a:off x="9307563" y="256529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TextBox 534"/>
          <p:cNvSpPr txBox="1"/>
          <p:nvPr/>
        </p:nvSpPr>
        <p:spPr>
          <a:xfrm>
            <a:off x="8980339" y="248654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0.75</a:t>
            </a:r>
          </a:p>
        </p:txBody>
      </p:sp>
      <p:sp>
        <p:nvSpPr>
          <p:cNvPr id="536" name="Freeform 535"/>
          <p:cNvSpPr/>
          <p:nvPr/>
        </p:nvSpPr>
        <p:spPr>
          <a:xfrm>
            <a:off x="9307563" y="220085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TextBox 536"/>
          <p:cNvSpPr txBox="1"/>
          <p:nvPr/>
        </p:nvSpPr>
        <p:spPr>
          <a:xfrm>
            <a:off x="8980339" y="2122109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0.80</a:t>
            </a:r>
          </a:p>
        </p:txBody>
      </p:sp>
      <p:sp>
        <p:nvSpPr>
          <p:cNvPr id="538" name="Freeform 537"/>
          <p:cNvSpPr/>
          <p:nvPr/>
        </p:nvSpPr>
        <p:spPr>
          <a:xfrm>
            <a:off x="9307563" y="183642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8980339" y="175767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0.85</a:t>
            </a:r>
          </a:p>
        </p:txBody>
      </p:sp>
      <p:sp>
        <p:nvSpPr>
          <p:cNvPr id="540" name="Freeform 539"/>
          <p:cNvSpPr/>
          <p:nvPr/>
        </p:nvSpPr>
        <p:spPr>
          <a:xfrm>
            <a:off x="9307563" y="147198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8980339" y="1393231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0.90</a:t>
            </a:r>
          </a:p>
        </p:txBody>
      </p:sp>
      <p:sp>
        <p:nvSpPr>
          <p:cNvPr id="542" name="Freeform 541"/>
          <p:cNvSpPr/>
          <p:nvPr/>
        </p:nvSpPr>
        <p:spPr>
          <a:xfrm>
            <a:off x="9307563" y="110754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8980339" y="102879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0.95</a:t>
            </a:r>
          </a:p>
        </p:txBody>
      </p:sp>
      <p:sp>
        <p:nvSpPr>
          <p:cNvPr id="544" name="Freeform 543"/>
          <p:cNvSpPr/>
          <p:nvPr/>
        </p:nvSpPr>
        <p:spPr>
          <a:xfrm>
            <a:off x="9307563" y="7431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980339" y="66435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1.00</a:t>
            </a:r>
          </a:p>
        </p:txBody>
      </p:sp>
      <p:sp>
        <p:nvSpPr>
          <p:cNvPr id="546" name="TextBox 545"/>
          <p:cNvSpPr txBox="1"/>
          <p:nvPr/>
        </p:nvSpPr>
        <p:spPr>
          <a:xfrm rot="16200000">
            <a:off x="8807877" y="1770990"/>
            <a:ext cx="1270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Stress R2 (OOD)</a:t>
            </a:r>
          </a:p>
        </p:txBody>
      </p:sp>
      <p:sp>
        <p:nvSpPr>
          <p:cNvPr id="547" name="Freeform 546"/>
          <p:cNvSpPr/>
          <p:nvPr/>
        </p:nvSpPr>
        <p:spPr>
          <a:xfrm>
            <a:off x="9352013" y="743102"/>
            <a:ext cx="0" cy="2551075"/>
          </a:xfrm>
          <a:custGeom>
            <a:avLst/>
            <a:gdLst/>
            <a:ahLst/>
            <a:cxnLst/>
            <a:rect l="l" t="t" r="r" b="b"/>
            <a:pathLst>
              <a:path w="0" h="2551075">
                <a:moveTo>
                  <a:pt x="0" y="2551075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Freeform 547"/>
          <p:cNvSpPr/>
          <p:nvPr/>
        </p:nvSpPr>
        <p:spPr>
          <a:xfrm>
            <a:off x="9352013" y="3294177"/>
            <a:ext cx="3267794" cy="0"/>
          </a:xfrm>
          <a:custGeom>
            <a:avLst/>
            <a:gdLst/>
            <a:ahLst/>
            <a:cxnLst/>
            <a:rect l="l" t="t" r="r" b="b"/>
            <a:pathLst>
              <a:path w="3267794" h="0">
                <a:moveTo>
                  <a:pt x="0" y="0"/>
                </a:moveTo>
                <a:lnTo>
                  <a:pt x="3267794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Freeform 548"/>
          <p:cNvSpPr/>
          <p:nvPr/>
        </p:nvSpPr>
        <p:spPr>
          <a:xfrm>
            <a:off x="11574475" y="1189963"/>
            <a:ext cx="570340" cy="1157345"/>
          </a:xfrm>
          <a:custGeom>
            <a:avLst/>
            <a:gdLst/>
            <a:ahLst/>
            <a:cxnLst/>
            <a:rect l="l" t="t" r="r" b="b"/>
            <a:pathLst>
              <a:path w="570340" h="1157345">
                <a:moveTo>
                  <a:pt x="0" y="1157345"/>
                </a:moveTo>
                <a:lnTo>
                  <a:pt x="570340" y="0"/>
                </a:lnTo>
                <a:close/>
              </a:path>
            </a:pathLst>
          </a:cu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Freeform 549"/>
          <p:cNvSpPr/>
          <p:nvPr/>
        </p:nvSpPr>
        <p:spPr>
          <a:xfrm>
            <a:off x="11574147" y="2290512"/>
            <a:ext cx="45567" cy="56796"/>
          </a:xfrm>
          <a:custGeom>
            <a:avLst/>
            <a:gdLst/>
            <a:ahLst/>
            <a:cxnLst/>
            <a:rect l="l" t="t" r="r" b="b"/>
            <a:pathLst>
              <a:path w="45567" h="56796">
                <a:moveTo>
                  <a:pt x="45567" y="22456"/>
                </a:moveTo>
                <a:lnTo>
                  <a:pt x="328" y="56796"/>
                </a:lnTo>
                <a:close/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Freeform 550"/>
          <p:cNvSpPr/>
          <p:nvPr/>
        </p:nvSpPr>
        <p:spPr>
          <a:xfrm>
            <a:off x="12099576" y="1189963"/>
            <a:ext cx="45567" cy="56795"/>
          </a:xfrm>
          <a:custGeom>
            <a:avLst/>
            <a:gdLst/>
            <a:ahLst/>
            <a:cxnLst/>
            <a:rect l="l" t="t" r="r" b="b"/>
            <a:pathLst>
              <a:path w="45567" h="56795">
                <a:moveTo>
                  <a:pt x="0" y="34340"/>
                </a:moveTo>
                <a:lnTo>
                  <a:pt x="45239" y="0"/>
                </a:lnTo>
                <a:close/>
                <a:lnTo>
                  <a:pt x="45567" y="56795"/>
                </a:lnTo>
                <a:close/>
              </a:path>
            </a:pathLst>
          </a:cu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TextBox 551"/>
          <p:cNvSpPr txBox="1"/>
          <p:nvPr/>
        </p:nvSpPr>
        <p:spPr>
          <a:xfrm>
            <a:off x="11586770" y="1617877"/>
            <a:ext cx="59436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1" i="0">
                <a:solidFill>
                  <a:srgbClr val="C0392B"/>
                </a:solidFill>
                <a:latin typeface="Arial"/>
              </a:rPr>
              <a:t>Δ+0.170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10171824" y="546252"/>
            <a:ext cx="193040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(C)  OOD robustness check</a:t>
            </a:r>
          </a:p>
        </p:txBody>
      </p:sp>
      <p:sp>
        <p:nvSpPr>
          <p:cNvPr id="554" name="Freeform 553"/>
          <p:cNvSpPr/>
          <p:nvPr/>
        </p:nvSpPr>
        <p:spPr>
          <a:xfrm>
            <a:off x="11604998" y="793902"/>
            <a:ext cx="964009" cy="328740"/>
          </a:xfrm>
          <a:custGeom>
            <a:avLst/>
            <a:gdLst/>
            <a:ahLst/>
            <a:cxnLst/>
            <a:rect l="l" t="t" r="r" b="b"/>
            <a:pathLst>
              <a:path w="964009" h="328740">
                <a:moveTo>
                  <a:pt x="20320" y="328740"/>
                </a:moveTo>
                <a:lnTo>
                  <a:pt x="943689" y="328740"/>
                </a:lnTo>
                <a:close/>
                <a:lnTo>
                  <a:pt x="958929" y="323660"/>
                </a:lnTo>
                <a:close/>
                <a:lnTo>
                  <a:pt x="964009" y="308420"/>
                </a:lnTo>
                <a:close/>
                <a:lnTo>
                  <a:pt x="964009" y="20320"/>
                </a:lnTo>
                <a:close/>
                <a:lnTo>
                  <a:pt x="958929" y="5080"/>
                </a:lnTo>
                <a:close/>
                <a:lnTo>
                  <a:pt x="943689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308420"/>
                </a:lnTo>
                <a:close/>
                <a:lnTo>
                  <a:pt x="5080" y="323660"/>
                </a:lnTo>
                <a:close/>
                <a:lnTo>
                  <a:pt x="20320" y="328740"/>
                </a:lnTo>
                <a:close/>
                <a:lnTo>
                  <a:pt x="20320" y="32874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11645638" y="840623"/>
            <a:ext cx="203200" cy="71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TextBox 555"/>
          <p:cNvSpPr txBox="1"/>
          <p:nvPr/>
        </p:nvSpPr>
        <p:spPr>
          <a:xfrm>
            <a:off x="11930118" y="810143"/>
            <a:ext cx="58928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Baseline</a:t>
            </a:r>
          </a:p>
        </p:txBody>
      </p:sp>
      <p:sp>
        <p:nvSpPr>
          <p:cNvPr id="557" name="Rectangle 556"/>
          <p:cNvSpPr/>
          <p:nvPr/>
        </p:nvSpPr>
        <p:spPr>
          <a:xfrm>
            <a:off x="11645638" y="989752"/>
            <a:ext cx="203200" cy="71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11930118" y="959272"/>
            <a:ext cx="7721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Regularized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4883555" y="55507"/>
            <a:ext cx="326136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2 (v1) | Surrogate accuracy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