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978140" cy="34747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97814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91440" y="1411834"/>
            <a:ext cx="1559052" cy="985723"/>
          </a:xfrm>
          <a:custGeom>
            <a:avLst/>
            <a:gdLst/>
            <a:ahLst/>
            <a:cxnLst/>
            <a:rect l="l" t="t" r="r" b="b"/>
            <a:pathLst>
              <a:path w="1559052" h="985723">
                <a:moveTo>
                  <a:pt x="70866" y="985723"/>
                </a:moveTo>
                <a:lnTo>
                  <a:pt x="1488186" y="985723"/>
                </a:lnTo>
                <a:close/>
                <a:lnTo>
                  <a:pt x="1519190" y="981322"/>
                </a:lnTo>
                <a:close/>
                <a:lnTo>
                  <a:pt x="1541336" y="968121"/>
                </a:lnTo>
                <a:close/>
                <a:lnTo>
                  <a:pt x="1554623" y="946118"/>
                </a:lnTo>
                <a:close/>
                <a:lnTo>
                  <a:pt x="1559052" y="915314"/>
                </a:lnTo>
                <a:close/>
                <a:lnTo>
                  <a:pt x="1559052" y="70408"/>
                </a:lnTo>
                <a:close/>
                <a:lnTo>
                  <a:pt x="1554623" y="39605"/>
                </a:lnTo>
                <a:close/>
                <a:lnTo>
                  <a:pt x="1541336" y="17602"/>
                </a:lnTo>
                <a:close/>
                <a:lnTo>
                  <a:pt x="1519190" y="4400"/>
                </a:lnTo>
                <a:close/>
                <a:lnTo>
                  <a:pt x="1488186" y="0"/>
                </a:lnTo>
                <a:close/>
                <a:lnTo>
                  <a:pt x="70866" y="0"/>
                </a:lnTo>
                <a:close/>
                <a:lnTo>
                  <a:pt x="39862" y="4400"/>
                </a:lnTo>
                <a:close/>
                <a:lnTo>
                  <a:pt x="17717" y="17602"/>
                </a:lnTo>
                <a:close/>
                <a:lnTo>
                  <a:pt x="4429" y="39605"/>
                </a:lnTo>
                <a:close/>
                <a:lnTo>
                  <a:pt x="0" y="70408"/>
                </a:lnTo>
                <a:close/>
                <a:lnTo>
                  <a:pt x="0" y="915314"/>
                </a:lnTo>
                <a:close/>
                <a:lnTo>
                  <a:pt x="4429" y="946118"/>
                </a:lnTo>
                <a:close/>
                <a:lnTo>
                  <a:pt x="17717" y="968121"/>
                </a:lnTo>
                <a:close/>
                <a:lnTo>
                  <a:pt x="39862" y="981322"/>
                </a:lnTo>
                <a:close/>
                <a:lnTo>
                  <a:pt x="70866" y="985723"/>
                </a:lnTo>
                <a:close/>
                <a:lnTo>
                  <a:pt x="70866" y="985723"/>
                </a:lnTo>
                <a:close/>
              </a:path>
            </a:pathLst>
          </a:custGeom>
          <a:solidFill>
            <a:srgbClr val="D6EAF8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863090" y="1411834"/>
            <a:ext cx="1842516" cy="774496"/>
          </a:xfrm>
          <a:custGeom>
            <a:avLst/>
            <a:gdLst/>
            <a:ahLst/>
            <a:cxnLst/>
            <a:rect l="l" t="t" r="r" b="b"/>
            <a:pathLst>
              <a:path w="1842516" h="774496">
                <a:moveTo>
                  <a:pt x="70866" y="774496"/>
                </a:moveTo>
                <a:lnTo>
                  <a:pt x="1771650" y="774496"/>
                </a:lnTo>
                <a:close/>
                <a:lnTo>
                  <a:pt x="1802654" y="770096"/>
                </a:lnTo>
                <a:close/>
                <a:lnTo>
                  <a:pt x="1824799" y="756894"/>
                </a:lnTo>
                <a:close/>
                <a:lnTo>
                  <a:pt x="1838087" y="734891"/>
                </a:lnTo>
                <a:close/>
                <a:lnTo>
                  <a:pt x="1842516" y="704088"/>
                </a:lnTo>
                <a:close/>
                <a:lnTo>
                  <a:pt x="1842516" y="70408"/>
                </a:lnTo>
                <a:close/>
                <a:lnTo>
                  <a:pt x="1838087" y="39605"/>
                </a:lnTo>
                <a:close/>
                <a:lnTo>
                  <a:pt x="1824799" y="17602"/>
                </a:lnTo>
                <a:close/>
                <a:lnTo>
                  <a:pt x="1802654" y="4400"/>
                </a:lnTo>
                <a:close/>
                <a:lnTo>
                  <a:pt x="1771650" y="0"/>
                </a:lnTo>
                <a:close/>
                <a:lnTo>
                  <a:pt x="70866" y="0"/>
                </a:lnTo>
                <a:close/>
                <a:lnTo>
                  <a:pt x="39862" y="4400"/>
                </a:lnTo>
                <a:close/>
                <a:lnTo>
                  <a:pt x="17716" y="17602"/>
                </a:lnTo>
                <a:close/>
                <a:lnTo>
                  <a:pt x="4429" y="39605"/>
                </a:lnTo>
                <a:close/>
                <a:lnTo>
                  <a:pt x="0" y="70408"/>
                </a:lnTo>
                <a:close/>
                <a:lnTo>
                  <a:pt x="0" y="704088"/>
                </a:lnTo>
                <a:close/>
                <a:lnTo>
                  <a:pt x="4429" y="734891"/>
                </a:lnTo>
                <a:close/>
                <a:lnTo>
                  <a:pt x="17716" y="756894"/>
                </a:lnTo>
                <a:close/>
                <a:lnTo>
                  <a:pt x="39862" y="770096"/>
                </a:lnTo>
                <a:close/>
                <a:lnTo>
                  <a:pt x="70866" y="774496"/>
                </a:lnTo>
                <a:close/>
                <a:lnTo>
                  <a:pt x="70866" y="774496"/>
                </a:lnTo>
                <a:close/>
              </a:path>
            </a:pathLst>
          </a:custGeom>
          <a:solidFill>
            <a:srgbClr val="FDEBD0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863090" y="2327148"/>
            <a:ext cx="1842516" cy="844906"/>
          </a:xfrm>
          <a:custGeom>
            <a:avLst/>
            <a:gdLst/>
            <a:ahLst/>
            <a:cxnLst/>
            <a:rect l="l" t="t" r="r" b="b"/>
            <a:pathLst>
              <a:path w="1842516" h="844906">
                <a:moveTo>
                  <a:pt x="70866" y="844906"/>
                </a:moveTo>
                <a:lnTo>
                  <a:pt x="1771650" y="844906"/>
                </a:lnTo>
                <a:close/>
                <a:lnTo>
                  <a:pt x="1802654" y="840505"/>
                </a:lnTo>
                <a:close/>
                <a:lnTo>
                  <a:pt x="1824799" y="827303"/>
                </a:lnTo>
                <a:close/>
                <a:lnTo>
                  <a:pt x="1838087" y="805301"/>
                </a:lnTo>
                <a:close/>
                <a:lnTo>
                  <a:pt x="1842516" y="774497"/>
                </a:lnTo>
                <a:close/>
                <a:lnTo>
                  <a:pt x="1842516" y="70409"/>
                </a:lnTo>
                <a:close/>
                <a:lnTo>
                  <a:pt x="1838087" y="39605"/>
                </a:lnTo>
                <a:close/>
                <a:lnTo>
                  <a:pt x="1824799" y="17602"/>
                </a:lnTo>
                <a:close/>
                <a:lnTo>
                  <a:pt x="1802654" y="4401"/>
                </a:lnTo>
                <a:close/>
                <a:lnTo>
                  <a:pt x="1771650" y="0"/>
                </a:lnTo>
                <a:close/>
                <a:lnTo>
                  <a:pt x="70866" y="0"/>
                </a:lnTo>
                <a:close/>
                <a:lnTo>
                  <a:pt x="39862" y="4401"/>
                </a:lnTo>
                <a:close/>
                <a:lnTo>
                  <a:pt x="17716" y="17602"/>
                </a:lnTo>
                <a:close/>
                <a:lnTo>
                  <a:pt x="4429" y="39605"/>
                </a:lnTo>
                <a:close/>
                <a:lnTo>
                  <a:pt x="0" y="70409"/>
                </a:lnTo>
                <a:close/>
                <a:lnTo>
                  <a:pt x="0" y="774497"/>
                </a:lnTo>
                <a:close/>
                <a:lnTo>
                  <a:pt x="4429" y="805301"/>
                </a:lnTo>
                <a:close/>
                <a:lnTo>
                  <a:pt x="17716" y="827303"/>
                </a:lnTo>
                <a:close/>
                <a:lnTo>
                  <a:pt x="39862" y="840505"/>
                </a:lnTo>
                <a:close/>
                <a:lnTo>
                  <a:pt x="70866" y="844906"/>
                </a:lnTo>
                <a:close/>
                <a:lnTo>
                  <a:pt x="70866" y="844906"/>
                </a:lnTo>
                <a:close/>
              </a:path>
            </a:pathLst>
          </a:custGeom>
          <a:solidFill>
            <a:srgbClr val="D5F5E3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989070" y="1693469"/>
            <a:ext cx="1700784" cy="985723"/>
          </a:xfrm>
          <a:custGeom>
            <a:avLst/>
            <a:gdLst/>
            <a:ahLst/>
            <a:cxnLst/>
            <a:rect l="l" t="t" r="r" b="b"/>
            <a:pathLst>
              <a:path w="1700784" h="985723">
                <a:moveTo>
                  <a:pt x="70866" y="985723"/>
                </a:moveTo>
                <a:lnTo>
                  <a:pt x="1629918" y="985723"/>
                </a:lnTo>
                <a:close/>
                <a:lnTo>
                  <a:pt x="1660922" y="981322"/>
                </a:lnTo>
                <a:close/>
                <a:lnTo>
                  <a:pt x="1683067" y="968121"/>
                </a:lnTo>
                <a:close/>
                <a:lnTo>
                  <a:pt x="1696355" y="946118"/>
                </a:lnTo>
                <a:close/>
                <a:lnTo>
                  <a:pt x="1700784" y="915314"/>
                </a:lnTo>
                <a:close/>
                <a:lnTo>
                  <a:pt x="1700784" y="70409"/>
                </a:lnTo>
                <a:close/>
                <a:lnTo>
                  <a:pt x="1696355" y="39605"/>
                </a:lnTo>
                <a:close/>
                <a:lnTo>
                  <a:pt x="1683067" y="17602"/>
                </a:lnTo>
                <a:close/>
                <a:lnTo>
                  <a:pt x="1660922" y="4400"/>
                </a:lnTo>
                <a:close/>
                <a:lnTo>
                  <a:pt x="1629918" y="0"/>
                </a:lnTo>
                <a:close/>
                <a:lnTo>
                  <a:pt x="70866" y="0"/>
                </a:lnTo>
                <a:close/>
                <a:lnTo>
                  <a:pt x="39862" y="4400"/>
                </a:lnTo>
                <a:close/>
                <a:lnTo>
                  <a:pt x="17717" y="17602"/>
                </a:lnTo>
                <a:close/>
                <a:lnTo>
                  <a:pt x="4429" y="39605"/>
                </a:lnTo>
                <a:close/>
                <a:lnTo>
                  <a:pt x="0" y="70409"/>
                </a:lnTo>
                <a:close/>
                <a:lnTo>
                  <a:pt x="0" y="915314"/>
                </a:lnTo>
                <a:close/>
                <a:lnTo>
                  <a:pt x="4429" y="946118"/>
                </a:lnTo>
                <a:close/>
                <a:lnTo>
                  <a:pt x="17717" y="968121"/>
                </a:lnTo>
                <a:close/>
                <a:lnTo>
                  <a:pt x="39862" y="981322"/>
                </a:lnTo>
                <a:close/>
                <a:lnTo>
                  <a:pt x="70866" y="985723"/>
                </a:lnTo>
                <a:close/>
                <a:lnTo>
                  <a:pt x="70866" y="985723"/>
                </a:lnTo>
                <a:close/>
              </a:path>
            </a:pathLst>
          </a:custGeom>
          <a:solidFill>
            <a:srgbClr val="D6EAF8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973318" y="778154"/>
            <a:ext cx="1842516" cy="633680"/>
          </a:xfrm>
          <a:custGeom>
            <a:avLst/>
            <a:gdLst/>
            <a:ahLst/>
            <a:cxnLst/>
            <a:rect l="l" t="t" r="r" b="b"/>
            <a:pathLst>
              <a:path w="1842516" h="633680">
                <a:moveTo>
                  <a:pt x="70866" y="633680"/>
                </a:moveTo>
                <a:lnTo>
                  <a:pt x="1771650" y="633680"/>
                </a:lnTo>
                <a:close/>
                <a:lnTo>
                  <a:pt x="1802654" y="629279"/>
                </a:lnTo>
                <a:close/>
                <a:lnTo>
                  <a:pt x="1824800" y="616077"/>
                </a:lnTo>
                <a:close/>
                <a:lnTo>
                  <a:pt x="1838087" y="594075"/>
                </a:lnTo>
                <a:close/>
                <a:lnTo>
                  <a:pt x="1842516" y="563271"/>
                </a:lnTo>
                <a:close/>
                <a:lnTo>
                  <a:pt x="1842516" y="70409"/>
                </a:lnTo>
                <a:close/>
                <a:lnTo>
                  <a:pt x="1838087" y="39605"/>
                </a:lnTo>
                <a:close/>
                <a:lnTo>
                  <a:pt x="1824800" y="17603"/>
                </a:lnTo>
                <a:close/>
                <a:lnTo>
                  <a:pt x="1802654" y="4401"/>
                </a:lnTo>
                <a:close/>
                <a:lnTo>
                  <a:pt x="1771650" y="0"/>
                </a:lnTo>
                <a:close/>
                <a:lnTo>
                  <a:pt x="70866" y="0"/>
                </a:lnTo>
                <a:close/>
                <a:lnTo>
                  <a:pt x="39862" y="4401"/>
                </a:lnTo>
                <a:close/>
                <a:lnTo>
                  <a:pt x="17716" y="17603"/>
                </a:lnTo>
                <a:close/>
                <a:lnTo>
                  <a:pt x="4429" y="39605"/>
                </a:lnTo>
                <a:close/>
                <a:lnTo>
                  <a:pt x="0" y="70409"/>
                </a:lnTo>
                <a:close/>
                <a:lnTo>
                  <a:pt x="0" y="563271"/>
                </a:lnTo>
                <a:close/>
                <a:lnTo>
                  <a:pt x="4429" y="594075"/>
                </a:lnTo>
                <a:close/>
                <a:lnTo>
                  <a:pt x="17716" y="616077"/>
                </a:lnTo>
                <a:close/>
                <a:lnTo>
                  <a:pt x="39862" y="629279"/>
                </a:lnTo>
                <a:close/>
                <a:lnTo>
                  <a:pt x="70866" y="633680"/>
                </a:lnTo>
                <a:close/>
                <a:lnTo>
                  <a:pt x="70866" y="633680"/>
                </a:lnTo>
                <a:close/>
              </a:path>
            </a:pathLst>
          </a:custGeom>
          <a:solidFill>
            <a:srgbClr val="EBF5FB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5973318" y="1482242"/>
            <a:ext cx="1842516" cy="633680"/>
          </a:xfrm>
          <a:custGeom>
            <a:avLst/>
            <a:gdLst/>
            <a:ahLst/>
            <a:cxnLst/>
            <a:rect l="l" t="t" r="r" b="b"/>
            <a:pathLst>
              <a:path w="1842516" h="633680">
                <a:moveTo>
                  <a:pt x="70866" y="633680"/>
                </a:moveTo>
                <a:lnTo>
                  <a:pt x="1771650" y="633680"/>
                </a:lnTo>
                <a:close/>
                <a:lnTo>
                  <a:pt x="1802654" y="629279"/>
                </a:lnTo>
                <a:close/>
                <a:lnTo>
                  <a:pt x="1824800" y="616077"/>
                </a:lnTo>
                <a:close/>
                <a:lnTo>
                  <a:pt x="1838087" y="594075"/>
                </a:lnTo>
                <a:close/>
                <a:lnTo>
                  <a:pt x="1842516" y="563271"/>
                </a:lnTo>
                <a:close/>
                <a:lnTo>
                  <a:pt x="1842516" y="70409"/>
                </a:lnTo>
                <a:close/>
                <a:lnTo>
                  <a:pt x="1838087" y="39605"/>
                </a:lnTo>
                <a:close/>
                <a:lnTo>
                  <a:pt x="1824800" y="17603"/>
                </a:lnTo>
                <a:close/>
                <a:lnTo>
                  <a:pt x="1802654" y="4401"/>
                </a:lnTo>
                <a:close/>
                <a:lnTo>
                  <a:pt x="1771650" y="0"/>
                </a:lnTo>
                <a:close/>
                <a:lnTo>
                  <a:pt x="70866" y="0"/>
                </a:lnTo>
                <a:close/>
                <a:lnTo>
                  <a:pt x="39862" y="4401"/>
                </a:lnTo>
                <a:close/>
                <a:lnTo>
                  <a:pt x="17716" y="17603"/>
                </a:lnTo>
                <a:close/>
                <a:lnTo>
                  <a:pt x="4429" y="39605"/>
                </a:lnTo>
                <a:close/>
                <a:lnTo>
                  <a:pt x="0" y="70409"/>
                </a:lnTo>
                <a:close/>
                <a:lnTo>
                  <a:pt x="0" y="563271"/>
                </a:lnTo>
                <a:close/>
                <a:lnTo>
                  <a:pt x="4429" y="594075"/>
                </a:lnTo>
                <a:close/>
                <a:lnTo>
                  <a:pt x="17716" y="616077"/>
                </a:lnTo>
                <a:close/>
                <a:lnTo>
                  <a:pt x="39862" y="629279"/>
                </a:lnTo>
                <a:close/>
                <a:lnTo>
                  <a:pt x="70866" y="633680"/>
                </a:lnTo>
                <a:close/>
                <a:lnTo>
                  <a:pt x="70866" y="633680"/>
                </a:lnTo>
                <a:close/>
              </a:path>
            </a:pathLst>
          </a:custGeom>
          <a:solidFill>
            <a:srgbClr val="EBF5FB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5973318" y="2186330"/>
            <a:ext cx="1842516" cy="633680"/>
          </a:xfrm>
          <a:custGeom>
            <a:avLst/>
            <a:gdLst/>
            <a:ahLst/>
            <a:cxnLst/>
            <a:rect l="l" t="t" r="r" b="b"/>
            <a:pathLst>
              <a:path w="1842516" h="633680">
                <a:moveTo>
                  <a:pt x="70866" y="633680"/>
                </a:moveTo>
                <a:lnTo>
                  <a:pt x="1771650" y="633680"/>
                </a:lnTo>
                <a:close/>
                <a:lnTo>
                  <a:pt x="1802654" y="629279"/>
                </a:lnTo>
                <a:close/>
                <a:lnTo>
                  <a:pt x="1824800" y="616077"/>
                </a:lnTo>
                <a:close/>
                <a:lnTo>
                  <a:pt x="1838087" y="594075"/>
                </a:lnTo>
                <a:close/>
                <a:lnTo>
                  <a:pt x="1842516" y="563271"/>
                </a:lnTo>
                <a:close/>
                <a:lnTo>
                  <a:pt x="1842516" y="70409"/>
                </a:lnTo>
                <a:close/>
                <a:lnTo>
                  <a:pt x="1838087" y="39605"/>
                </a:lnTo>
                <a:close/>
                <a:lnTo>
                  <a:pt x="1824800" y="17603"/>
                </a:lnTo>
                <a:close/>
                <a:lnTo>
                  <a:pt x="1802654" y="4401"/>
                </a:lnTo>
                <a:close/>
                <a:lnTo>
                  <a:pt x="1771650" y="0"/>
                </a:lnTo>
                <a:close/>
                <a:lnTo>
                  <a:pt x="70866" y="0"/>
                </a:lnTo>
                <a:close/>
                <a:lnTo>
                  <a:pt x="39862" y="4401"/>
                </a:lnTo>
                <a:close/>
                <a:lnTo>
                  <a:pt x="17716" y="17603"/>
                </a:lnTo>
                <a:close/>
                <a:lnTo>
                  <a:pt x="4429" y="39605"/>
                </a:lnTo>
                <a:close/>
                <a:lnTo>
                  <a:pt x="0" y="70409"/>
                </a:lnTo>
                <a:close/>
                <a:lnTo>
                  <a:pt x="0" y="563271"/>
                </a:lnTo>
                <a:close/>
                <a:lnTo>
                  <a:pt x="4429" y="594075"/>
                </a:lnTo>
                <a:close/>
                <a:lnTo>
                  <a:pt x="17716" y="616077"/>
                </a:lnTo>
                <a:close/>
                <a:lnTo>
                  <a:pt x="39862" y="629279"/>
                </a:lnTo>
                <a:close/>
                <a:lnTo>
                  <a:pt x="70866" y="633680"/>
                </a:lnTo>
                <a:close/>
                <a:lnTo>
                  <a:pt x="70866" y="633680"/>
                </a:lnTo>
                <a:close/>
              </a:path>
            </a:pathLst>
          </a:custGeom>
          <a:solidFill>
            <a:srgbClr val="EBF5FB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1175" y="1631204"/>
            <a:ext cx="80010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8 material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622" y="1962464"/>
            <a:ext cx="8953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uniform priors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0515" y="1589586"/>
            <a:ext cx="73152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HF solver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4589" y="1803521"/>
            <a:ext cx="8382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OpenMC–FEniCS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361" y="2540105"/>
            <a:ext cx="59436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9952" y="2754040"/>
            <a:ext cx="8953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n≈2900 samples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4168" y="1976834"/>
            <a:ext cx="73152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HeteroMLP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6651" y="2190770"/>
            <a:ext cx="11811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physics-regularized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029" y="885498"/>
            <a:ext cx="80010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Forward UQ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0344" y="1152763"/>
            <a:ext cx="11239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20k samples / 3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9103" y="1589586"/>
            <a:ext cx="86868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Sobol S1,ST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2061" y="1856851"/>
            <a:ext cx="7239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sensitivity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0583" y="2293674"/>
            <a:ext cx="107442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Posterior MCMC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2521" y="2560939"/>
            <a:ext cx="7239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calibration</a:t>
            </a:r>
          </a:p>
        </p:txBody>
      </p:sp>
      <p:sp>
        <p:nvSpPr>
          <p:cNvPr id="24" name="Freeform 23"/>
          <p:cNvSpPr/>
          <p:nvPr/>
        </p:nvSpPr>
        <p:spPr>
          <a:xfrm>
            <a:off x="1603199" y="1781131"/>
            <a:ext cx="287345" cy="114196"/>
          </a:xfrm>
          <a:custGeom>
            <a:avLst/>
            <a:gdLst/>
            <a:ahLst/>
            <a:cxnLst/>
            <a:rect l="l" t="t" r="r" b="b"/>
            <a:pathLst>
              <a:path w="287345" h="114196">
                <a:moveTo>
                  <a:pt x="0" y="114196"/>
                </a:moveTo>
                <a:lnTo>
                  <a:pt x="287345" y="0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833954" y="1776288"/>
            <a:ext cx="56590" cy="47208"/>
          </a:xfrm>
          <a:custGeom>
            <a:avLst/>
            <a:gdLst/>
            <a:ahLst/>
            <a:cxnLst/>
            <a:rect l="l" t="t" r="r" b="b"/>
            <a:pathLst>
              <a:path w="56590" h="47208">
                <a:moveTo>
                  <a:pt x="0" y="0"/>
                </a:moveTo>
                <a:lnTo>
                  <a:pt x="56590" y="4843"/>
                </a:lnTo>
                <a:close/>
                <a:lnTo>
                  <a:pt x="18762" y="47208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2784348" y="2141328"/>
            <a:ext cx="0" cy="209470"/>
          </a:xfrm>
          <a:custGeom>
            <a:avLst/>
            <a:gdLst/>
            <a:ahLst/>
            <a:cxnLst/>
            <a:rect l="l" t="t" r="r" b="b"/>
            <a:pathLst>
              <a:path w="0" h="209470">
                <a:moveTo>
                  <a:pt x="0" y="0"/>
                </a:moveTo>
                <a:lnTo>
                  <a:pt x="0" y="209470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758948" y="229999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50800" y="0"/>
                </a:moveTo>
                <a:lnTo>
                  <a:pt x="25400" y="50800"/>
                </a:lnTo>
                <a:close/>
                <a:lnTo>
                  <a:pt x="0" y="0"/>
                </a:lnTo>
                <a:close/>
                <a:lnTo>
                  <a:pt x="50800" y="0"/>
                </a:lnTo>
                <a:close/>
              </a:path>
            </a:pathLst>
          </a:custGeom>
          <a:solidFill>
            <a:srgbClr val="333333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654282" y="2427355"/>
            <a:ext cx="369664" cy="306066"/>
          </a:xfrm>
          <a:custGeom>
            <a:avLst/>
            <a:gdLst/>
            <a:ahLst/>
            <a:cxnLst/>
            <a:rect l="l" t="t" r="r" b="b"/>
            <a:pathLst>
              <a:path w="369664" h="306066">
                <a:moveTo>
                  <a:pt x="0" y="306066"/>
                </a:moveTo>
                <a:lnTo>
                  <a:pt x="369664" y="0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3968619" y="2427355"/>
            <a:ext cx="55327" cy="51961"/>
          </a:xfrm>
          <a:custGeom>
            <a:avLst/>
            <a:gdLst/>
            <a:ahLst/>
            <a:cxnLst/>
            <a:rect l="l" t="t" r="r" b="b"/>
            <a:pathLst>
              <a:path w="55327" h="51961">
                <a:moveTo>
                  <a:pt x="0" y="12832"/>
                </a:moveTo>
                <a:lnTo>
                  <a:pt x="55327" y="0"/>
                </a:lnTo>
                <a:close/>
                <a:lnTo>
                  <a:pt x="32397" y="51961"/>
                </a:lnTo>
                <a:close/>
                <a:lnTo>
                  <a:pt x="0" y="12832"/>
                </a:lnTo>
                <a:close/>
              </a:path>
            </a:pathLst>
          </a:custGeom>
          <a:solidFill>
            <a:srgbClr val="333333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630796" y="1136385"/>
            <a:ext cx="391652" cy="745824"/>
          </a:xfrm>
          <a:custGeom>
            <a:avLst/>
            <a:gdLst/>
            <a:ahLst/>
            <a:cxnLst/>
            <a:rect l="l" t="t" r="r" b="b"/>
            <a:pathLst>
              <a:path w="391652" h="745824">
                <a:moveTo>
                  <a:pt x="0" y="745824"/>
                </a:moveTo>
                <a:lnTo>
                  <a:pt x="391652" y="0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976342" y="1136385"/>
            <a:ext cx="46106" cy="56785"/>
          </a:xfrm>
          <a:custGeom>
            <a:avLst/>
            <a:gdLst/>
            <a:ahLst/>
            <a:cxnLst/>
            <a:rect l="l" t="t" r="r" b="b"/>
            <a:pathLst>
              <a:path w="46106" h="56785">
                <a:moveTo>
                  <a:pt x="0" y="33167"/>
                </a:moveTo>
                <a:lnTo>
                  <a:pt x="46106" y="0"/>
                </a:lnTo>
                <a:close/>
                <a:lnTo>
                  <a:pt x="44976" y="56785"/>
                </a:lnTo>
                <a:close/>
                <a:lnTo>
                  <a:pt x="0" y="33167"/>
                </a:lnTo>
                <a:close/>
              </a:path>
            </a:pathLst>
          </a:custGeom>
          <a:solidFill>
            <a:srgbClr val="333333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637751" y="1830526"/>
            <a:ext cx="371908" cy="338716"/>
          </a:xfrm>
          <a:custGeom>
            <a:avLst/>
            <a:gdLst/>
            <a:ahLst/>
            <a:cxnLst/>
            <a:rect l="l" t="t" r="r" b="b"/>
            <a:pathLst>
              <a:path w="371908" h="338716">
                <a:moveTo>
                  <a:pt x="0" y="338716"/>
                </a:moveTo>
                <a:lnTo>
                  <a:pt x="371908" y="0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954998" y="1830526"/>
            <a:ext cx="54661" cy="52985"/>
          </a:xfrm>
          <a:custGeom>
            <a:avLst/>
            <a:gdLst/>
            <a:ahLst/>
            <a:cxnLst/>
            <a:rect l="l" t="t" r="r" b="b"/>
            <a:pathLst>
              <a:path w="54661" h="52985">
                <a:moveTo>
                  <a:pt x="0" y="15427"/>
                </a:moveTo>
                <a:lnTo>
                  <a:pt x="54661" y="0"/>
                </a:lnTo>
                <a:close/>
                <a:lnTo>
                  <a:pt x="34206" y="52985"/>
                </a:lnTo>
                <a:close/>
                <a:lnTo>
                  <a:pt x="0" y="15427"/>
                </a:lnTo>
                <a:close/>
              </a:path>
            </a:pathLst>
          </a:custGeom>
          <a:solidFill>
            <a:srgbClr val="333333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644265" y="2470058"/>
            <a:ext cx="353356" cy="29257"/>
          </a:xfrm>
          <a:custGeom>
            <a:avLst/>
            <a:gdLst/>
            <a:ahLst/>
            <a:cxnLst/>
            <a:rect l="l" t="t" r="r" b="b"/>
            <a:pathLst>
              <a:path w="353356" h="29257">
                <a:moveTo>
                  <a:pt x="0" y="0"/>
                </a:moveTo>
                <a:lnTo>
                  <a:pt x="353356" y="29257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44899" y="2469810"/>
            <a:ext cx="52722" cy="50627"/>
          </a:xfrm>
          <a:custGeom>
            <a:avLst/>
            <a:gdLst/>
            <a:ahLst/>
            <a:cxnLst/>
            <a:rect l="l" t="t" r="r" b="b"/>
            <a:pathLst>
              <a:path w="52722" h="50627">
                <a:moveTo>
                  <a:pt x="4191" y="0"/>
                </a:moveTo>
                <a:lnTo>
                  <a:pt x="52722" y="29505"/>
                </a:lnTo>
                <a:close/>
                <a:lnTo>
                  <a:pt x="0" y="50627"/>
                </a:lnTo>
                <a:close/>
                <a:lnTo>
                  <a:pt x="4191" y="0"/>
                </a:lnTo>
                <a:close/>
              </a:path>
            </a:pathLst>
          </a:custGeom>
          <a:solidFill>
            <a:srgbClr val="333333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96603" y="3128162"/>
            <a:ext cx="141732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1">
                <a:solidFill>
                  <a:srgbClr val="C0392B"/>
                </a:solidFill>
                <a:latin typeface="Arial"/>
              </a:rPr>
              <a:t>23 million× speedup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95469" y="58501"/>
            <a:ext cx="382778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Figure 1 (v1) | Surrogate framework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