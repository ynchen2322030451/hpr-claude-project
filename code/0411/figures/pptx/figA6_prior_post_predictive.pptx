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74547" cy="7216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74547" cy="72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6826" y="53949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48406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3476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2112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10748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19384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28020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6656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5292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3928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2564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712001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79836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84720" y="3276097"/>
            <a:ext cx="86359" cy="1929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71079" y="3218200"/>
            <a:ext cx="86359" cy="7719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39" y="3237499"/>
            <a:ext cx="86359" cy="578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3798" y="3121705"/>
            <a:ext cx="86359" cy="17369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0158" y="3044509"/>
            <a:ext cx="86359" cy="2508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6517" y="2909416"/>
            <a:ext cx="86359" cy="38598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02877" y="2523435"/>
            <a:ext cx="86359" cy="77196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36" y="2330445"/>
            <a:ext cx="86359" cy="96495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5596" y="1732175"/>
            <a:ext cx="86359" cy="156322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61955" y="1809371"/>
            <a:ext cx="86359" cy="148602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8315" y="1288298"/>
            <a:ext cx="86359" cy="200709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4674" y="844421"/>
            <a:ext cx="86359" cy="24509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1034" y="670729"/>
            <a:ext cx="86359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7393" y="1153205"/>
            <a:ext cx="86359" cy="214219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93753" y="1346195"/>
            <a:ext cx="86359" cy="194920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80112" y="1790072"/>
            <a:ext cx="86359" cy="150532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66472" y="1847970"/>
            <a:ext cx="86359" cy="144742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2831" y="2176053"/>
            <a:ext cx="86359" cy="111934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9191" y="2542734"/>
            <a:ext cx="86359" cy="7526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25550" y="2812921"/>
            <a:ext cx="86359" cy="4824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909" y="2890117"/>
            <a:ext cx="86359" cy="40527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98269" y="2986612"/>
            <a:ext cx="86359" cy="30878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84628" y="3198901"/>
            <a:ext cx="86359" cy="9649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70988" y="3237499"/>
            <a:ext cx="86359" cy="578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57347" y="3237499"/>
            <a:ext cx="86359" cy="578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043707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130066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21642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30278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38914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47550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56186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64822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73458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82094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0730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99366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56444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5640" y="335379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55" name="Freeform 54"/>
          <p:cNvSpPr/>
          <p:nvPr/>
        </p:nvSpPr>
        <p:spPr>
          <a:xfrm>
            <a:off x="1555196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74393" y="335379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57" name="Freeform 56"/>
          <p:cNvSpPr/>
          <p:nvPr/>
        </p:nvSpPr>
        <p:spPr>
          <a:xfrm>
            <a:off x="2253949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32744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59" name="Freeform 58"/>
          <p:cNvSpPr/>
          <p:nvPr/>
        </p:nvSpPr>
        <p:spPr>
          <a:xfrm>
            <a:off x="2952702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1496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61" name="Freeform 60"/>
          <p:cNvSpPr/>
          <p:nvPr/>
        </p:nvSpPr>
        <p:spPr>
          <a:xfrm>
            <a:off x="3651455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30249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63" name="Freeform 62"/>
          <p:cNvSpPr/>
          <p:nvPr/>
        </p:nvSpPr>
        <p:spPr>
          <a:xfrm>
            <a:off x="4350207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29002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65" name="Freeform 64"/>
          <p:cNvSpPr/>
          <p:nvPr/>
        </p:nvSpPr>
        <p:spPr>
          <a:xfrm>
            <a:off x="5048960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27755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2145" y="352750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68" name="Freeform 67"/>
          <p:cNvSpPr/>
          <p:nvPr/>
        </p:nvSpPr>
        <p:spPr>
          <a:xfrm>
            <a:off x="592376" y="3295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52" y="3216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70" name="Freeform 69"/>
          <p:cNvSpPr/>
          <p:nvPr/>
        </p:nvSpPr>
        <p:spPr>
          <a:xfrm>
            <a:off x="592376" y="27229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5152" y="264420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72" name="Freeform 71"/>
          <p:cNvSpPr/>
          <p:nvPr/>
        </p:nvSpPr>
        <p:spPr>
          <a:xfrm>
            <a:off x="592376" y="21505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5152" y="207175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74" name="Freeform 73"/>
          <p:cNvSpPr/>
          <p:nvPr/>
        </p:nvSpPr>
        <p:spPr>
          <a:xfrm>
            <a:off x="592376" y="15780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5152" y="149931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76" name="Freeform 75"/>
          <p:cNvSpPr/>
          <p:nvPr/>
        </p:nvSpPr>
        <p:spPr>
          <a:xfrm>
            <a:off x="592376" y="10056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52" y="92687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78" name="TextBox 77"/>
          <p:cNvSpPr txBox="1"/>
          <p:nvPr/>
        </p:nvSpPr>
        <p:spPr>
          <a:xfrm rot="16200000">
            <a:off x="92690" y="170165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79" name="Freeform 78"/>
          <p:cNvSpPr/>
          <p:nvPr/>
        </p:nvSpPr>
        <p:spPr>
          <a:xfrm>
            <a:off x="3364966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337016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36826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636826" y="3295396"/>
            <a:ext cx="4654775" cy="0"/>
          </a:xfrm>
          <a:custGeom>
            <a:avLst/>
            <a:gdLst/>
            <a:ahLst/>
            <a:cxnLst/>
            <a:rect l="l" t="t" r="r" b="b"/>
            <a:pathLst>
              <a:path w="4654775" h="0">
                <a:moveTo>
                  <a:pt x="0" y="0"/>
                </a:moveTo>
                <a:lnTo>
                  <a:pt x="465477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37422" y="342646"/>
            <a:ext cx="200279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Near-threshold (131.8 MPa)</a:t>
            </a:r>
          </a:p>
        </p:txBody>
      </p:sp>
      <p:sp>
        <p:nvSpPr>
          <p:cNvPr id="84" name="Freeform 83"/>
          <p:cNvSpPr/>
          <p:nvPr/>
        </p:nvSpPr>
        <p:spPr>
          <a:xfrm>
            <a:off x="3957193" y="587121"/>
            <a:ext cx="1286783" cy="448002"/>
          </a:xfrm>
          <a:custGeom>
            <a:avLst/>
            <a:gdLst/>
            <a:ahLst/>
            <a:cxnLst/>
            <a:rect l="l" t="t" r="r" b="b"/>
            <a:pathLst>
              <a:path w="1286783" h="448002">
                <a:moveTo>
                  <a:pt x="19050" y="448002"/>
                </a:moveTo>
                <a:lnTo>
                  <a:pt x="1267733" y="448002"/>
                </a:lnTo>
                <a:close/>
                <a:lnTo>
                  <a:pt x="1282021" y="443240"/>
                </a:lnTo>
                <a:close/>
                <a:lnTo>
                  <a:pt x="1286783" y="428952"/>
                </a:lnTo>
                <a:close/>
                <a:lnTo>
                  <a:pt x="1286783" y="19050"/>
                </a:lnTo>
                <a:close/>
                <a:lnTo>
                  <a:pt x="1282021" y="4763"/>
                </a:lnTo>
                <a:close/>
                <a:lnTo>
                  <a:pt x="1267733" y="0"/>
                </a:lnTo>
                <a:close/>
                <a:lnTo>
                  <a:pt x="19050" y="0"/>
                </a:lnTo>
                <a:close/>
                <a:lnTo>
                  <a:pt x="4763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3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95293" y="63092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61993" y="60234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87" name="Freeform 86"/>
          <p:cNvSpPr/>
          <p:nvPr/>
        </p:nvSpPr>
        <p:spPr>
          <a:xfrm>
            <a:off x="3995293" y="80406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1993" y="74215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Observed=132 MPa</a:t>
            </a:r>
          </a:p>
        </p:txBody>
      </p:sp>
      <p:sp>
        <p:nvSpPr>
          <p:cNvPr id="89" name="Freeform 88"/>
          <p:cNvSpPr/>
          <p:nvPr/>
        </p:nvSpPr>
        <p:spPr>
          <a:xfrm>
            <a:off x="3995293" y="94387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61993" y="88196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53855" y="53949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26543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35179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43815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52451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661087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669723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678359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686995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695631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042671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712903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215390" y="3275809"/>
            <a:ext cx="86359" cy="195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01750" y="3275809"/>
            <a:ext cx="86359" cy="195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388109" y="3197461"/>
            <a:ext cx="86359" cy="9793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474469" y="3060351"/>
            <a:ext cx="86359" cy="23504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560828" y="2884068"/>
            <a:ext cx="86359" cy="41132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647187" y="2707784"/>
            <a:ext cx="86359" cy="5876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733547" y="2551088"/>
            <a:ext cx="86359" cy="74430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819906" y="2139759"/>
            <a:ext cx="86359" cy="11556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06266" y="1787192"/>
            <a:ext cx="86359" cy="150820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992625" y="1042884"/>
            <a:ext cx="86359" cy="22525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078985" y="709903"/>
            <a:ext cx="86359" cy="2585493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65344" y="1160406"/>
            <a:ext cx="86359" cy="213499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51704" y="670729"/>
            <a:ext cx="86359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338063" y="1023296"/>
            <a:ext cx="86359" cy="227210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424423" y="1571734"/>
            <a:ext cx="86359" cy="17236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510782" y="1630496"/>
            <a:ext cx="86359" cy="166490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97142" y="2041824"/>
            <a:ext cx="86359" cy="125357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83501" y="2609849"/>
            <a:ext cx="86359" cy="6855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769861" y="2688197"/>
            <a:ext cx="86359" cy="60719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856220" y="2864481"/>
            <a:ext cx="86359" cy="43091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942580" y="3197461"/>
            <a:ext cx="86359" cy="9793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8939" y="3138699"/>
            <a:ext cx="86359" cy="15669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115298" y="3217048"/>
            <a:ext cx="86359" cy="7834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201658" y="3217048"/>
            <a:ext cx="86359" cy="7834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88017" y="3236635"/>
            <a:ext cx="86359" cy="5876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374377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60736" y="3275809"/>
            <a:ext cx="86359" cy="195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547096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633455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9719815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9806174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9892534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978893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0065253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0151612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0237972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0324331" y="329539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0410691" y="329539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6649652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68848" y="335379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43" name="Freeform 142"/>
          <p:cNvSpPr/>
          <p:nvPr/>
        </p:nvSpPr>
        <p:spPr>
          <a:xfrm>
            <a:off x="7335125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213919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8020597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99392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8706070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584864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9391543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70337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10077015" y="32953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955810" y="335379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29175" y="352750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154" name="Freeform 153"/>
          <p:cNvSpPr/>
          <p:nvPr/>
        </p:nvSpPr>
        <p:spPr>
          <a:xfrm>
            <a:off x="6009405" y="32953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82182" y="321664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56" name="Freeform 155"/>
          <p:cNvSpPr/>
          <p:nvPr/>
        </p:nvSpPr>
        <p:spPr>
          <a:xfrm>
            <a:off x="6009405" y="27031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82182" y="262440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158" name="Freeform 157"/>
          <p:cNvSpPr/>
          <p:nvPr/>
        </p:nvSpPr>
        <p:spPr>
          <a:xfrm>
            <a:off x="6009405" y="211090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682182" y="203215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6009405" y="15186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682182" y="143991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6009405" y="9264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682182" y="84767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164" name="TextBox 163"/>
          <p:cNvSpPr txBox="1"/>
          <p:nvPr/>
        </p:nvSpPr>
        <p:spPr>
          <a:xfrm rot="16200000">
            <a:off x="5509720" y="170165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7828665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397607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6053855" y="53949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6053855" y="3295396"/>
            <a:ext cx="4654776" cy="0"/>
          </a:xfrm>
          <a:custGeom>
            <a:avLst/>
            <a:gdLst/>
            <a:ahLst/>
            <a:cxnLst/>
            <a:rect l="l" t="t" r="r" b="b"/>
            <a:pathLst>
              <a:path w="4654776" h="0">
                <a:moveTo>
                  <a:pt x="0" y="0"/>
                </a:moveTo>
                <a:lnTo>
                  <a:pt x="465477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83990" y="342646"/>
            <a:ext cx="17132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Low stress (114.4 MPa)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9374223" y="587121"/>
            <a:ext cx="1286783" cy="448002"/>
          </a:xfrm>
          <a:custGeom>
            <a:avLst/>
            <a:gdLst/>
            <a:ahLst/>
            <a:cxnLst/>
            <a:rect l="l" t="t" r="r" b="b"/>
            <a:pathLst>
              <a:path w="1286783" h="448002">
                <a:moveTo>
                  <a:pt x="19050" y="448002"/>
                </a:moveTo>
                <a:lnTo>
                  <a:pt x="1267733" y="448002"/>
                </a:lnTo>
                <a:close/>
                <a:lnTo>
                  <a:pt x="1282020" y="443240"/>
                </a:lnTo>
                <a:close/>
                <a:lnTo>
                  <a:pt x="1286783" y="428952"/>
                </a:lnTo>
                <a:close/>
                <a:lnTo>
                  <a:pt x="1286783" y="19050"/>
                </a:lnTo>
                <a:close/>
                <a:lnTo>
                  <a:pt x="1282020" y="4763"/>
                </a:lnTo>
                <a:close/>
                <a:lnTo>
                  <a:pt x="1267733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2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412323" y="63092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79023" y="60234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9412323" y="80406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79023" y="74215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Observed=114 MPa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9412323" y="94387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79023" y="88196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36826" y="398373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848406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904331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960256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016180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072105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128030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183955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239879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295804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351729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407653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463578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519503" y="6699565"/>
            <a:ext cx="55925" cy="4007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575427" y="6679529"/>
            <a:ext cx="55925" cy="6010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631352" y="6699565"/>
            <a:ext cx="55925" cy="4007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687277" y="6519244"/>
            <a:ext cx="55925" cy="22039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743202" y="6499209"/>
            <a:ext cx="55925" cy="24042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799126" y="6098496"/>
            <a:ext cx="55925" cy="64114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855051" y="6018354"/>
            <a:ext cx="55925" cy="7212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910976" y="5677748"/>
            <a:ext cx="55925" cy="1061888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966900" y="5136786"/>
            <a:ext cx="55925" cy="160285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022825" y="4655931"/>
            <a:ext cx="55925" cy="208370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078750" y="4295290"/>
            <a:ext cx="55925" cy="244434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134674" y="4375432"/>
            <a:ext cx="55925" cy="236420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190599" y="4114969"/>
            <a:ext cx="55925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246524" y="4215147"/>
            <a:ext cx="55925" cy="252448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302449" y="4595824"/>
            <a:ext cx="55925" cy="214381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58373" y="4996537"/>
            <a:ext cx="55925" cy="174309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414298" y="5417285"/>
            <a:ext cx="55925" cy="1322351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470223" y="5978282"/>
            <a:ext cx="55925" cy="761354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526147" y="6138567"/>
            <a:ext cx="55925" cy="60106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582072" y="6399030"/>
            <a:ext cx="55925" cy="34060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637997" y="6419066"/>
            <a:ext cx="55925" cy="320570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693922" y="6679529"/>
            <a:ext cx="55925" cy="6010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749846" y="6679529"/>
            <a:ext cx="55925" cy="6010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805771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861696" y="6719600"/>
            <a:ext cx="55925" cy="20036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917620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973545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029470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3085394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141319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3197244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3253169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3309093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3365018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3420943" y="6739636"/>
            <a:ext cx="55924" cy="0"/>
          </a:xfrm>
          <a:custGeom>
            <a:avLst/>
            <a:gdLst/>
            <a:ahLst/>
            <a:cxnLst/>
            <a:rect l="l" t="t" r="r" b="b"/>
            <a:pathLst>
              <a:path w="55924" h="0">
                <a:moveTo>
                  <a:pt x="0" y="0"/>
                </a:moveTo>
                <a:lnTo>
                  <a:pt x="55924" y="0"/>
                </a:lnTo>
                <a:close/>
                <a:lnTo>
                  <a:pt x="55924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3476867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3532792" y="6739636"/>
            <a:ext cx="55925" cy="0"/>
          </a:xfrm>
          <a:custGeom>
            <a:avLst/>
            <a:gdLst/>
            <a:ahLst/>
            <a:cxnLst/>
            <a:rect l="l" t="t" r="r" b="b"/>
            <a:pathLst>
              <a:path w="55925" h="0">
                <a:moveTo>
                  <a:pt x="0" y="0"/>
                </a:moveTo>
                <a:lnTo>
                  <a:pt x="55925" y="0"/>
                </a:lnTo>
                <a:close/>
                <a:lnTo>
                  <a:pt x="55925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892508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11704" y="679803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229" name="Freeform 228"/>
          <p:cNvSpPr/>
          <p:nvPr/>
        </p:nvSpPr>
        <p:spPr>
          <a:xfrm>
            <a:off x="1488341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407537" y="679803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231" name="Freeform 230"/>
          <p:cNvSpPr/>
          <p:nvPr/>
        </p:nvSpPr>
        <p:spPr>
          <a:xfrm>
            <a:off x="2084173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962968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233" name="Freeform 232"/>
          <p:cNvSpPr/>
          <p:nvPr/>
        </p:nvSpPr>
        <p:spPr>
          <a:xfrm>
            <a:off x="2680006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558801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235" name="Freeform 234"/>
          <p:cNvSpPr/>
          <p:nvPr/>
        </p:nvSpPr>
        <p:spPr>
          <a:xfrm>
            <a:off x="3275839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154633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237" name="Freeform 236"/>
          <p:cNvSpPr/>
          <p:nvPr/>
        </p:nvSpPr>
        <p:spPr>
          <a:xfrm>
            <a:off x="3871672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750466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239" name="Freeform 238"/>
          <p:cNvSpPr/>
          <p:nvPr/>
        </p:nvSpPr>
        <p:spPr>
          <a:xfrm>
            <a:off x="4467504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346299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41" name="Freeform 240"/>
          <p:cNvSpPr/>
          <p:nvPr/>
        </p:nvSpPr>
        <p:spPr>
          <a:xfrm>
            <a:off x="5063337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942132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12145" y="697174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592376" y="67396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65152" y="666088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246" name="Freeform 245"/>
          <p:cNvSpPr/>
          <p:nvPr/>
        </p:nvSpPr>
        <p:spPr>
          <a:xfrm>
            <a:off x="592376" y="61754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65152" y="609672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592376" y="56113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65152" y="553256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592376" y="50471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65152" y="496840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592376" y="44829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65152" y="44042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254" name="TextBox 253"/>
          <p:cNvSpPr txBox="1"/>
          <p:nvPr/>
        </p:nvSpPr>
        <p:spPr>
          <a:xfrm rot="16200000">
            <a:off x="92690" y="514589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255" name="Freeform 254"/>
          <p:cNvSpPr/>
          <p:nvPr/>
        </p:nvSpPr>
        <p:spPr>
          <a:xfrm>
            <a:off x="5080020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823006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636826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636826" y="6739636"/>
            <a:ext cx="4654775" cy="0"/>
          </a:xfrm>
          <a:custGeom>
            <a:avLst/>
            <a:gdLst/>
            <a:ahLst/>
            <a:cxnLst/>
            <a:rect l="l" t="t" r="r" b="b"/>
            <a:pathLst>
              <a:path w="4654775" h="0">
                <a:moveTo>
                  <a:pt x="0" y="0"/>
                </a:moveTo>
                <a:lnTo>
                  <a:pt x="465477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247109" y="3786886"/>
            <a:ext cx="17856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High stress (225.7 MPa)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684451" y="4031361"/>
            <a:ext cx="1286782" cy="448002"/>
          </a:xfrm>
          <a:custGeom>
            <a:avLst/>
            <a:gdLst/>
            <a:ahLst/>
            <a:cxnLst/>
            <a:rect l="l" t="t" r="r" b="b"/>
            <a:pathLst>
              <a:path w="1286782" h="448002">
                <a:moveTo>
                  <a:pt x="19050" y="448002"/>
                </a:moveTo>
                <a:lnTo>
                  <a:pt x="1267732" y="448002"/>
                </a:lnTo>
                <a:close/>
                <a:lnTo>
                  <a:pt x="1282020" y="443240"/>
                </a:lnTo>
                <a:close/>
                <a:lnTo>
                  <a:pt x="1286782" y="428952"/>
                </a:lnTo>
                <a:close/>
                <a:lnTo>
                  <a:pt x="1286782" y="19050"/>
                </a:lnTo>
                <a:close/>
                <a:lnTo>
                  <a:pt x="1282020" y="4763"/>
                </a:lnTo>
                <a:close/>
                <a:lnTo>
                  <a:pt x="1267732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2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22551" y="407516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89251" y="404658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263" name="Freeform 262"/>
          <p:cNvSpPr/>
          <p:nvPr/>
        </p:nvSpPr>
        <p:spPr>
          <a:xfrm>
            <a:off x="722551" y="424830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989251" y="418639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Observed=226 MPa</a:t>
            </a:r>
          </a:p>
        </p:txBody>
      </p:sp>
      <p:sp>
        <p:nvSpPr>
          <p:cNvPr id="265" name="Freeform 264"/>
          <p:cNvSpPr/>
          <p:nvPr/>
        </p:nvSpPr>
        <p:spPr>
          <a:xfrm>
            <a:off x="722551" y="438811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89251" y="432620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053855" y="3983736"/>
            <a:ext cx="4654776" cy="27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6265436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6351795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6438155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6524514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6610874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6697233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6783593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6869952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6956312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042671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129031" y="6720754"/>
            <a:ext cx="86359" cy="188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215390" y="6701871"/>
            <a:ext cx="86359" cy="3776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301750" y="6626341"/>
            <a:ext cx="86359" cy="11329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388109" y="6701871"/>
            <a:ext cx="86359" cy="3776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474469" y="6550811"/>
            <a:ext cx="86359" cy="18882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560828" y="6267574"/>
            <a:ext cx="86359" cy="47206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647187" y="6078749"/>
            <a:ext cx="86359" cy="6608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733547" y="5946571"/>
            <a:ext cx="86359" cy="79306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819906" y="5323449"/>
            <a:ext cx="86359" cy="14161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906266" y="4945799"/>
            <a:ext cx="86359" cy="17938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992625" y="4568149"/>
            <a:ext cx="86359" cy="217148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078985" y="4417089"/>
            <a:ext cx="86359" cy="23225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165344" y="4114969"/>
            <a:ext cx="86359" cy="262466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251704" y="4322677"/>
            <a:ext cx="86359" cy="241695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338063" y="5059094"/>
            <a:ext cx="86359" cy="168054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424423" y="4775857"/>
            <a:ext cx="86359" cy="1963779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510782" y="5247919"/>
            <a:ext cx="86359" cy="149171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597142" y="5719981"/>
            <a:ext cx="86359" cy="101965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683501" y="6116514"/>
            <a:ext cx="86359" cy="62312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769861" y="6456399"/>
            <a:ext cx="86359" cy="28323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856220" y="6418634"/>
            <a:ext cx="86359" cy="32100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942580" y="6682989"/>
            <a:ext cx="86359" cy="566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028939" y="6682989"/>
            <a:ext cx="86359" cy="566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115298" y="6682989"/>
            <a:ext cx="86359" cy="56647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9201658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288017" y="6720754"/>
            <a:ext cx="86359" cy="188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9374377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9460736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547096" y="6720754"/>
            <a:ext cx="86359" cy="18882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9633455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9719815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9806174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9892534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9978893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0065253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0151612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0237972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0324331" y="6739636"/>
            <a:ext cx="86360" cy="0"/>
          </a:xfrm>
          <a:custGeom>
            <a:avLst/>
            <a:gdLst/>
            <a:ahLst/>
            <a:cxnLst/>
            <a:rect l="l" t="t" r="r" b="b"/>
            <a:pathLst>
              <a:path w="86360" h="0">
                <a:moveTo>
                  <a:pt x="0" y="0"/>
                </a:moveTo>
                <a:lnTo>
                  <a:pt x="86360" y="0"/>
                </a:lnTo>
                <a:close/>
                <a:lnTo>
                  <a:pt x="8636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0410691" y="6739636"/>
            <a:ext cx="86359" cy="0"/>
          </a:xfrm>
          <a:custGeom>
            <a:avLst/>
            <a:gdLst/>
            <a:ahLst/>
            <a:cxnLst/>
            <a:rect l="l" t="t" r="r" b="b"/>
            <a:pathLst>
              <a:path w="86359" h="0">
                <a:moveTo>
                  <a:pt x="0" y="0"/>
                </a:moveTo>
                <a:lnTo>
                  <a:pt x="86359" y="0"/>
                </a:lnTo>
                <a:close/>
                <a:lnTo>
                  <a:pt x="86359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6548233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467429" y="679803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7135900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014694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21" name="Freeform 320"/>
          <p:cNvSpPr/>
          <p:nvPr/>
        </p:nvSpPr>
        <p:spPr>
          <a:xfrm>
            <a:off x="7723567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7602361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323" name="Freeform 322"/>
          <p:cNvSpPr/>
          <p:nvPr/>
        </p:nvSpPr>
        <p:spPr>
          <a:xfrm>
            <a:off x="8311234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190028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8898901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777695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327" name="Freeform 326"/>
          <p:cNvSpPr/>
          <p:nvPr/>
        </p:nvSpPr>
        <p:spPr>
          <a:xfrm>
            <a:off x="9486567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9365362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10074234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953029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31" name="Freeform 330"/>
          <p:cNvSpPr/>
          <p:nvPr/>
        </p:nvSpPr>
        <p:spPr>
          <a:xfrm>
            <a:off x="10661901" y="6739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0540696" y="67980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7629175" y="6971748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 (MPa)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6009405" y="67396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5601378" y="666088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6009405" y="64066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5601378" y="632790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0.005</a:t>
            </a:r>
          </a:p>
        </p:txBody>
      </p:sp>
      <p:sp>
        <p:nvSpPr>
          <p:cNvPr id="338" name="Freeform 337"/>
          <p:cNvSpPr/>
          <p:nvPr/>
        </p:nvSpPr>
        <p:spPr>
          <a:xfrm>
            <a:off x="6009405" y="60736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601378" y="599492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0.010</a:t>
            </a:r>
          </a:p>
        </p:txBody>
      </p:sp>
      <p:sp>
        <p:nvSpPr>
          <p:cNvPr id="340" name="Freeform 339"/>
          <p:cNvSpPr/>
          <p:nvPr/>
        </p:nvSpPr>
        <p:spPr>
          <a:xfrm>
            <a:off x="6009405" y="574069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5601378" y="566194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0.015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6009405" y="540771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5601378" y="532896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0.020</a:t>
            </a:r>
          </a:p>
        </p:txBody>
      </p:sp>
      <p:sp>
        <p:nvSpPr>
          <p:cNvPr id="344" name="Freeform 343"/>
          <p:cNvSpPr/>
          <p:nvPr/>
        </p:nvSpPr>
        <p:spPr>
          <a:xfrm>
            <a:off x="6009405" y="50747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601378" y="4995981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346" name="Freeform 345"/>
          <p:cNvSpPr/>
          <p:nvPr/>
        </p:nvSpPr>
        <p:spPr>
          <a:xfrm>
            <a:off x="6009405" y="47417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5601378" y="466300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0.030</a:t>
            </a:r>
          </a:p>
        </p:txBody>
      </p:sp>
      <p:sp>
        <p:nvSpPr>
          <p:cNvPr id="348" name="Freeform 347"/>
          <p:cNvSpPr/>
          <p:nvPr/>
        </p:nvSpPr>
        <p:spPr>
          <a:xfrm>
            <a:off x="6009405" y="440876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5601378" y="433002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0.035</a:t>
            </a:r>
          </a:p>
        </p:txBody>
      </p:sp>
      <p:sp>
        <p:nvSpPr>
          <p:cNvPr id="350" name="Freeform 349"/>
          <p:cNvSpPr/>
          <p:nvPr/>
        </p:nvSpPr>
        <p:spPr>
          <a:xfrm>
            <a:off x="6009405" y="407578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5601378" y="399703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0.040</a:t>
            </a:r>
          </a:p>
        </p:txBody>
      </p:sp>
      <p:sp>
        <p:nvSpPr>
          <p:cNvPr id="352" name="TextBox 351"/>
          <p:cNvSpPr txBox="1"/>
          <p:nvPr/>
        </p:nvSpPr>
        <p:spPr>
          <a:xfrm rot="16200000">
            <a:off x="5428916" y="514589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353" name="Freeform 352"/>
          <p:cNvSpPr/>
          <p:nvPr/>
        </p:nvSpPr>
        <p:spPr>
          <a:xfrm>
            <a:off x="8387630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8046784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6053855" y="3983736"/>
            <a:ext cx="0" cy="2755900"/>
          </a:xfrm>
          <a:custGeom>
            <a:avLst/>
            <a:gdLst/>
            <a:ahLst/>
            <a:cxnLst/>
            <a:rect l="l" t="t" r="r" b="b"/>
            <a:pathLst>
              <a:path w="0" h="2755900">
                <a:moveTo>
                  <a:pt x="0" y="275590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6053855" y="6739636"/>
            <a:ext cx="4654776" cy="0"/>
          </a:xfrm>
          <a:custGeom>
            <a:avLst/>
            <a:gdLst/>
            <a:ahLst/>
            <a:cxnLst/>
            <a:rect l="l" t="t" r="r" b="b"/>
            <a:pathLst>
              <a:path w="4654776" h="0">
                <a:moveTo>
                  <a:pt x="0" y="0"/>
                </a:moveTo>
                <a:lnTo>
                  <a:pt x="4654776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7713539" y="3786886"/>
            <a:ext cx="156845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Moderate (142.6 MPa)</a:t>
            </a:r>
          </a:p>
        </p:txBody>
      </p:sp>
      <p:sp>
        <p:nvSpPr>
          <p:cNvPr id="358" name="Freeform 357"/>
          <p:cNvSpPr/>
          <p:nvPr/>
        </p:nvSpPr>
        <p:spPr>
          <a:xfrm>
            <a:off x="9374223" y="4031361"/>
            <a:ext cx="1286783" cy="448002"/>
          </a:xfrm>
          <a:custGeom>
            <a:avLst/>
            <a:gdLst/>
            <a:ahLst/>
            <a:cxnLst/>
            <a:rect l="l" t="t" r="r" b="b"/>
            <a:pathLst>
              <a:path w="1286783" h="448002">
                <a:moveTo>
                  <a:pt x="19050" y="448002"/>
                </a:moveTo>
                <a:lnTo>
                  <a:pt x="1267733" y="448002"/>
                </a:lnTo>
                <a:close/>
                <a:lnTo>
                  <a:pt x="1282020" y="443240"/>
                </a:lnTo>
                <a:close/>
                <a:lnTo>
                  <a:pt x="1286783" y="428952"/>
                </a:lnTo>
                <a:close/>
                <a:lnTo>
                  <a:pt x="1286783" y="19050"/>
                </a:lnTo>
                <a:close/>
                <a:lnTo>
                  <a:pt x="1282020" y="4763"/>
                </a:lnTo>
                <a:close/>
                <a:lnTo>
                  <a:pt x="1267733" y="0"/>
                </a:lnTo>
                <a:close/>
                <a:lnTo>
                  <a:pt x="19050" y="0"/>
                </a:lnTo>
                <a:close/>
                <a:lnTo>
                  <a:pt x="4762" y="4763"/>
                </a:lnTo>
                <a:close/>
                <a:lnTo>
                  <a:pt x="0" y="19050"/>
                </a:lnTo>
                <a:close/>
                <a:lnTo>
                  <a:pt x="0" y="428952"/>
                </a:lnTo>
                <a:close/>
                <a:lnTo>
                  <a:pt x="4762" y="443240"/>
                </a:lnTo>
                <a:close/>
                <a:lnTo>
                  <a:pt x="19050" y="448002"/>
                </a:lnTo>
                <a:close/>
                <a:lnTo>
                  <a:pt x="19050" y="44800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412323" y="4075161"/>
            <a:ext cx="190500" cy="66675"/>
          </a:xfrm>
          <a:prstGeom prst="rect">
            <a:avLst/>
          </a:prstGeom>
          <a:solidFill>
            <a:srgbClr val="2E86A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9679023" y="4046586"/>
            <a:ext cx="12382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361" name="Freeform 360"/>
          <p:cNvSpPr/>
          <p:nvPr/>
        </p:nvSpPr>
        <p:spPr>
          <a:xfrm>
            <a:off x="9412323" y="424830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228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9679023" y="4186395"/>
            <a:ext cx="10096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Observed=143 MPa</a:t>
            </a:r>
          </a:p>
        </p:txBody>
      </p:sp>
      <p:sp>
        <p:nvSpPr>
          <p:cNvPr id="363" name="Freeform 362"/>
          <p:cNvSpPr/>
          <p:nvPr/>
        </p:nvSpPr>
        <p:spPr>
          <a:xfrm>
            <a:off x="9412323" y="4388117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95250" y="0"/>
                </a:lnTo>
                <a:close/>
                <a:lnTo>
                  <a:pt x="190500" y="0"/>
                </a:lnTo>
                <a:close/>
              </a:path>
            </a:pathLst>
          </a:custGeom>
          <a:noFill/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9679023" y="4326204"/>
            <a:ext cx="10668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131 MPa threshold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2743859" y="55507"/>
            <a:ext cx="609600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A6 | Prior vs posterior predictive distributions (4 cases)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