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96255" cy="4954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96255" cy="495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27111" y="610819"/>
            <a:ext cx="4919790" cy="3866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27111" y="4145697"/>
            <a:ext cx="3805180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7111" y="3905760"/>
            <a:ext cx="3807202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27111" y="3665822"/>
            <a:ext cx="3802097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7111" y="3425885"/>
            <a:ext cx="4373851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111" y="3185947"/>
            <a:ext cx="3795195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7111" y="2946010"/>
            <a:ext cx="4623482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7111" y="2706073"/>
            <a:ext cx="4681849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27111" y="2466135"/>
            <a:ext cx="410949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7111" y="2226198"/>
            <a:ext cx="2742707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27111" y="1986260"/>
            <a:ext cx="275115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27111" y="1746323"/>
            <a:ext cx="2735187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27111" y="1506386"/>
            <a:ext cx="4362979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27111" y="1266448"/>
            <a:ext cx="2787515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27111" y="1026511"/>
            <a:ext cx="371227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27111" y="786573"/>
            <a:ext cx="468551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627111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6126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1" name="Freeform 20"/>
          <p:cNvSpPr/>
          <p:nvPr/>
        </p:nvSpPr>
        <p:spPr>
          <a:xfrm>
            <a:off x="2566254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5269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3" name="Freeform 22"/>
          <p:cNvSpPr/>
          <p:nvPr/>
        </p:nvSpPr>
        <p:spPr>
          <a:xfrm>
            <a:off x="3505397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4412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5" name="Freeform 24"/>
          <p:cNvSpPr/>
          <p:nvPr/>
        </p:nvSpPr>
        <p:spPr>
          <a:xfrm>
            <a:off x="4444540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555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7" name="Freeform 26"/>
          <p:cNvSpPr/>
          <p:nvPr/>
        </p:nvSpPr>
        <p:spPr>
          <a:xfrm>
            <a:off x="5383683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2698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9" name="Freeform 28"/>
          <p:cNvSpPr/>
          <p:nvPr/>
        </p:nvSpPr>
        <p:spPr>
          <a:xfrm>
            <a:off x="6322825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1840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8266" y="4709523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R2</a:t>
            </a:r>
          </a:p>
        </p:txBody>
      </p:sp>
      <p:sp>
        <p:nvSpPr>
          <p:cNvPr id="32" name="Freeform 31"/>
          <p:cNvSpPr/>
          <p:nvPr/>
        </p:nvSpPr>
        <p:spPr>
          <a:xfrm>
            <a:off x="1582661" y="42236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666" y="4162252"/>
            <a:ext cx="1287780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avg fuel temp</a:t>
            </a:r>
          </a:p>
        </p:txBody>
      </p:sp>
      <p:sp>
        <p:nvSpPr>
          <p:cNvPr id="34" name="Freeform 33"/>
          <p:cNvSpPr/>
          <p:nvPr/>
        </p:nvSpPr>
        <p:spPr>
          <a:xfrm>
            <a:off x="1582661" y="39837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063" y="3922314"/>
            <a:ext cx="1287780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max fuel temp</a:t>
            </a:r>
          </a:p>
        </p:txBody>
      </p:sp>
      <p:sp>
        <p:nvSpPr>
          <p:cNvPr id="36" name="Freeform 35"/>
          <p:cNvSpPr/>
          <p:nvPr/>
        </p:nvSpPr>
        <p:spPr>
          <a:xfrm>
            <a:off x="1582661" y="37438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6039" y="3682377"/>
            <a:ext cx="1525524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max monolith temp</a:t>
            </a:r>
          </a:p>
        </p:txBody>
      </p:sp>
      <p:sp>
        <p:nvSpPr>
          <p:cNvPr id="38" name="Freeform 37"/>
          <p:cNvSpPr/>
          <p:nvPr/>
        </p:nvSpPr>
        <p:spPr>
          <a:xfrm>
            <a:off x="1582661" y="35038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7127" y="3442439"/>
            <a:ext cx="1525524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max global stress</a:t>
            </a:r>
          </a:p>
        </p:txBody>
      </p:sp>
      <p:sp>
        <p:nvSpPr>
          <p:cNvPr id="40" name="Freeform 39"/>
          <p:cNvSpPr/>
          <p:nvPr/>
        </p:nvSpPr>
        <p:spPr>
          <a:xfrm>
            <a:off x="1582661" y="326392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10" y="3202502"/>
            <a:ext cx="1109472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monolith T</a:t>
            </a:r>
          </a:p>
        </p:txBody>
      </p:sp>
      <p:sp>
        <p:nvSpPr>
          <p:cNvPr id="42" name="Freeform 41"/>
          <p:cNvSpPr/>
          <p:nvPr/>
        </p:nvSpPr>
        <p:spPr>
          <a:xfrm>
            <a:off x="1582661" y="30239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382" y="2962565"/>
            <a:ext cx="1168908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core height</a:t>
            </a:r>
          </a:p>
        </p:txBody>
      </p:sp>
      <p:sp>
        <p:nvSpPr>
          <p:cNvPr id="44" name="Freeform 43"/>
          <p:cNvSpPr/>
          <p:nvPr/>
        </p:nvSpPr>
        <p:spPr>
          <a:xfrm>
            <a:off x="1582661" y="27840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1360" y="2722627"/>
            <a:ext cx="812292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wall2</a:t>
            </a:r>
          </a:p>
        </p:txBody>
      </p:sp>
      <p:sp>
        <p:nvSpPr>
          <p:cNvPr id="46" name="Freeform 45"/>
          <p:cNvSpPr/>
          <p:nvPr/>
        </p:nvSpPr>
        <p:spPr>
          <a:xfrm>
            <a:off x="1582661" y="25441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078" y="2482690"/>
            <a:ext cx="871728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keff</a:t>
            </a:r>
          </a:p>
        </p:txBody>
      </p:sp>
      <p:sp>
        <p:nvSpPr>
          <p:cNvPr id="48" name="Freeform 47"/>
          <p:cNvSpPr/>
          <p:nvPr/>
        </p:nvSpPr>
        <p:spPr>
          <a:xfrm>
            <a:off x="1582661" y="23041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6067" y="2242752"/>
            <a:ext cx="1406652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avg fuel temp</a:t>
            </a:r>
          </a:p>
        </p:txBody>
      </p:sp>
      <p:sp>
        <p:nvSpPr>
          <p:cNvPr id="50" name="Freeform 49"/>
          <p:cNvSpPr/>
          <p:nvPr/>
        </p:nvSpPr>
        <p:spPr>
          <a:xfrm>
            <a:off x="1582661" y="20642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464" y="2002815"/>
            <a:ext cx="1406652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max fuel temp</a:t>
            </a:r>
          </a:p>
        </p:txBody>
      </p:sp>
      <p:sp>
        <p:nvSpPr>
          <p:cNvPr id="52" name="Freeform 51"/>
          <p:cNvSpPr/>
          <p:nvPr/>
        </p:nvSpPr>
        <p:spPr>
          <a:xfrm>
            <a:off x="1582661" y="18243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" y="1762878"/>
            <a:ext cx="1644396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max monolith temp</a:t>
            </a:r>
          </a:p>
        </p:txBody>
      </p:sp>
      <p:sp>
        <p:nvSpPr>
          <p:cNvPr id="54" name="Freeform 53"/>
          <p:cNvSpPr/>
          <p:nvPr/>
        </p:nvSpPr>
        <p:spPr>
          <a:xfrm>
            <a:off x="1582661" y="15843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2528" y="1522940"/>
            <a:ext cx="1644396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max global stress</a:t>
            </a:r>
          </a:p>
        </p:txBody>
      </p:sp>
      <p:sp>
        <p:nvSpPr>
          <p:cNvPr id="56" name="Freeform 55"/>
          <p:cNvSpPr/>
          <p:nvPr/>
        </p:nvSpPr>
        <p:spPr>
          <a:xfrm>
            <a:off x="1582661" y="13444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7411" y="1283003"/>
            <a:ext cx="1228344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monolith T</a:t>
            </a:r>
          </a:p>
        </p:txBody>
      </p:sp>
      <p:sp>
        <p:nvSpPr>
          <p:cNvPr id="58" name="Freeform 57"/>
          <p:cNvSpPr/>
          <p:nvPr/>
        </p:nvSpPr>
        <p:spPr>
          <a:xfrm>
            <a:off x="1582661" y="11044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783" y="1043065"/>
            <a:ext cx="1287780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core height</a:t>
            </a:r>
          </a:p>
        </p:txBody>
      </p:sp>
      <p:sp>
        <p:nvSpPr>
          <p:cNvPr id="60" name="Freeform 59"/>
          <p:cNvSpPr/>
          <p:nvPr/>
        </p:nvSpPr>
        <p:spPr>
          <a:xfrm>
            <a:off x="1582661" y="8645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6762" y="803128"/>
            <a:ext cx="931164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wall2</a:t>
            </a:r>
          </a:p>
        </p:txBody>
      </p:sp>
      <p:sp>
        <p:nvSpPr>
          <p:cNvPr id="62" name="Freeform 61"/>
          <p:cNvSpPr/>
          <p:nvPr/>
        </p:nvSpPr>
        <p:spPr>
          <a:xfrm>
            <a:off x="6322825" y="610819"/>
            <a:ext cx="0" cy="3866591"/>
          </a:xfrm>
          <a:custGeom>
            <a:avLst/>
            <a:gdLst/>
            <a:ahLst/>
            <a:cxnLst/>
            <a:rect l="l" t="t" r="r" b="b"/>
            <a:pathLst>
              <a:path w="0" h="3866591">
                <a:moveTo>
                  <a:pt x="0" y="3866591"/>
                </a:moveTo>
                <a:lnTo>
                  <a:pt x="0" y="0"/>
                </a:lnTo>
                <a:close/>
              </a:path>
            </a:pathLst>
          </a:custGeom>
          <a:noFill/>
          <a:ln w="889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27111" y="610819"/>
            <a:ext cx="0" cy="3866591"/>
          </a:xfrm>
          <a:custGeom>
            <a:avLst/>
            <a:gdLst/>
            <a:ahLst/>
            <a:cxnLst/>
            <a:rect l="l" t="t" r="r" b="b"/>
            <a:pathLst>
              <a:path w="0" h="3866591">
                <a:moveTo>
                  <a:pt x="0" y="3866591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27111" y="4477410"/>
            <a:ext cx="4919790" cy="0"/>
          </a:xfrm>
          <a:custGeom>
            <a:avLst/>
            <a:gdLst/>
            <a:ahLst/>
            <a:cxnLst/>
            <a:rect l="l" t="t" r="r" b="b"/>
            <a:pathLst>
              <a:path w="4919790" h="0">
                <a:moveTo>
                  <a:pt x="0" y="0"/>
                </a:moveTo>
                <a:lnTo>
                  <a:pt x="491979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5521" y="413969"/>
            <a:ext cx="62738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R2</a:t>
            </a:r>
          </a:p>
        </p:txBody>
      </p:sp>
      <p:sp>
        <p:nvSpPr>
          <p:cNvPr id="66" name="Freeform 65"/>
          <p:cNvSpPr/>
          <p:nvPr/>
        </p:nvSpPr>
        <p:spPr>
          <a:xfrm>
            <a:off x="1677911" y="661619"/>
            <a:ext cx="1770110" cy="328740"/>
          </a:xfrm>
          <a:custGeom>
            <a:avLst/>
            <a:gdLst/>
            <a:ahLst/>
            <a:cxnLst/>
            <a:rect l="l" t="t" r="r" b="b"/>
            <a:pathLst>
              <a:path w="1770110" h="328740">
                <a:moveTo>
                  <a:pt x="20320" y="328740"/>
                </a:moveTo>
                <a:lnTo>
                  <a:pt x="1749790" y="328740"/>
                </a:lnTo>
                <a:close/>
                <a:lnTo>
                  <a:pt x="1765030" y="323660"/>
                </a:lnTo>
                <a:close/>
                <a:lnTo>
                  <a:pt x="1770110" y="308420"/>
                </a:lnTo>
                <a:close/>
                <a:lnTo>
                  <a:pt x="1770110" y="20320"/>
                </a:lnTo>
                <a:close/>
                <a:lnTo>
                  <a:pt x="1765030" y="5080"/>
                </a:lnTo>
                <a:close/>
                <a:lnTo>
                  <a:pt x="174979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718551" y="708339"/>
            <a:ext cx="203200" cy="71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03031" y="677859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Coupled outputs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18551" y="857469"/>
            <a:ext cx="203200" cy="71120"/>
          </a:xfrm>
          <a:prstGeom prst="rect">
            <a:avLst/>
          </a:prstGeom>
          <a:solidFill>
            <a:srgbClr val="AED9E0"/>
          </a:solidFill>
          <a:ln w="12700">
            <a:solidFill>
              <a:srgbClr val="AE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03031" y="826989"/>
            <a:ext cx="16865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Decoupled (pass 1) outputs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85026" y="610819"/>
            <a:ext cx="4919790" cy="3866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5026" y="4145697"/>
            <a:ext cx="4308518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5026" y="3905760"/>
            <a:ext cx="4211577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5026" y="3665822"/>
            <a:ext cx="4222348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5026" y="3425885"/>
            <a:ext cx="4437774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85026" y="3185947"/>
            <a:ext cx="4330061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5026" y="2946010"/>
            <a:ext cx="4685514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85026" y="2706073"/>
            <a:ext cx="4685514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85026" y="2466135"/>
            <a:ext cx="4588572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85026" y="2226198"/>
            <a:ext cx="4157720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85026" y="1986260"/>
            <a:ext cx="4157720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85026" y="1746323"/>
            <a:ext cx="4179263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785026" y="1506386"/>
            <a:ext cx="443777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85026" y="1266448"/>
            <a:ext cx="419003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785026" y="1026511"/>
            <a:ext cx="4674743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785026" y="786573"/>
            <a:ext cx="468551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785026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84041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89" name="Freeform 88"/>
          <p:cNvSpPr/>
          <p:nvPr/>
        </p:nvSpPr>
        <p:spPr>
          <a:xfrm>
            <a:off x="7722129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21144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91" name="Freeform 90"/>
          <p:cNvSpPr/>
          <p:nvPr/>
        </p:nvSpPr>
        <p:spPr>
          <a:xfrm>
            <a:off x="8659231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58246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93" name="Freeform 92"/>
          <p:cNvSpPr/>
          <p:nvPr/>
        </p:nvSpPr>
        <p:spPr>
          <a:xfrm>
            <a:off x="9596334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495349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95" name="Freeform 94"/>
          <p:cNvSpPr/>
          <p:nvPr/>
        </p:nvSpPr>
        <p:spPr>
          <a:xfrm>
            <a:off x="10533437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432452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97" name="Freeform 96"/>
          <p:cNvSpPr/>
          <p:nvPr/>
        </p:nvSpPr>
        <p:spPr>
          <a:xfrm>
            <a:off x="11470540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369555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46166" y="4709523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PICP90</a:t>
            </a:r>
          </a:p>
        </p:txBody>
      </p:sp>
      <p:sp>
        <p:nvSpPr>
          <p:cNvPr id="100" name="Freeform 99"/>
          <p:cNvSpPr/>
          <p:nvPr/>
        </p:nvSpPr>
        <p:spPr>
          <a:xfrm>
            <a:off x="6740576" y="42236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6740576" y="39837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6740576" y="37438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6740576" y="35038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6740576" y="326392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6740576" y="30239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6740576" y="27840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6740576" y="25441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6740576" y="23041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740576" y="20642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6740576" y="18243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6740576" y="15843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740576" y="13444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6740576" y="11044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740576" y="8645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1001988" y="610819"/>
            <a:ext cx="0" cy="3866591"/>
          </a:xfrm>
          <a:custGeom>
            <a:avLst/>
            <a:gdLst/>
            <a:ahLst/>
            <a:cxnLst/>
            <a:rect l="l" t="t" r="r" b="b"/>
            <a:pathLst>
              <a:path w="0" h="3866591">
                <a:moveTo>
                  <a:pt x="0" y="3866591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785026" y="610819"/>
            <a:ext cx="0" cy="3866591"/>
          </a:xfrm>
          <a:custGeom>
            <a:avLst/>
            <a:gdLst/>
            <a:ahLst/>
            <a:cxnLst/>
            <a:rect l="l" t="t" r="r" b="b"/>
            <a:pathLst>
              <a:path w="0" h="3866591">
                <a:moveTo>
                  <a:pt x="0" y="3866591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6785026" y="4477410"/>
            <a:ext cx="4919789" cy="0"/>
          </a:xfrm>
          <a:custGeom>
            <a:avLst/>
            <a:gdLst/>
            <a:ahLst/>
            <a:cxnLst/>
            <a:rect l="l" t="t" r="r" b="b"/>
            <a:pathLst>
              <a:path w="4919789" h="0">
                <a:moveTo>
                  <a:pt x="0" y="0"/>
                </a:moveTo>
                <a:lnTo>
                  <a:pt x="4919789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70040" y="413969"/>
            <a:ext cx="25095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Prediction interval coverage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6835826" y="661619"/>
            <a:ext cx="1044114" cy="179610"/>
          </a:xfrm>
          <a:custGeom>
            <a:avLst/>
            <a:gdLst/>
            <a:ahLst/>
            <a:cxnLst/>
            <a:rect l="l" t="t" r="r" b="b"/>
            <a:pathLst>
              <a:path w="1044114" h="179610">
                <a:moveTo>
                  <a:pt x="20320" y="179610"/>
                </a:moveTo>
                <a:lnTo>
                  <a:pt x="1023794" y="179610"/>
                </a:lnTo>
                <a:close/>
                <a:lnTo>
                  <a:pt x="1039034" y="174530"/>
                </a:lnTo>
                <a:close/>
                <a:lnTo>
                  <a:pt x="1044114" y="159290"/>
                </a:lnTo>
                <a:close/>
                <a:lnTo>
                  <a:pt x="1044114" y="20320"/>
                </a:lnTo>
                <a:close/>
                <a:lnTo>
                  <a:pt x="1039034" y="5080"/>
                </a:lnTo>
                <a:close/>
                <a:lnTo>
                  <a:pt x="1023794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90"/>
                </a:lnTo>
                <a:close/>
                <a:lnTo>
                  <a:pt x="5080" y="174530"/>
                </a:lnTo>
                <a:close/>
                <a:lnTo>
                  <a:pt x="20320" y="179610"/>
                </a:lnTo>
                <a:close/>
                <a:lnTo>
                  <a:pt x="20320" y="17961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6876466" y="743899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160946" y="677859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Nominal 90%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02906" y="55507"/>
            <a:ext cx="627888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A5 | Per-output accuracy (all 15 outputs, regularized model)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