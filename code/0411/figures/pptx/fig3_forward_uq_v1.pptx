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730309" cy="393619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730309" cy="39361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7629" y="566928"/>
            <a:ext cx="4422843" cy="2816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918668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963845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9022" y="3380433"/>
            <a:ext cx="45177" cy="2847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4199" y="3377586"/>
            <a:ext cx="45177" cy="5694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099376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4553" y="3383280"/>
            <a:ext cx="45178" cy="0"/>
          </a:xfrm>
          <a:custGeom>
            <a:avLst/>
            <a:gdLst/>
            <a:ahLst/>
            <a:cxnLst/>
            <a:rect l="l" t="t" r="r" b="b"/>
            <a:pathLst>
              <a:path w="45178" h="0">
                <a:moveTo>
                  <a:pt x="0" y="0"/>
                </a:moveTo>
                <a:lnTo>
                  <a:pt x="45178" y="0"/>
                </a:lnTo>
                <a:close/>
                <a:lnTo>
                  <a:pt x="45178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9731" y="3374740"/>
            <a:ext cx="45177" cy="8540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34908" y="3366199"/>
            <a:ext cx="45177" cy="17081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80085" y="3371893"/>
            <a:ext cx="45177" cy="11387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25262" y="3377586"/>
            <a:ext cx="45177" cy="5694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0439" y="3377586"/>
            <a:ext cx="45177" cy="5694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15616" y="3354812"/>
            <a:ext cx="45177" cy="28468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0793" y="3366199"/>
            <a:ext cx="45177" cy="17081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05971" y="3366199"/>
            <a:ext cx="45177" cy="17081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51148" y="3354812"/>
            <a:ext cx="45177" cy="28468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96325" y="3340578"/>
            <a:ext cx="45177" cy="42702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41502" y="3317804"/>
            <a:ext cx="45177" cy="65476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86679" y="3326344"/>
            <a:ext cx="45177" cy="56936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31856" y="3312110"/>
            <a:ext cx="45177" cy="71170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77033" y="3329191"/>
            <a:ext cx="45177" cy="54089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22211" y="3266562"/>
            <a:ext cx="45177" cy="116718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67388" y="3266562"/>
            <a:ext cx="45177" cy="116718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12565" y="3238094"/>
            <a:ext cx="45177" cy="145186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57742" y="3212473"/>
            <a:ext cx="45177" cy="170807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02919" y="3175464"/>
            <a:ext cx="45177" cy="207816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48096" y="3141303"/>
            <a:ext cx="45177" cy="241977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93273" y="3118529"/>
            <a:ext cx="45177" cy="264751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138451" y="3035972"/>
            <a:ext cx="45177" cy="347308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83628" y="2956262"/>
            <a:ext cx="45177" cy="427018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28805" y="2916407"/>
            <a:ext cx="45177" cy="466873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73982" y="2873705"/>
            <a:ext cx="45177" cy="509575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19159" y="2796841"/>
            <a:ext cx="45177" cy="586439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64336" y="2748446"/>
            <a:ext cx="45177" cy="634834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09513" y="2628881"/>
            <a:ext cx="45177" cy="754399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54691" y="2591873"/>
            <a:ext cx="45177" cy="791407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499868" y="2523550"/>
            <a:ext cx="45177" cy="859730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545045" y="2386904"/>
            <a:ext cx="45177" cy="996376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590222" y="2341355"/>
            <a:ext cx="45177" cy="1041925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635399" y="2139233"/>
            <a:ext cx="45177" cy="1244047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680576" y="2045289"/>
            <a:ext cx="45177" cy="1337991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25754" y="1954192"/>
            <a:ext cx="45177" cy="1429088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70931" y="1928571"/>
            <a:ext cx="45177" cy="1454709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816108" y="1754917"/>
            <a:ext cx="45177" cy="1628363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861285" y="1692287"/>
            <a:ext cx="45177" cy="1690993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06462" y="1652432"/>
            <a:ext cx="45177" cy="1730848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951639" y="1726449"/>
            <a:ext cx="45177" cy="1656831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996816" y="1632505"/>
            <a:ext cx="45177" cy="1750775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041994" y="1515786"/>
            <a:ext cx="45177" cy="1867494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087171" y="1547101"/>
            <a:ext cx="45177" cy="1836179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132348" y="1490165"/>
            <a:ext cx="45177" cy="1893115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177525" y="1498706"/>
            <a:ext cx="45177" cy="1884574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22702" y="1547101"/>
            <a:ext cx="45177" cy="1836179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67879" y="1638198"/>
            <a:ext cx="45177" cy="1745082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313056" y="1606884"/>
            <a:ext cx="45177" cy="1776396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58234" y="1595497"/>
            <a:ext cx="45177" cy="1787783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403411" y="1618271"/>
            <a:ext cx="45177" cy="1765009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448588" y="1800465"/>
            <a:ext cx="45177" cy="1582815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93765" y="1880175"/>
            <a:ext cx="45177" cy="1503105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538942" y="2042442"/>
            <a:ext cx="45177" cy="1340838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584119" y="2042442"/>
            <a:ext cx="45177" cy="1340838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629296" y="2073757"/>
            <a:ext cx="45177" cy="1309523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674474" y="2116459"/>
            <a:ext cx="45177" cy="1266821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719651" y="2318581"/>
            <a:ext cx="45177" cy="1064699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64828" y="2438146"/>
            <a:ext cx="45177" cy="945134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810005" y="2460920"/>
            <a:ext cx="45177" cy="922360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855182" y="2543477"/>
            <a:ext cx="45177" cy="839803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900359" y="2660196"/>
            <a:ext cx="45177" cy="723084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945536" y="2725672"/>
            <a:ext cx="45177" cy="657608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990714" y="2791148"/>
            <a:ext cx="45177" cy="592132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035891" y="2876552"/>
            <a:ext cx="45177" cy="506728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081068" y="2987576"/>
            <a:ext cx="45177" cy="395704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126245" y="2976189"/>
            <a:ext cx="45177" cy="407091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171422" y="3033125"/>
            <a:ext cx="45177" cy="350155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216599" y="3087214"/>
            <a:ext cx="45177" cy="296066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261776" y="3121375"/>
            <a:ext cx="45177" cy="261905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306954" y="3138456"/>
            <a:ext cx="45177" cy="244824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352131" y="3189698"/>
            <a:ext cx="45177" cy="193582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397308" y="3218166"/>
            <a:ext cx="45177" cy="165114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442485" y="3289336"/>
            <a:ext cx="45177" cy="93944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487662" y="3289336"/>
            <a:ext cx="45177" cy="93944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532839" y="3303570"/>
            <a:ext cx="45177" cy="79710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578016" y="3309263"/>
            <a:ext cx="45177" cy="74017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623194" y="3337731"/>
            <a:ext cx="45177" cy="45549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668371" y="3337731"/>
            <a:ext cx="45177" cy="45549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713548" y="3357659"/>
            <a:ext cx="45177" cy="25621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758725" y="3349119"/>
            <a:ext cx="45177" cy="34161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803902" y="3360506"/>
            <a:ext cx="45177" cy="22774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849079" y="3366199"/>
            <a:ext cx="45177" cy="17081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894256" y="3374740"/>
            <a:ext cx="45177" cy="8540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918668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963845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1009022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54199" y="3380436"/>
            <a:ext cx="45177" cy="2844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1099376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144553" y="3377591"/>
            <a:ext cx="45177" cy="5689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189731" y="3380436"/>
            <a:ext cx="45177" cy="2844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234908" y="3377591"/>
            <a:ext cx="45177" cy="5689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80085" y="3377591"/>
            <a:ext cx="45177" cy="5689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325262" y="3371903"/>
            <a:ext cx="45177" cy="11377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370439" y="3357681"/>
            <a:ext cx="45177" cy="25599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415616" y="3349148"/>
            <a:ext cx="45177" cy="34132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460793" y="3340614"/>
            <a:ext cx="45177" cy="42666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505971" y="3326393"/>
            <a:ext cx="45177" cy="56887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551148" y="3323548"/>
            <a:ext cx="45177" cy="59732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596325" y="3275194"/>
            <a:ext cx="45177" cy="108086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641502" y="3278038"/>
            <a:ext cx="45177" cy="105242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686679" y="3218307"/>
            <a:ext cx="45177" cy="164973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731856" y="3184174"/>
            <a:ext cx="45177" cy="199106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777033" y="3090310"/>
            <a:ext cx="45177" cy="292970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822211" y="3061866"/>
            <a:ext cx="45177" cy="321414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867388" y="2911115"/>
            <a:ext cx="45177" cy="472165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912565" y="2848539"/>
            <a:ext cx="45177" cy="534741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957742" y="2686410"/>
            <a:ext cx="45177" cy="696870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002919" y="2640900"/>
            <a:ext cx="45177" cy="742380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048096" y="2382062"/>
            <a:ext cx="45177" cy="1001218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093273" y="2251221"/>
            <a:ext cx="45177" cy="1132059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138451" y="2231311"/>
            <a:ext cx="45177" cy="1151969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183628" y="1966784"/>
            <a:ext cx="45177" cy="1416496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228805" y="1796122"/>
            <a:ext cx="45177" cy="1587158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273982" y="1673814"/>
            <a:ext cx="45177" cy="1709466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319159" y="1409288"/>
            <a:ext cx="45177" cy="1973992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364336" y="1335334"/>
            <a:ext cx="45177" cy="2047946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409513" y="1170361"/>
            <a:ext cx="45177" cy="2212919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454691" y="1025298"/>
            <a:ext cx="45177" cy="2357982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499868" y="829037"/>
            <a:ext cx="45177" cy="2554243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545045" y="797749"/>
            <a:ext cx="45177" cy="2585531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590222" y="701040"/>
            <a:ext cx="45177" cy="2682240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2635399" y="738017"/>
            <a:ext cx="45177" cy="2645263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2680576" y="991166"/>
            <a:ext cx="45177" cy="2392114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2725754" y="908679"/>
            <a:ext cx="45177" cy="2474601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770931" y="908679"/>
            <a:ext cx="45177" cy="2474601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2816108" y="1070808"/>
            <a:ext cx="45177" cy="2312472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2861285" y="1295513"/>
            <a:ext cx="45177" cy="2087767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2906462" y="1471864"/>
            <a:ext cx="45177" cy="1911416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2951639" y="1642526"/>
            <a:ext cx="45177" cy="1740754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2996816" y="1932652"/>
            <a:ext cx="45177" cy="1450628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041994" y="1898519"/>
            <a:ext cx="45177" cy="1484761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087171" y="2091936"/>
            <a:ext cx="45177" cy="1291344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3132348" y="2296731"/>
            <a:ext cx="45177" cy="1086549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3177525" y="2367840"/>
            <a:ext cx="45177" cy="1015440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222702" y="2561257"/>
            <a:ext cx="45177" cy="822023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3267879" y="2712009"/>
            <a:ext cx="45177" cy="671271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3313056" y="2766052"/>
            <a:ext cx="45177" cy="617228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3358234" y="2908270"/>
            <a:ext cx="45177" cy="475010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3403411" y="2959469"/>
            <a:ext cx="45177" cy="423811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3448588" y="3090310"/>
            <a:ext cx="45177" cy="292970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3493765" y="3161419"/>
            <a:ext cx="45177" cy="221861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538942" y="3209773"/>
            <a:ext cx="45177" cy="173507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584119" y="3238217"/>
            <a:ext cx="45177" cy="145063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3629296" y="3275194"/>
            <a:ext cx="45177" cy="108086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3674474" y="3309326"/>
            <a:ext cx="45177" cy="73954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3719651" y="3323548"/>
            <a:ext cx="45177" cy="59732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3764828" y="3343459"/>
            <a:ext cx="45177" cy="39821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3810005" y="3354836"/>
            <a:ext cx="45177" cy="28444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3855182" y="3360525"/>
            <a:ext cx="45177" cy="22755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3900359" y="3360525"/>
            <a:ext cx="45177" cy="22755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3945536" y="3380436"/>
            <a:ext cx="45177" cy="2844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3990714" y="3377591"/>
            <a:ext cx="45177" cy="5689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4035891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4081068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4126245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4171422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4216599" y="3380436"/>
            <a:ext cx="45177" cy="2844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261776" y="3380436"/>
            <a:ext cx="45177" cy="2844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4306954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4352131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4397308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4442485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4487662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4532839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4578016" y="3383280"/>
            <a:ext cx="45178" cy="0"/>
          </a:xfrm>
          <a:custGeom>
            <a:avLst/>
            <a:gdLst/>
            <a:ahLst/>
            <a:cxnLst/>
            <a:rect l="l" t="t" r="r" b="b"/>
            <a:pathLst>
              <a:path w="45178" h="0">
                <a:moveTo>
                  <a:pt x="0" y="0"/>
                </a:moveTo>
                <a:lnTo>
                  <a:pt x="45178" y="0"/>
                </a:lnTo>
                <a:close/>
                <a:lnTo>
                  <a:pt x="45178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4623194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4668371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4713548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4758725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4803902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4849079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4894256" y="3383280"/>
            <a:ext cx="45178" cy="0"/>
          </a:xfrm>
          <a:custGeom>
            <a:avLst/>
            <a:gdLst/>
            <a:ahLst/>
            <a:cxnLst/>
            <a:rect l="l" t="t" r="r" b="b"/>
            <a:pathLst>
              <a:path w="45178" h="0">
                <a:moveTo>
                  <a:pt x="0" y="0"/>
                </a:moveTo>
                <a:lnTo>
                  <a:pt x="45178" y="0"/>
                </a:lnTo>
                <a:close/>
                <a:lnTo>
                  <a:pt x="45178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2228659" y="566928"/>
            <a:ext cx="2710774" cy="2816352"/>
          </a:xfrm>
          <a:prstGeom prst="rect">
            <a:avLst/>
          </a:prstGeom>
          <a:solidFill>
            <a:srgbClr val="C0392B">
              <a:alpha val="6000"/>
            </a:srgbClr>
          </a:solidFill>
          <a:ln w="12700">
            <a:solidFill>
              <a:srgbClr val="C0392B">
                <a:alpha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1178072" y="33832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097268" y="3441680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185" name="Freeform 184"/>
          <p:cNvSpPr/>
          <p:nvPr/>
        </p:nvSpPr>
        <p:spPr>
          <a:xfrm>
            <a:off x="1826583" y="33832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705377" y="3441680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87" name="Freeform 186"/>
          <p:cNvSpPr/>
          <p:nvPr/>
        </p:nvSpPr>
        <p:spPr>
          <a:xfrm>
            <a:off x="2475093" y="33832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2353888" y="3441680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189" name="Freeform 188"/>
          <p:cNvSpPr/>
          <p:nvPr/>
        </p:nvSpPr>
        <p:spPr>
          <a:xfrm>
            <a:off x="3123604" y="33832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3002398" y="3441680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191" name="Freeform 190"/>
          <p:cNvSpPr/>
          <p:nvPr/>
        </p:nvSpPr>
        <p:spPr>
          <a:xfrm>
            <a:off x="3772114" y="33832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3650909" y="3441680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250</a:t>
            </a:r>
          </a:p>
        </p:txBody>
      </p:sp>
      <p:sp>
        <p:nvSpPr>
          <p:cNvPr id="193" name="Freeform 192"/>
          <p:cNvSpPr/>
          <p:nvPr/>
        </p:nvSpPr>
        <p:spPr>
          <a:xfrm>
            <a:off x="4420625" y="33832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299419" y="3441680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300</a:t>
            </a:r>
          </a:p>
        </p:txBody>
      </p:sp>
      <p:sp>
        <p:nvSpPr>
          <p:cNvPr id="195" name="Freeform 194"/>
          <p:cNvSpPr/>
          <p:nvPr/>
        </p:nvSpPr>
        <p:spPr>
          <a:xfrm>
            <a:off x="5069136" y="33832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4947930" y="3441680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350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995392" y="3615392"/>
            <a:ext cx="2184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Maximum global stress (MPa)</a:t>
            </a:r>
          </a:p>
        </p:txBody>
      </p:sp>
      <p:sp>
        <p:nvSpPr>
          <p:cNvPr id="198" name="Freeform 197"/>
          <p:cNvSpPr/>
          <p:nvPr/>
        </p:nvSpPr>
        <p:spPr>
          <a:xfrm>
            <a:off x="673179" y="338328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265152" y="3304530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0.000</a:t>
            </a:r>
          </a:p>
        </p:txBody>
      </p:sp>
      <p:sp>
        <p:nvSpPr>
          <p:cNvPr id="200" name="Freeform 199"/>
          <p:cNvSpPr/>
          <p:nvPr/>
        </p:nvSpPr>
        <p:spPr>
          <a:xfrm>
            <a:off x="673179" y="298700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265152" y="2908256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0.002</a:t>
            </a:r>
          </a:p>
        </p:txBody>
      </p:sp>
      <p:sp>
        <p:nvSpPr>
          <p:cNvPr id="202" name="Freeform 201"/>
          <p:cNvSpPr/>
          <p:nvPr/>
        </p:nvSpPr>
        <p:spPr>
          <a:xfrm>
            <a:off x="673179" y="259073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265152" y="2511981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0.004</a:t>
            </a:r>
          </a:p>
        </p:txBody>
      </p:sp>
      <p:sp>
        <p:nvSpPr>
          <p:cNvPr id="204" name="Freeform 203"/>
          <p:cNvSpPr/>
          <p:nvPr/>
        </p:nvSpPr>
        <p:spPr>
          <a:xfrm>
            <a:off x="673179" y="219445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265152" y="2115707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0.006</a:t>
            </a:r>
          </a:p>
        </p:txBody>
      </p:sp>
      <p:sp>
        <p:nvSpPr>
          <p:cNvPr id="206" name="Freeform 205"/>
          <p:cNvSpPr/>
          <p:nvPr/>
        </p:nvSpPr>
        <p:spPr>
          <a:xfrm>
            <a:off x="673179" y="179818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265152" y="1719433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0.008</a:t>
            </a:r>
          </a:p>
        </p:txBody>
      </p:sp>
      <p:sp>
        <p:nvSpPr>
          <p:cNvPr id="208" name="Freeform 207"/>
          <p:cNvSpPr/>
          <p:nvPr/>
        </p:nvSpPr>
        <p:spPr>
          <a:xfrm>
            <a:off x="673179" y="140190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265152" y="1323159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0.010</a:t>
            </a:r>
          </a:p>
        </p:txBody>
      </p:sp>
      <p:sp>
        <p:nvSpPr>
          <p:cNvPr id="210" name="Freeform 209"/>
          <p:cNvSpPr/>
          <p:nvPr/>
        </p:nvSpPr>
        <p:spPr>
          <a:xfrm>
            <a:off x="673179" y="100563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265152" y="926884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0.012</a:t>
            </a:r>
          </a:p>
        </p:txBody>
      </p:sp>
      <p:sp>
        <p:nvSpPr>
          <p:cNvPr id="212" name="Freeform 211"/>
          <p:cNvSpPr/>
          <p:nvPr/>
        </p:nvSpPr>
        <p:spPr>
          <a:xfrm>
            <a:off x="673179" y="60936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265152" y="530610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0.014</a:t>
            </a:r>
          </a:p>
        </p:txBody>
      </p:sp>
      <p:sp>
        <p:nvSpPr>
          <p:cNvPr id="214" name="TextBox 213"/>
          <p:cNvSpPr txBox="1"/>
          <p:nvPr/>
        </p:nvSpPr>
        <p:spPr>
          <a:xfrm rot="16200000">
            <a:off x="92690" y="1759313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Density</a:t>
            </a:r>
          </a:p>
        </p:txBody>
      </p:sp>
      <p:sp>
        <p:nvSpPr>
          <p:cNvPr id="215" name="Freeform 214"/>
          <p:cNvSpPr/>
          <p:nvPr/>
        </p:nvSpPr>
        <p:spPr>
          <a:xfrm>
            <a:off x="2228659" y="566928"/>
            <a:ext cx="0" cy="2816352"/>
          </a:xfrm>
          <a:custGeom>
            <a:avLst/>
            <a:gdLst/>
            <a:ahLst/>
            <a:cxnLst/>
            <a:rect l="l" t="t" r="r" b="b"/>
            <a:pathLst>
              <a:path w="0" h="2816352">
                <a:moveTo>
                  <a:pt x="0" y="2816352"/>
                </a:moveTo>
                <a:lnTo>
                  <a:pt x="0" y="0"/>
                </a:lnTo>
                <a:close/>
              </a:path>
            </a:pathLst>
          </a:custGeom>
          <a:noFill/>
          <a:ln w="228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717629" y="566928"/>
            <a:ext cx="0" cy="2816352"/>
          </a:xfrm>
          <a:custGeom>
            <a:avLst/>
            <a:gdLst/>
            <a:ahLst/>
            <a:cxnLst/>
            <a:rect l="l" t="t" r="r" b="b"/>
            <a:pathLst>
              <a:path w="0" h="2816352">
                <a:moveTo>
                  <a:pt x="0" y="2816352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717629" y="3383280"/>
            <a:ext cx="4422843" cy="0"/>
          </a:xfrm>
          <a:custGeom>
            <a:avLst/>
            <a:gdLst/>
            <a:ahLst/>
            <a:cxnLst/>
            <a:rect l="l" t="t" r="r" b="b"/>
            <a:pathLst>
              <a:path w="4422843" h="0">
                <a:moveTo>
                  <a:pt x="0" y="0"/>
                </a:moveTo>
                <a:lnTo>
                  <a:pt x="4422843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4064923" y="627019"/>
            <a:ext cx="101600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1" i="0">
                <a:solidFill>
                  <a:srgbClr val="2E86AB"/>
                </a:solidFill>
                <a:latin typeface="Arial"/>
              </a:rPr>
              <a:t>28% σ reduction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2276824" y="370078"/>
            <a:ext cx="171323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(A)  Max global stress</a:t>
            </a:r>
          </a:p>
        </p:txBody>
      </p:sp>
      <p:sp>
        <p:nvSpPr>
          <p:cNvPr id="220" name="Freeform 219"/>
          <p:cNvSpPr/>
          <p:nvPr/>
        </p:nvSpPr>
        <p:spPr>
          <a:xfrm>
            <a:off x="3604042" y="617728"/>
            <a:ext cx="1485630" cy="705409"/>
          </a:xfrm>
          <a:custGeom>
            <a:avLst/>
            <a:gdLst/>
            <a:ahLst/>
            <a:cxnLst/>
            <a:rect l="l" t="t" r="r" b="b"/>
            <a:pathLst>
              <a:path w="1485630" h="705409">
                <a:moveTo>
                  <a:pt x="20320" y="705409"/>
                </a:moveTo>
                <a:lnTo>
                  <a:pt x="1465310" y="705409"/>
                </a:lnTo>
                <a:close/>
                <a:lnTo>
                  <a:pt x="1480550" y="700329"/>
                </a:lnTo>
                <a:close/>
                <a:lnTo>
                  <a:pt x="1485630" y="685089"/>
                </a:lnTo>
                <a:close/>
                <a:lnTo>
                  <a:pt x="1485630" y="20320"/>
                </a:lnTo>
                <a:close/>
                <a:lnTo>
                  <a:pt x="1480550" y="5080"/>
                </a:lnTo>
                <a:close/>
                <a:lnTo>
                  <a:pt x="1465310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685089"/>
                </a:lnTo>
                <a:close/>
                <a:lnTo>
                  <a:pt x="5080" y="700329"/>
                </a:lnTo>
                <a:close/>
                <a:lnTo>
                  <a:pt x="20320" y="705409"/>
                </a:lnTo>
                <a:close/>
                <a:lnTo>
                  <a:pt x="20320" y="705409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3644682" y="731898"/>
            <a:ext cx="203200" cy="71120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3929162" y="633968"/>
            <a:ext cx="11988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Decoupled (pass 1)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3644682" y="994797"/>
            <a:ext cx="203200" cy="71120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3929162" y="896868"/>
            <a:ext cx="132080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Coupled steady-state</a:t>
            </a:r>
          </a:p>
        </p:txBody>
      </p:sp>
      <p:sp>
        <p:nvSpPr>
          <p:cNvPr id="225" name="Freeform 224"/>
          <p:cNvSpPr/>
          <p:nvPr/>
        </p:nvSpPr>
        <p:spPr>
          <a:xfrm>
            <a:off x="3644682" y="1225807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101600" y="0"/>
                </a:lnTo>
                <a:close/>
                <a:lnTo>
                  <a:pt x="203200" y="0"/>
                </a:lnTo>
                <a:close/>
              </a:path>
            </a:pathLst>
          </a:custGeom>
          <a:noFill/>
          <a:ln w="228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3929162" y="1159767"/>
            <a:ext cx="11379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131 MPa threshold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6618103" y="566928"/>
            <a:ext cx="4020766" cy="11044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6800866" y="1671380"/>
            <a:ext cx="46268" cy="0"/>
          </a:xfrm>
          <a:custGeom>
            <a:avLst/>
            <a:gdLst/>
            <a:ahLst/>
            <a:cxnLst/>
            <a:rect l="l" t="t" r="r" b="b"/>
            <a:pathLst>
              <a:path w="46268" h="0">
                <a:moveTo>
                  <a:pt x="0" y="0"/>
                </a:moveTo>
                <a:lnTo>
                  <a:pt x="46268" y="0"/>
                </a:lnTo>
                <a:close/>
                <a:lnTo>
                  <a:pt x="46268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6847134" y="1671380"/>
            <a:ext cx="46269" cy="0"/>
          </a:xfrm>
          <a:custGeom>
            <a:avLst/>
            <a:gdLst/>
            <a:ahLst/>
            <a:cxnLst/>
            <a:rect l="l" t="t" r="r" b="b"/>
            <a:pathLst>
              <a:path w="46269" h="0">
                <a:moveTo>
                  <a:pt x="0" y="0"/>
                </a:moveTo>
                <a:lnTo>
                  <a:pt x="46269" y="0"/>
                </a:lnTo>
                <a:close/>
                <a:lnTo>
                  <a:pt x="4626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6893403" y="1671380"/>
            <a:ext cx="46269" cy="0"/>
          </a:xfrm>
          <a:custGeom>
            <a:avLst/>
            <a:gdLst/>
            <a:ahLst/>
            <a:cxnLst/>
            <a:rect l="l" t="t" r="r" b="b"/>
            <a:pathLst>
              <a:path w="46269" h="0">
                <a:moveTo>
                  <a:pt x="0" y="0"/>
                </a:moveTo>
                <a:lnTo>
                  <a:pt x="46269" y="0"/>
                </a:lnTo>
                <a:close/>
                <a:lnTo>
                  <a:pt x="4626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6939672" y="1671380"/>
            <a:ext cx="46269" cy="0"/>
          </a:xfrm>
          <a:custGeom>
            <a:avLst/>
            <a:gdLst/>
            <a:ahLst/>
            <a:cxnLst/>
            <a:rect l="l" t="t" r="r" b="b"/>
            <a:pathLst>
              <a:path w="46269" h="0">
                <a:moveTo>
                  <a:pt x="0" y="0"/>
                </a:moveTo>
                <a:lnTo>
                  <a:pt x="46269" y="0"/>
                </a:lnTo>
                <a:close/>
                <a:lnTo>
                  <a:pt x="4626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6985941" y="1671380"/>
            <a:ext cx="46269" cy="0"/>
          </a:xfrm>
          <a:custGeom>
            <a:avLst/>
            <a:gdLst/>
            <a:ahLst/>
            <a:cxnLst/>
            <a:rect l="l" t="t" r="r" b="b"/>
            <a:pathLst>
              <a:path w="46269" h="0">
                <a:moveTo>
                  <a:pt x="0" y="0"/>
                </a:moveTo>
                <a:lnTo>
                  <a:pt x="46269" y="0"/>
                </a:lnTo>
                <a:close/>
                <a:lnTo>
                  <a:pt x="4626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7032210" y="1670284"/>
            <a:ext cx="46269" cy="1096"/>
          </a:xfrm>
          <a:custGeom>
            <a:avLst/>
            <a:gdLst/>
            <a:ahLst/>
            <a:cxnLst/>
            <a:rect l="l" t="t" r="r" b="b"/>
            <a:pathLst>
              <a:path w="46269" h="1096">
                <a:moveTo>
                  <a:pt x="0" y="1096"/>
                </a:moveTo>
                <a:lnTo>
                  <a:pt x="46269" y="1096"/>
                </a:lnTo>
                <a:close/>
                <a:lnTo>
                  <a:pt x="46269" y="0"/>
                </a:lnTo>
                <a:close/>
                <a:lnTo>
                  <a:pt x="0" y="0"/>
                </a:lnTo>
                <a:close/>
                <a:lnTo>
                  <a:pt x="0" y="1096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7078479" y="1671380"/>
            <a:ext cx="46269" cy="0"/>
          </a:xfrm>
          <a:custGeom>
            <a:avLst/>
            <a:gdLst/>
            <a:ahLst/>
            <a:cxnLst/>
            <a:rect l="l" t="t" r="r" b="b"/>
            <a:pathLst>
              <a:path w="46269" h="0">
                <a:moveTo>
                  <a:pt x="0" y="0"/>
                </a:moveTo>
                <a:lnTo>
                  <a:pt x="46269" y="0"/>
                </a:lnTo>
                <a:close/>
                <a:lnTo>
                  <a:pt x="4626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7124748" y="1671380"/>
            <a:ext cx="46269" cy="0"/>
          </a:xfrm>
          <a:custGeom>
            <a:avLst/>
            <a:gdLst/>
            <a:ahLst/>
            <a:cxnLst/>
            <a:rect l="l" t="t" r="r" b="b"/>
            <a:pathLst>
              <a:path w="46269" h="0">
                <a:moveTo>
                  <a:pt x="0" y="0"/>
                </a:moveTo>
                <a:lnTo>
                  <a:pt x="46269" y="0"/>
                </a:lnTo>
                <a:close/>
                <a:lnTo>
                  <a:pt x="4626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7171017" y="1669188"/>
            <a:ext cx="46269" cy="2191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7217285" y="1663710"/>
            <a:ext cx="46269" cy="7670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7263554" y="1668093"/>
            <a:ext cx="46269" cy="3287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7309823" y="1664806"/>
            <a:ext cx="46269" cy="6574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7356092" y="1659327"/>
            <a:ext cx="46269" cy="12053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7402361" y="1661519"/>
            <a:ext cx="46269" cy="9861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7448630" y="1649466"/>
            <a:ext cx="46269" cy="21914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7494899" y="1646179"/>
            <a:ext cx="46269" cy="25201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7541168" y="1641796"/>
            <a:ext cx="46269" cy="29584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7587437" y="1608926"/>
            <a:ext cx="46269" cy="62454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7633705" y="1612213"/>
            <a:ext cx="46269" cy="59167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7679974" y="1599064"/>
            <a:ext cx="46269" cy="72315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7726243" y="1585916"/>
            <a:ext cx="46269" cy="85464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7772512" y="1551950"/>
            <a:ext cx="46269" cy="119430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7818781" y="1512505"/>
            <a:ext cx="46269" cy="158875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7865050" y="1507027"/>
            <a:ext cx="46269" cy="164353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7911319" y="1402937"/>
            <a:ext cx="46269" cy="268443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7957588" y="1379927"/>
            <a:ext cx="46269" cy="291453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8003856" y="1358013"/>
            <a:ext cx="46269" cy="313366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8050125" y="1287890"/>
            <a:ext cx="46269" cy="383490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8096394" y="1195852"/>
            <a:ext cx="46269" cy="475528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8142663" y="1154216"/>
            <a:ext cx="46269" cy="517164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8188932" y="1121345"/>
            <a:ext cx="46269" cy="550035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8235201" y="998628"/>
            <a:ext cx="46269" cy="672751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8281470" y="927409"/>
            <a:ext cx="46269" cy="743971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8327739" y="884677"/>
            <a:ext cx="46269" cy="786703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8374008" y="803596"/>
            <a:ext cx="46269" cy="867784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8420276" y="807979"/>
            <a:ext cx="46269" cy="863401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8466545" y="734568"/>
            <a:ext cx="46269" cy="936812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8512814" y="664444"/>
            <a:ext cx="46269" cy="1006936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8559083" y="619521"/>
            <a:ext cx="46269" cy="1051859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8605352" y="681975"/>
            <a:ext cx="46269" cy="989405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8651621" y="755386"/>
            <a:ext cx="46269" cy="915994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8697890" y="676497"/>
            <a:ext cx="46269" cy="994883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8744159" y="741142"/>
            <a:ext cx="46269" cy="930238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8790427" y="803596"/>
            <a:ext cx="46269" cy="867784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8836696" y="855093"/>
            <a:ext cx="46269" cy="816286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8882965" y="882486"/>
            <a:ext cx="46269" cy="788894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8929234" y="924122"/>
            <a:ext cx="46269" cy="747258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8975503" y="985480"/>
            <a:ext cx="46269" cy="685900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9021772" y="1095049"/>
            <a:ext cx="46269" cy="576331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9068041" y="1180512"/>
            <a:ext cx="46269" cy="490867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9114310" y="1191469"/>
            <a:ext cx="46269" cy="479911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160579" y="1285698"/>
            <a:ext cx="46269" cy="385682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9206847" y="1308708"/>
            <a:ext cx="46269" cy="362672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9253116" y="1418276"/>
            <a:ext cx="46269" cy="253104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9299385" y="1470869"/>
            <a:ext cx="46269" cy="200511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9345654" y="1486209"/>
            <a:ext cx="46269" cy="185171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9391923" y="1526749"/>
            <a:ext cx="46269" cy="144631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9438192" y="1564003"/>
            <a:ext cx="46269" cy="107377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9484461" y="1579342"/>
            <a:ext cx="46269" cy="92038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9530730" y="1582629"/>
            <a:ext cx="46269" cy="88751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9576998" y="1615500"/>
            <a:ext cx="46269" cy="55880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9623267" y="1625361"/>
            <a:ext cx="46269" cy="46019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9669536" y="1622074"/>
            <a:ext cx="46269" cy="49306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9715805" y="1645083"/>
            <a:ext cx="46269" cy="26296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9762074" y="1652753"/>
            <a:ext cx="46269" cy="18627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9808343" y="1661519"/>
            <a:ext cx="46269" cy="9861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9854612" y="1654944"/>
            <a:ext cx="46269" cy="16435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9900881" y="1664806"/>
            <a:ext cx="46269" cy="6574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9947150" y="1670284"/>
            <a:ext cx="46268" cy="1096"/>
          </a:xfrm>
          <a:custGeom>
            <a:avLst/>
            <a:gdLst/>
            <a:ahLst/>
            <a:cxnLst/>
            <a:rect l="l" t="t" r="r" b="b"/>
            <a:pathLst>
              <a:path w="46268" h="1096">
                <a:moveTo>
                  <a:pt x="0" y="1096"/>
                </a:moveTo>
                <a:lnTo>
                  <a:pt x="46268" y="1096"/>
                </a:lnTo>
                <a:close/>
                <a:lnTo>
                  <a:pt x="46268" y="0"/>
                </a:lnTo>
                <a:close/>
                <a:lnTo>
                  <a:pt x="0" y="0"/>
                </a:lnTo>
                <a:close/>
                <a:lnTo>
                  <a:pt x="0" y="1096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9993418" y="1668093"/>
            <a:ext cx="46269" cy="3287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0039687" y="1669188"/>
            <a:ext cx="46269" cy="2191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10085956" y="1670284"/>
            <a:ext cx="46269" cy="1096"/>
          </a:xfrm>
          <a:custGeom>
            <a:avLst/>
            <a:gdLst/>
            <a:ahLst/>
            <a:cxnLst/>
            <a:rect l="l" t="t" r="r" b="b"/>
            <a:pathLst>
              <a:path w="46269" h="1096">
                <a:moveTo>
                  <a:pt x="0" y="1096"/>
                </a:moveTo>
                <a:lnTo>
                  <a:pt x="46269" y="1096"/>
                </a:lnTo>
                <a:close/>
                <a:lnTo>
                  <a:pt x="46269" y="0"/>
                </a:lnTo>
                <a:close/>
                <a:lnTo>
                  <a:pt x="0" y="0"/>
                </a:lnTo>
                <a:close/>
                <a:lnTo>
                  <a:pt x="0" y="1096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10132225" y="1671380"/>
            <a:ext cx="46269" cy="0"/>
          </a:xfrm>
          <a:custGeom>
            <a:avLst/>
            <a:gdLst/>
            <a:ahLst/>
            <a:cxnLst/>
            <a:rect l="l" t="t" r="r" b="b"/>
            <a:pathLst>
              <a:path w="46269" h="0">
                <a:moveTo>
                  <a:pt x="0" y="0"/>
                </a:moveTo>
                <a:lnTo>
                  <a:pt x="46269" y="0"/>
                </a:lnTo>
                <a:close/>
                <a:lnTo>
                  <a:pt x="4626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10178494" y="1670284"/>
            <a:ext cx="46269" cy="1096"/>
          </a:xfrm>
          <a:custGeom>
            <a:avLst/>
            <a:gdLst/>
            <a:ahLst/>
            <a:cxnLst/>
            <a:rect l="l" t="t" r="r" b="b"/>
            <a:pathLst>
              <a:path w="46269" h="1096">
                <a:moveTo>
                  <a:pt x="0" y="1096"/>
                </a:moveTo>
                <a:lnTo>
                  <a:pt x="46269" y="1096"/>
                </a:lnTo>
                <a:close/>
                <a:lnTo>
                  <a:pt x="46269" y="0"/>
                </a:lnTo>
                <a:close/>
                <a:lnTo>
                  <a:pt x="0" y="0"/>
                </a:lnTo>
                <a:close/>
                <a:lnTo>
                  <a:pt x="0" y="1096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10224763" y="1670284"/>
            <a:ext cx="46269" cy="1096"/>
          </a:xfrm>
          <a:custGeom>
            <a:avLst/>
            <a:gdLst/>
            <a:ahLst/>
            <a:cxnLst/>
            <a:rect l="l" t="t" r="r" b="b"/>
            <a:pathLst>
              <a:path w="46269" h="1096">
                <a:moveTo>
                  <a:pt x="0" y="1096"/>
                </a:moveTo>
                <a:lnTo>
                  <a:pt x="46269" y="1096"/>
                </a:lnTo>
                <a:close/>
                <a:lnTo>
                  <a:pt x="46269" y="0"/>
                </a:lnTo>
                <a:close/>
                <a:lnTo>
                  <a:pt x="0" y="0"/>
                </a:lnTo>
                <a:close/>
                <a:lnTo>
                  <a:pt x="0" y="1096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10271032" y="1671380"/>
            <a:ext cx="46269" cy="0"/>
          </a:xfrm>
          <a:custGeom>
            <a:avLst/>
            <a:gdLst/>
            <a:ahLst/>
            <a:cxnLst/>
            <a:rect l="l" t="t" r="r" b="b"/>
            <a:pathLst>
              <a:path w="46269" h="0">
                <a:moveTo>
                  <a:pt x="0" y="0"/>
                </a:moveTo>
                <a:lnTo>
                  <a:pt x="46269" y="0"/>
                </a:lnTo>
                <a:close/>
                <a:lnTo>
                  <a:pt x="4626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10317301" y="1671380"/>
            <a:ext cx="46269" cy="0"/>
          </a:xfrm>
          <a:custGeom>
            <a:avLst/>
            <a:gdLst/>
            <a:ahLst/>
            <a:cxnLst/>
            <a:rect l="l" t="t" r="r" b="b"/>
            <a:pathLst>
              <a:path w="46269" h="0">
                <a:moveTo>
                  <a:pt x="0" y="0"/>
                </a:moveTo>
                <a:lnTo>
                  <a:pt x="46269" y="0"/>
                </a:lnTo>
                <a:close/>
                <a:lnTo>
                  <a:pt x="4626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10363570" y="1671380"/>
            <a:ext cx="46268" cy="0"/>
          </a:xfrm>
          <a:custGeom>
            <a:avLst/>
            <a:gdLst/>
            <a:ahLst/>
            <a:cxnLst/>
            <a:rect l="l" t="t" r="r" b="b"/>
            <a:pathLst>
              <a:path w="46268" h="0">
                <a:moveTo>
                  <a:pt x="0" y="0"/>
                </a:moveTo>
                <a:lnTo>
                  <a:pt x="46268" y="0"/>
                </a:lnTo>
                <a:close/>
                <a:lnTo>
                  <a:pt x="46268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10409838" y="1671380"/>
            <a:ext cx="46269" cy="0"/>
          </a:xfrm>
          <a:custGeom>
            <a:avLst/>
            <a:gdLst/>
            <a:ahLst/>
            <a:cxnLst/>
            <a:rect l="l" t="t" r="r" b="b"/>
            <a:pathLst>
              <a:path w="46269" h="0">
                <a:moveTo>
                  <a:pt x="0" y="0"/>
                </a:moveTo>
                <a:lnTo>
                  <a:pt x="46269" y="0"/>
                </a:lnTo>
                <a:close/>
                <a:lnTo>
                  <a:pt x="4626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7305632" y="16713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7199592" y="1737405"/>
            <a:ext cx="3238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0.90</a:t>
            </a:r>
          </a:p>
        </p:txBody>
      </p:sp>
      <p:sp>
        <p:nvSpPr>
          <p:cNvPr id="309" name="Freeform 308"/>
          <p:cNvSpPr/>
          <p:nvPr/>
        </p:nvSpPr>
        <p:spPr>
          <a:xfrm>
            <a:off x="8280363" y="16713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8174323" y="1737405"/>
            <a:ext cx="3238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1.05</a:t>
            </a:r>
          </a:p>
        </p:txBody>
      </p:sp>
      <p:sp>
        <p:nvSpPr>
          <p:cNvPr id="311" name="Freeform 310"/>
          <p:cNvSpPr/>
          <p:nvPr/>
        </p:nvSpPr>
        <p:spPr>
          <a:xfrm>
            <a:off x="9255094" y="16713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9149054" y="1737405"/>
            <a:ext cx="3238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1.20</a:t>
            </a:r>
          </a:p>
        </p:txBody>
      </p:sp>
      <p:sp>
        <p:nvSpPr>
          <p:cNvPr id="313" name="Freeform 312"/>
          <p:cNvSpPr/>
          <p:nvPr/>
        </p:nvSpPr>
        <p:spPr>
          <a:xfrm>
            <a:off x="10229825" y="16713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10123785" y="1737405"/>
            <a:ext cx="3238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1.35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8545905" y="1877339"/>
            <a:ext cx="36703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keff</a:t>
            </a:r>
          </a:p>
        </p:txBody>
      </p:sp>
      <p:sp>
        <p:nvSpPr>
          <p:cNvPr id="316" name="Freeform 315"/>
          <p:cNvSpPr/>
          <p:nvPr/>
        </p:nvSpPr>
        <p:spPr>
          <a:xfrm>
            <a:off x="6573653" y="167138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6468601" y="1612317"/>
            <a:ext cx="1524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18" name="Freeform 317"/>
          <p:cNvSpPr/>
          <p:nvPr/>
        </p:nvSpPr>
        <p:spPr>
          <a:xfrm>
            <a:off x="6573653" y="135931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6468601" y="1300255"/>
            <a:ext cx="1524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320" name="Freeform 319"/>
          <p:cNvSpPr/>
          <p:nvPr/>
        </p:nvSpPr>
        <p:spPr>
          <a:xfrm>
            <a:off x="6573653" y="104725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6468601" y="988192"/>
            <a:ext cx="1524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322" name="Freeform 321"/>
          <p:cNvSpPr/>
          <p:nvPr/>
        </p:nvSpPr>
        <p:spPr>
          <a:xfrm>
            <a:off x="6573653" y="73519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6468601" y="676130"/>
            <a:ext cx="1524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324" name="TextBox 323"/>
          <p:cNvSpPr txBox="1"/>
          <p:nvPr/>
        </p:nvSpPr>
        <p:spPr>
          <a:xfrm rot="16200000">
            <a:off x="6320471" y="946521"/>
            <a:ext cx="5283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Density</a:t>
            </a:r>
          </a:p>
        </p:txBody>
      </p:sp>
      <p:sp>
        <p:nvSpPr>
          <p:cNvPr id="325" name="Freeform 324"/>
          <p:cNvSpPr/>
          <p:nvPr/>
        </p:nvSpPr>
        <p:spPr>
          <a:xfrm>
            <a:off x="6618103" y="566928"/>
            <a:ext cx="0" cy="1104452"/>
          </a:xfrm>
          <a:custGeom>
            <a:avLst/>
            <a:gdLst/>
            <a:ahLst/>
            <a:cxnLst/>
            <a:rect l="l" t="t" r="r" b="b"/>
            <a:pathLst>
              <a:path w="0" h="1104452">
                <a:moveTo>
                  <a:pt x="0" y="1104452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6618103" y="1671380"/>
            <a:ext cx="4020766" cy="0"/>
          </a:xfrm>
          <a:custGeom>
            <a:avLst/>
            <a:gdLst/>
            <a:ahLst/>
            <a:cxnLst/>
            <a:rect l="l" t="t" r="r" b="b"/>
            <a:pathLst>
              <a:path w="4020766" h="0">
                <a:moveTo>
                  <a:pt x="0" y="0"/>
                </a:moveTo>
                <a:lnTo>
                  <a:pt x="4020766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7635219" y="376428"/>
            <a:ext cx="251460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(B)  keff — decoupled (broad scale)</a:t>
            </a:r>
          </a:p>
        </p:txBody>
      </p:sp>
      <p:sp>
        <p:nvSpPr>
          <p:cNvPr id="328" name="Freeform 327"/>
          <p:cNvSpPr/>
          <p:nvPr/>
        </p:nvSpPr>
        <p:spPr>
          <a:xfrm>
            <a:off x="8731265" y="614553"/>
            <a:ext cx="1859979" cy="168384"/>
          </a:xfrm>
          <a:custGeom>
            <a:avLst/>
            <a:gdLst/>
            <a:ahLst/>
            <a:cxnLst/>
            <a:rect l="l" t="t" r="r" b="b"/>
            <a:pathLst>
              <a:path w="1859979" h="168384">
                <a:moveTo>
                  <a:pt x="19050" y="168384"/>
                </a:moveTo>
                <a:lnTo>
                  <a:pt x="1840929" y="168384"/>
                </a:lnTo>
                <a:close/>
                <a:lnTo>
                  <a:pt x="1855217" y="163622"/>
                </a:lnTo>
                <a:close/>
                <a:lnTo>
                  <a:pt x="1859979" y="149334"/>
                </a:lnTo>
                <a:close/>
                <a:lnTo>
                  <a:pt x="1859979" y="19050"/>
                </a:lnTo>
                <a:close/>
                <a:lnTo>
                  <a:pt x="1855217" y="4763"/>
                </a:lnTo>
                <a:close/>
                <a:lnTo>
                  <a:pt x="1840929" y="0"/>
                </a:lnTo>
                <a:close/>
                <a:lnTo>
                  <a:pt x="19050" y="0"/>
                </a:lnTo>
                <a:close/>
                <a:lnTo>
                  <a:pt x="4762" y="4763"/>
                </a:lnTo>
                <a:close/>
                <a:lnTo>
                  <a:pt x="0" y="19050"/>
                </a:lnTo>
                <a:close/>
                <a:lnTo>
                  <a:pt x="0" y="149334"/>
                </a:lnTo>
                <a:close/>
                <a:lnTo>
                  <a:pt x="4762" y="163622"/>
                </a:lnTo>
                <a:close/>
                <a:lnTo>
                  <a:pt x="19050" y="168384"/>
                </a:lnTo>
                <a:close/>
                <a:lnTo>
                  <a:pt x="19050" y="168384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8769365" y="658353"/>
            <a:ext cx="190500" cy="66675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9036065" y="629778"/>
            <a:ext cx="18097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Decoupled (pass 1)  σ = 0.0625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6618103" y="2278828"/>
            <a:ext cx="4020766" cy="11044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6800866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6862819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6924772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6986725" y="3383280"/>
            <a:ext cx="61954" cy="0"/>
          </a:xfrm>
          <a:custGeom>
            <a:avLst/>
            <a:gdLst/>
            <a:ahLst/>
            <a:cxnLst/>
            <a:rect l="l" t="t" r="r" b="b"/>
            <a:pathLst>
              <a:path w="61954" h="0">
                <a:moveTo>
                  <a:pt x="0" y="0"/>
                </a:moveTo>
                <a:lnTo>
                  <a:pt x="61954" y="0"/>
                </a:lnTo>
                <a:close/>
                <a:lnTo>
                  <a:pt x="61954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7048679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7110632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7172585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7234538" y="3383280"/>
            <a:ext cx="61954" cy="0"/>
          </a:xfrm>
          <a:custGeom>
            <a:avLst/>
            <a:gdLst/>
            <a:ahLst/>
            <a:cxnLst/>
            <a:rect l="l" t="t" r="r" b="b"/>
            <a:pathLst>
              <a:path w="61954" h="0">
                <a:moveTo>
                  <a:pt x="0" y="0"/>
                </a:moveTo>
                <a:lnTo>
                  <a:pt x="61954" y="0"/>
                </a:lnTo>
                <a:close/>
                <a:lnTo>
                  <a:pt x="61954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7296492" y="3382667"/>
            <a:ext cx="61953" cy="613"/>
          </a:xfrm>
          <a:custGeom>
            <a:avLst/>
            <a:gdLst/>
            <a:ahLst/>
            <a:cxnLst/>
            <a:rect l="l" t="t" r="r" b="b"/>
            <a:pathLst>
              <a:path w="61953" h="613">
                <a:moveTo>
                  <a:pt x="0" y="613"/>
                </a:moveTo>
                <a:lnTo>
                  <a:pt x="61953" y="613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613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7358445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7420398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7482351" y="3382667"/>
            <a:ext cx="61954" cy="613"/>
          </a:xfrm>
          <a:custGeom>
            <a:avLst/>
            <a:gdLst/>
            <a:ahLst/>
            <a:cxnLst/>
            <a:rect l="l" t="t" r="r" b="b"/>
            <a:pathLst>
              <a:path w="61954" h="613">
                <a:moveTo>
                  <a:pt x="0" y="613"/>
                </a:moveTo>
                <a:lnTo>
                  <a:pt x="61954" y="613"/>
                </a:lnTo>
                <a:close/>
                <a:lnTo>
                  <a:pt x="61954" y="0"/>
                </a:lnTo>
                <a:close/>
                <a:lnTo>
                  <a:pt x="0" y="0"/>
                </a:lnTo>
                <a:close/>
                <a:lnTo>
                  <a:pt x="0" y="613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7544305" y="3379604"/>
            <a:ext cx="61953" cy="3676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7606258" y="3379604"/>
            <a:ext cx="61953" cy="3676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7668211" y="3374091"/>
            <a:ext cx="61953" cy="9189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7730164" y="3371028"/>
            <a:ext cx="61953" cy="1225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7792118" y="3354487"/>
            <a:ext cx="61953" cy="28793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7854071" y="3326919"/>
            <a:ext cx="61953" cy="5636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7916024" y="3298127"/>
            <a:ext cx="61953" cy="85153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7977977" y="3262595"/>
            <a:ext cx="61953" cy="12068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8039931" y="3187243"/>
            <a:ext cx="61953" cy="19603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8101884" y="3114342"/>
            <a:ext cx="61953" cy="268938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8163837" y="3029189"/>
            <a:ext cx="61953" cy="35409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8225790" y="2902990"/>
            <a:ext cx="61953" cy="480290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8287744" y="2785368"/>
            <a:ext cx="61953" cy="59791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8349697" y="2696539"/>
            <a:ext cx="61953" cy="68674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8411650" y="2563602"/>
            <a:ext cx="61953" cy="819678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8473603" y="2447818"/>
            <a:ext cx="61953" cy="93546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8535557" y="2431277"/>
            <a:ext cx="61953" cy="952003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8597510" y="2331421"/>
            <a:ext cx="61953" cy="1051859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8659463" y="2419638"/>
            <a:ext cx="61953" cy="96364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8721416" y="2466809"/>
            <a:ext cx="61953" cy="91647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8783370" y="2585656"/>
            <a:ext cx="61953" cy="797624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8845323" y="2702665"/>
            <a:ext cx="61953" cy="68061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8907276" y="2759026"/>
            <a:ext cx="61953" cy="624254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8969229" y="2934846"/>
            <a:ext cx="61953" cy="448434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9031183" y="3008360"/>
            <a:ext cx="61953" cy="374920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9093136" y="3127820"/>
            <a:ext cx="61953" cy="255460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9155089" y="3192144"/>
            <a:ext cx="61953" cy="191136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9217042" y="3251568"/>
            <a:ext cx="61953" cy="13171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9278996" y="3306091"/>
            <a:ext cx="61953" cy="77189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9340949" y="3326307"/>
            <a:ext cx="61953" cy="56973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9402902" y="3348361"/>
            <a:ext cx="61953" cy="34919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9464855" y="3364902"/>
            <a:ext cx="61953" cy="18378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9526809" y="3375316"/>
            <a:ext cx="61953" cy="7964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9588762" y="3378379"/>
            <a:ext cx="61953" cy="490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9650715" y="3382055"/>
            <a:ext cx="61953" cy="1225"/>
          </a:xfrm>
          <a:custGeom>
            <a:avLst/>
            <a:gdLst/>
            <a:ahLst/>
            <a:cxnLst/>
            <a:rect l="l" t="t" r="r" b="b"/>
            <a:pathLst>
              <a:path w="61953" h="1225">
                <a:moveTo>
                  <a:pt x="0" y="1225"/>
                </a:moveTo>
                <a:lnTo>
                  <a:pt x="61953" y="1225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1225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9712668" y="3382055"/>
            <a:ext cx="61954" cy="1225"/>
          </a:xfrm>
          <a:custGeom>
            <a:avLst/>
            <a:gdLst/>
            <a:ahLst/>
            <a:cxnLst/>
            <a:rect l="l" t="t" r="r" b="b"/>
            <a:pathLst>
              <a:path w="61954" h="1225">
                <a:moveTo>
                  <a:pt x="0" y="1225"/>
                </a:moveTo>
                <a:lnTo>
                  <a:pt x="61954" y="1225"/>
                </a:lnTo>
                <a:close/>
                <a:lnTo>
                  <a:pt x="61954" y="0"/>
                </a:lnTo>
                <a:close/>
                <a:lnTo>
                  <a:pt x="0" y="0"/>
                </a:lnTo>
                <a:close/>
                <a:lnTo>
                  <a:pt x="0" y="1225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9774622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9836575" y="3382667"/>
            <a:ext cx="61953" cy="613"/>
          </a:xfrm>
          <a:custGeom>
            <a:avLst/>
            <a:gdLst/>
            <a:ahLst/>
            <a:cxnLst/>
            <a:rect l="l" t="t" r="r" b="b"/>
            <a:pathLst>
              <a:path w="61953" h="613">
                <a:moveTo>
                  <a:pt x="0" y="613"/>
                </a:moveTo>
                <a:lnTo>
                  <a:pt x="61953" y="613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613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Freeform 381"/>
          <p:cNvSpPr/>
          <p:nvPr/>
        </p:nvSpPr>
        <p:spPr>
          <a:xfrm>
            <a:off x="9898528" y="3382667"/>
            <a:ext cx="61953" cy="613"/>
          </a:xfrm>
          <a:custGeom>
            <a:avLst/>
            <a:gdLst/>
            <a:ahLst/>
            <a:cxnLst/>
            <a:rect l="l" t="t" r="r" b="b"/>
            <a:pathLst>
              <a:path w="61953" h="613">
                <a:moveTo>
                  <a:pt x="0" y="613"/>
                </a:moveTo>
                <a:lnTo>
                  <a:pt x="61953" y="613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613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9960481" y="3383280"/>
            <a:ext cx="61954" cy="0"/>
          </a:xfrm>
          <a:custGeom>
            <a:avLst/>
            <a:gdLst/>
            <a:ahLst/>
            <a:cxnLst/>
            <a:rect l="l" t="t" r="r" b="b"/>
            <a:pathLst>
              <a:path w="61954" h="0">
                <a:moveTo>
                  <a:pt x="0" y="0"/>
                </a:moveTo>
                <a:lnTo>
                  <a:pt x="61954" y="0"/>
                </a:lnTo>
                <a:close/>
                <a:lnTo>
                  <a:pt x="61954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10022435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10084388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10146341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10208294" y="3383280"/>
            <a:ext cx="61954" cy="0"/>
          </a:xfrm>
          <a:custGeom>
            <a:avLst/>
            <a:gdLst/>
            <a:ahLst/>
            <a:cxnLst/>
            <a:rect l="l" t="t" r="r" b="b"/>
            <a:pathLst>
              <a:path w="61954" h="0">
                <a:moveTo>
                  <a:pt x="0" y="0"/>
                </a:moveTo>
                <a:lnTo>
                  <a:pt x="61954" y="0"/>
                </a:lnTo>
                <a:close/>
                <a:lnTo>
                  <a:pt x="61954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10270248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10332201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10394154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7347848" y="33832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TextBox 391"/>
          <p:cNvSpPr txBox="1"/>
          <p:nvPr/>
        </p:nvSpPr>
        <p:spPr>
          <a:xfrm>
            <a:off x="7224626" y="3449305"/>
            <a:ext cx="3810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-35.7</a:t>
            </a:r>
          </a:p>
        </p:txBody>
      </p:sp>
      <p:sp>
        <p:nvSpPr>
          <p:cNvPr id="393" name="Freeform 392"/>
          <p:cNvSpPr/>
          <p:nvPr/>
        </p:nvSpPr>
        <p:spPr>
          <a:xfrm>
            <a:off x="8244103" y="33832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TextBox 393"/>
          <p:cNvSpPr txBox="1"/>
          <p:nvPr/>
        </p:nvSpPr>
        <p:spPr>
          <a:xfrm>
            <a:off x="8120880" y="3449305"/>
            <a:ext cx="3810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-10.7</a:t>
            </a:r>
          </a:p>
        </p:txBody>
      </p:sp>
      <p:sp>
        <p:nvSpPr>
          <p:cNvPr id="395" name="Freeform 394"/>
          <p:cNvSpPr/>
          <p:nvPr/>
        </p:nvSpPr>
        <p:spPr>
          <a:xfrm>
            <a:off x="9140357" y="33832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TextBox 395"/>
          <p:cNvSpPr txBox="1"/>
          <p:nvPr/>
        </p:nvSpPr>
        <p:spPr>
          <a:xfrm>
            <a:off x="8994409" y="3449305"/>
            <a:ext cx="3810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+14.3</a:t>
            </a:r>
          </a:p>
        </p:txBody>
      </p:sp>
      <p:sp>
        <p:nvSpPr>
          <p:cNvPr id="397" name="Freeform 396"/>
          <p:cNvSpPr/>
          <p:nvPr/>
        </p:nvSpPr>
        <p:spPr>
          <a:xfrm>
            <a:off x="10036611" y="33832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9890663" y="3449305"/>
            <a:ext cx="3810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+39.3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8192114" y="3608259"/>
            <a:ext cx="11379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1">
                <a:solidFill>
                  <a:srgbClr val="000000"/>
                </a:solidFill>
                <a:latin typeface="Arial"/>
              </a:rPr>
              <a:t>keff−̄keff(×10−4)</a:t>
            </a:r>
          </a:p>
        </p:txBody>
      </p:sp>
      <p:sp>
        <p:nvSpPr>
          <p:cNvPr id="400" name="Freeform 399"/>
          <p:cNvSpPr/>
          <p:nvPr/>
        </p:nvSpPr>
        <p:spPr>
          <a:xfrm>
            <a:off x="6573653" y="338328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TextBox 400"/>
          <p:cNvSpPr txBox="1"/>
          <p:nvPr/>
        </p:nvSpPr>
        <p:spPr>
          <a:xfrm>
            <a:off x="6468601" y="3324218"/>
            <a:ext cx="1524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402" name="Freeform 401"/>
          <p:cNvSpPr/>
          <p:nvPr/>
        </p:nvSpPr>
        <p:spPr>
          <a:xfrm>
            <a:off x="6573653" y="295981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TextBox 402"/>
          <p:cNvSpPr txBox="1"/>
          <p:nvPr/>
        </p:nvSpPr>
        <p:spPr>
          <a:xfrm>
            <a:off x="6347395" y="2900750"/>
            <a:ext cx="2667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404" name="Freeform 403"/>
          <p:cNvSpPr/>
          <p:nvPr/>
        </p:nvSpPr>
        <p:spPr>
          <a:xfrm>
            <a:off x="6573653" y="253634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TextBox 404"/>
          <p:cNvSpPr txBox="1"/>
          <p:nvPr/>
        </p:nvSpPr>
        <p:spPr>
          <a:xfrm>
            <a:off x="6347395" y="2477283"/>
            <a:ext cx="2667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406" name="TextBox 405"/>
          <p:cNvSpPr txBox="1"/>
          <p:nvPr/>
        </p:nvSpPr>
        <p:spPr>
          <a:xfrm rot="16200000">
            <a:off x="6199265" y="2658421"/>
            <a:ext cx="5283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Density</a:t>
            </a:r>
          </a:p>
        </p:txBody>
      </p:sp>
      <p:sp>
        <p:nvSpPr>
          <p:cNvPr id="407" name="Freeform 406"/>
          <p:cNvSpPr/>
          <p:nvPr/>
        </p:nvSpPr>
        <p:spPr>
          <a:xfrm>
            <a:off x="6618103" y="2278828"/>
            <a:ext cx="0" cy="1104452"/>
          </a:xfrm>
          <a:custGeom>
            <a:avLst/>
            <a:gdLst/>
            <a:ahLst/>
            <a:cxnLst/>
            <a:rect l="l" t="t" r="r" b="b"/>
            <a:pathLst>
              <a:path w="0" h="1104452">
                <a:moveTo>
                  <a:pt x="0" y="1104452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6618103" y="3383280"/>
            <a:ext cx="4020766" cy="0"/>
          </a:xfrm>
          <a:custGeom>
            <a:avLst/>
            <a:gdLst/>
            <a:ahLst/>
            <a:cxnLst/>
            <a:rect l="l" t="t" r="r" b="b"/>
            <a:pathLst>
              <a:path w="4020766" h="0">
                <a:moveTo>
                  <a:pt x="0" y="0"/>
                </a:moveTo>
                <a:lnTo>
                  <a:pt x="4020766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9485201" y="2289087"/>
            <a:ext cx="10668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1" i="0">
                <a:solidFill>
                  <a:srgbClr val="2E86AB"/>
                </a:solidFill>
                <a:latin typeface="Arial"/>
              </a:rPr>
              <a:t>74× σ compression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7671795" y="2088328"/>
            <a:ext cx="230886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(C)  keff — coupled (zoomed ×74)</a:t>
            </a:r>
          </a:p>
        </p:txBody>
      </p:sp>
      <p:sp>
        <p:nvSpPr>
          <p:cNvPr id="411" name="Freeform 410"/>
          <p:cNvSpPr/>
          <p:nvPr/>
        </p:nvSpPr>
        <p:spPr>
          <a:xfrm>
            <a:off x="8544620" y="2326453"/>
            <a:ext cx="2046624" cy="168384"/>
          </a:xfrm>
          <a:custGeom>
            <a:avLst/>
            <a:gdLst/>
            <a:ahLst/>
            <a:cxnLst/>
            <a:rect l="l" t="t" r="r" b="b"/>
            <a:pathLst>
              <a:path w="2046624" h="168384">
                <a:moveTo>
                  <a:pt x="19050" y="168384"/>
                </a:moveTo>
                <a:lnTo>
                  <a:pt x="2027574" y="168384"/>
                </a:lnTo>
                <a:close/>
                <a:lnTo>
                  <a:pt x="2041862" y="163622"/>
                </a:lnTo>
                <a:close/>
                <a:lnTo>
                  <a:pt x="2046624" y="149334"/>
                </a:lnTo>
                <a:close/>
                <a:lnTo>
                  <a:pt x="2046624" y="19050"/>
                </a:lnTo>
                <a:close/>
                <a:lnTo>
                  <a:pt x="2041862" y="4763"/>
                </a:lnTo>
                <a:close/>
                <a:lnTo>
                  <a:pt x="2027574" y="0"/>
                </a:lnTo>
                <a:close/>
                <a:lnTo>
                  <a:pt x="19050" y="0"/>
                </a:lnTo>
                <a:close/>
                <a:lnTo>
                  <a:pt x="4762" y="4763"/>
                </a:lnTo>
                <a:close/>
                <a:lnTo>
                  <a:pt x="0" y="19050"/>
                </a:lnTo>
                <a:close/>
                <a:lnTo>
                  <a:pt x="0" y="149334"/>
                </a:lnTo>
                <a:close/>
                <a:lnTo>
                  <a:pt x="4762" y="163622"/>
                </a:lnTo>
                <a:close/>
                <a:lnTo>
                  <a:pt x="19050" y="168384"/>
                </a:lnTo>
                <a:close/>
                <a:lnTo>
                  <a:pt x="19050" y="168384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8582720" y="2370253"/>
            <a:ext cx="190500" cy="6667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TextBox 412"/>
          <p:cNvSpPr txBox="1"/>
          <p:nvPr/>
        </p:nvSpPr>
        <p:spPr>
          <a:xfrm>
            <a:off x="8849420" y="2341678"/>
            <a:ext cx="20383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Coupled steady-state  σ = 8.50e-04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2945372" y="55507"/>
            <a:ext cx="554736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3 (v1) | Forward UQ — coupling effect on uncertainty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