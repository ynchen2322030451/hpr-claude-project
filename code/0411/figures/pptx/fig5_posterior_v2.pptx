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857270" cy="40802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57270" cy="4080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1380" y="737616"/>
            <a:ext cx="3817984" cy="2865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119490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285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6" name="Freeform 5"/>
          <p:cNvSpPr/>
          <p:nvPr/>
        </p:nvSpPr>
        <p:spPr>
          <a:xfrm>
            <a:off x="1696051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4845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8" name="Freeform 7"/>
          <p:cNvSpPr/>
          <p:nvPr/>
        </p:nvSpPr>
        <p:spPr>
          <a:xfrm>
            <a:off x="2272611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51406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10" name="Freeform 9"/>
          <p:cNvSpPr/>
          <p:nvPr/>
        </p:nvSpPr>
        <p:spPr>
          <a:xfrm>
            <a:off x="2849172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7966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170</a:t>
            </a:r>
          </a:p>
        </p:txBody>
      </p:sp>
      <p:sp>
        <p:nvSpPr>
          <p:cNvPr id="12" name="Freeform 11"/>
          <p:cNvSpPr/>
          <p:nvPr/>
        </p:nvSpPr>
        <p:spPr>
          <a:xfrm>
            <a:off x="3425732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4527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14" name="Freeform 13"/>
          <p:cNvSpPr/>
          <p:nvPr/>
        </p:nvSpPr>
        <p:spPr>
          <a:xfrm>
            <a:off x="4002293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1087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7922" y="3835356"/>
            <a:ext cx="1727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Observed stress (MPa)</a:t>
            </a:r>
          </a:p>
        </p:txBody>
      </p:sp>
      <p:sp>
        <p:nvSpPr>
          <p:cNvPr id="17" name="Freeform 16"/>
          <p:cNvSpPr/>
          <p:nvPr/>
        </p:nvSpPr>
        <p:spPr>
          <a:xfrm>
            <a:off x="516930" y="347865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0510" y="339990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19" name="Freeform 18"/>
          <p:cNvSpPr/>
          <p:nvPr/>
        </p:nvSpPr>
        <p:spPr>
          <a:xfrm>
            <a:off x="516930" y="298028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510" y="290153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21" name="Freeform 20"/>
          <p:cNvSpPr/>
          <p:nvPr/>
        </p:nvSpPr>
        <p:spPr>
          <a:xfrm>
            <a:off x="516930" y="248191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0510" y="240316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23" name="Freeform 22"/>
          <p:cNvSpPr/>
          <p:nvPr/>
        </p:nvSpPr>
        <p:spPr>
          <a:xfrm>
            <a:off x="516930" y="198354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510" y="190479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25" name="Freeform 24"/>
          <p:cNvSpPr/>
          <p:nvPr/>
        </p:nvSpPr>
        <p:spPr>
          <a:xfrm>
            <a:off x="516930" y="148517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0510" y="140642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27" name="Freeform 26"/>
          <p:cNvSpPr/>
          <p:nvPr/>
        </p:nvSpPr>
        <p:spPr>
          <a:xfrm>
            <a:off x="516930" y="98680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510" y="90805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29" name="TextBox 28"/>
          <p:cNvSpPr txBox="1"/>
          <p:nvPr/>
        </p:nvSpPr>
        <p:spPr>
          <a:xfrm rot="16200000">
            <a:off x="93980" y="1821180"/>
            <a:ext cx="2032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Psafe(131MPa) | posterior</a:t>
            </a:r>
          </a:p>
        </p:txBody>
      </p:sp>
      <p:sp>
        <p:nvSpPr>
          <p:cNvPr id="30" name="Freeform 29"/>
          <p:cNvSpPr/>
          <p:nvPr/>
        </p:nvSpPr>
        <p:spPr>
          <a:xfrm>
            <a:off x="600586" y="737616"/>
            <a:ext cx="0" cy="2865628"/>
          </a:xfrm>
          <a:custGeom>
            <a:avLst/>
            <a:gdLst/>
            <a:ahLst/>
            <a:cxnLst/>
            <a:rect l="l" t="t" r="r" b="b"/>
            <a:pathLst>
              <a:path w="0" h="2865628">
                <a:moveTo>
                  <a:pt x="0" y="2865628"/>
                </a:moveTo>
                <a:lnTo>
                  <a:pt x="0" y="0"/>
                </a:lnTo>
                <a:close/>
              </a:path>
            </a:pathLst>
          </a:custGeom>
          <a:noFill/>
          <a:ln w="16510">
            <a:solidFill>
              <a:srgbClr val="C0392B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61380" y="2232726"/>
            <a:ext cx="3817984" cy="0"/>
          </a:xfrm>
          <a:custGeom>
            <a:avLst/>
            <a:gdLst/>
            <a:ahLst/>
            <a:cxnLst/>
            <a:rect l="l" t="t" r="r" b="b"/>
            <a:pathLst>
              <a:path w="3817984" h="0">
                <a:moveTo>
                  <a:pt x="0" y="0"/>
                </a:moveTo>
                <a:lnTo>
                  <a:pt x="3817984" y="0"/>
                </a:lnTo>
                <a:close/>
              </a:path>
            </a:pathLst>
          </a:custGeom>
          <a:noFill/>
          <a:ln w="10160">
            <a:solidFill>
              <a:srgbClr val="88888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61380" y="737616"/>
            <a:ext cx="0" cy="2865628"/>
          </a:xfrm>
          <a:custGeom>
            <a:avLst/>
            <a:gdLst/>
            <a:ahLst/>
            <a:cxnLst/>
            <a:rect l="l" t="t" r="r" b="b"/>
            <a:pathLst>
              <a:path w="0" h="2865628">
                <a:moveTo>
                  <a:pt x="0" y="28656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61380" y="3603244"/>
            <a:ext cx="3817984" cy="0"/>
          </a:xfrm>
          <a:custGeom>
            <a:avLst/>
            <a:gdLst/>
            <a:ahLst/>
            <a:cxnLst/>
            <a:rect l="l" t="t" r="r" b="b"/>
            <a:pathLst>
              <a:path w="3817984" h="0">
                <a:moveTo>
                  <a:pt x="0" y="0"/>
                </a:moveTo>
                <a:lnTo>
                  <a:pt x="3817984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8152" y="540766"/>
            <a:ext cx="366776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(A)  Posterior safety fraction vs observed stress</a:t>
            </a:r>
          </a:p>
        </p:txBody>
      </p:sp>
      <p:sp>
        <p:nvSpPr>
          <p:cNvPr id="35" name="Freeform 34"/>
          <p:cNvSpPr/>
          <p:nvPr/>
        </p:nvSpPr>
        <p:spPr>
          <a:xfrm>
            <a:off x="3254891" y="3429465"/>
            <a:ext cx="98374" cy="98373"/>
          </a:xfrm>
          <a:custGeom>
            <a:avLst/>
            <a:gdLst/>
            <a:ahLst/>
            <a:cxnLst/>
            <a:rect l="l" t="t" r="r" b="b"/>
            <a:pathLst>
              <a:path w="98374" h="98373">
                <a:moveTo>
                  <a:pt x="49187" y="98373"/>
                </a:moveTo>
                <a:lnTo>
                  <a:pt x="68010" y="94629"/>
                </a:lnTo>
                <a:close/>
                <a:lnTo>
                  <a:pt x="83968" y="83967"/>
                </a:lnTo>
                <a:close/>
                <a:lnTo>
                  <a:pt x="94630" y="68009"/>
                </a:lnTo>
                <a:close/>
                <a:lnTo>
                  <a:pt x="98374" y="49186"/>
                </a:lnTo>
                <a:close/>
                <a:lnTo>
                  <a:pt x="94630" y="30364"/>
                </a:lnTo>
                <a:close/>
                <a:lnTo>
                  <a:pt x="83968" y="14406"/>
                </a:lnTo>
                <a:close/>
                <a:lnTo>
                  <a:pt x="68010" y="3744"/>
                </a:lnTo>
                <a:close/>
                <a:lnTo>
                  <a:pt x="49187" y="0"/>
                </a:lnTo>
                <a:close/>
                <a:lnTo>
                  <a:pt x="30364" y="3744"/>
                </a:lnTo>
                <a:close/>
                <a:lnTo>
                  <a:pt x="14407" y="14406"/>
                </a:lnTo>
                <a:close/>
                <a:lnTo>
                  <a:pt x="3745" y="30364"/>
                </a:lnTo>
                <a:close/>
                <a:lnTo>
                  <a:pt x="0" y="49186"/>
                </a:lnTo>
                <a:close/>
                <a:lnTo>
                  <a:pt x="3745" y="68009"/>
                </a:lnTo>
                <a:close/>
                <a:lnTo>
                  <a:pt x="14407" y="83967"/>
                </a:lnTo>
                <a:close/>
                <a:lnTo>
                  <a:pt x="30364" y="94629"/>
                </a:lnTo>
                <a:close/>
                <a:lnTo>
                  <a:pt x="49187" y="98373"/>
                </a:lnTo>
                <a:close/>
                <a:lnTo>
                  <a:pt x="49187" y="98373"/>
                </a:lnTo>
                <a:close/>
              </a:path>
            </a:pathLst>
          </a:custGeom>
          <a:solidFill>
            <a:srgbClr val="FCAA5F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1894208" y="3358862"/>
            <a:ext cx="98374" cy="98374"/>
          </a:xfrm>
          <a:custGeom>
            <a:avLst/>
            <a:gdLst/>
            <a:ahLst/>
            <a:cxnLst/>
            <a:rect l="l" t="t" r="r" b="b"/>
            <a:pathLst>
              <a:path w="98374" h="98374">
                <a:moveTo>
                  <a:pt x="49187" y="98374"/>
                </a:moveTo>
                <a:lnTo>
                  <a:pt x="68010" y="94630"/>
                </a:lnTo>
                <a:close/>
                <a:lnTo>
                  <a:pt x="83968" y="83967"/>
                </a:lnTo>
                <a:close/>
                <a:lnTo>
                  <a:pt x="94630" y="68010"/>
                </a:lnTo>
                <a:close/>
                <a:lnTo>
                  <a:pt x="98374" y="49187"/>
                </a:lnTo>
                <a:close/>
                <a:lnTo>
                  <a:pt x="94630" y="30364"/>
                </a:lnTo>
                <a:close/>
                <a:lnTo>
                  <a:pt x="83968" y="14407"/>
                </a:lnTo>
                <a:close/>
                <a:lnTo>
                  <a:pt x="68010" y="3744"/>
                </a:lnTo>
                <a:close/>
                <a:lnTo>
                  <a:pt x="49187" y="0"/>
                </a:lnTo>
                <a:close/>
                <a:lnTo>
                  <a:pt x="30364" y="3744"/>
                </a:lnTo>
                <a:close/>
                <a:lnTo>
                  <a:pt x="14407" y="14407"/>
                </a:lnTo>
                <a:close/>
                <a:lnTo>
                  <a:pt x="3745" y="30364"/>
                </a:lnTo>
                <a:close/>
                <a:lnTo>
                  <a:pt x="0" y="49187"/>
                </a:lnTo>
                <a:close/>
                <a:lnTo>
                  <a:pt x="3745" y="68010"/>
                </a:lnTo>
                <a:close/>
                <a:lnTo>
                  <a:pt x="14407" y="83967"/>
                </a:lnTo>
                <a:close/>
                <a:lnTo>
                  <a:pt x="30364" y="94630"/>
                </a:lnTo>
                <a:close/>
                <a:lnTo>
                  <a:pt x="49187" y="98374"/>
                </a:lnTo>
                <a:close/>
                <a:lnTo>
                  <a:pt x="49187" y="98374"/>
                </a:lnTo>
                <a:close/>
              </a:path>
            </a:pathLst>
          </a:custGeom>
          <a:solidFill>
            <a:srgbClr val="C9E881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876003" y="2877104"/>
            <a:ext cx="98373" cy="98374"/>
          </a:xfrm>
          <a:custGeom>
            <a:avLst/>
            <a:gdLst/>
            <a:ahLst/>
            <a:cxnLst/>
            <a:rect l="l" t="t" r="r" b="b"/>
            <a:pathLst>
              <a:path w="98373" h="98374">
                <a:moveTo>
                  <a:pt x="49186" y="98374"/>
                </a:moveTo>
                <a:lnTo>
                  <a:pt x="68009" y="94630"/>
                </a:lnTo>
                <a:close/>
                <a:lnTo>
                  <a:pt x="83967" y="83968"/>
                </a:lnTo>
                <a:close/>
                <a:lnTo>
                  <a:pt x="94629" y="68010"/>
                </a:lnTo>
                <a:close/>
                <a:lnTo>
                  <a:pt x="98373" y="49187"/>
                </a:lnTo>
                <a:close/>
                <a:lnTo>
                  <a:pt x="94629" y="30364"/>
                </a:lnTo>
                <a:close/>
                <a:lnTo>
                  <a:pt x="83967" y="14407"/>
                </a:lnTo>
                <a:close/>
                <a:lnTo>
                  <a:pt x="68009" y="3745"/>
                </a:lnTo>
                <a:close/>
                <a:lnTo>
                  <a:pt x="49186" y="0"/>
                </a:lnTo>
                <a:close/>
                <a:lnTo>
                  <a:pt x="30363" y="3745"/>
                </a:lnTo>
                <a:close/>
                <a:lnTo>
                  <a:pt x="14406" y="14407"/>
                </a:lnTo>
                <a:close/>
                <a:lnTo>
                  <a:pt x="3744" y="30364"/>
                </a:lnTo>
                <a:close/>
                <a:lnTo>
                  <a:pt x="0" y="49187"/>
                </a:lnTo>
                <a:close/>
                <a:lnTo>
                  <a:pt x="3744" y="68010"/>
                </a:lnTo>
                <a:close/>
                <a:lnTo>
                  <a:pt x="14406" y="83968"/>
                </a:lnTo>
                <a:close/>
                <a:lnTo>
                  <a:pt x="30363" y="94630"/>
                </a:lnTo>
                <a:close/>
                <a:lnTo>
                  <a:pt x="49186" y="98374"/>
                </a:lnTo>
                <a:close/>
                <a:lnTo>
                  <a:pt x="49186" y="98374"/>
                </a:lnTo>
                <a:close/>
              </a:path>
            </a:pathLst>
          </a:custGeom>
          <a:solidFill>
            <a:srgbClr val="279F53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703943" y="3313178"/>
            <a:ext cx="98374" cy="98374"/>
          </a:xfrm>
          <a:custGeom>
            <a:avLst/>
            <a:gdLst/>
            <a:ahLst/>
            <a:cxnLst/>
            <a:rect l="l" t="t" r="r" b="b"/>
            <a:pathLst>
              <a:path w="98374" h="98374">
                <a:moveTo>
                  <a:pt x="49187" y="98374"/>
                </a:moveTo>
                <a:lnTo>
                  <a:pt x="68010" y="94630"/>
                </a:lnTo>
                <a:close/>
                <a:lnTo>
                  <a:pt x="83968" y="83968"/>
                </a:lnTo>
                <a:close/>
                <a:lnTo>
                  <a:pt x="94630" y="68010"/>
                </a:lnTo>
                <a:close/>
                <a:lnTo>
                  <a:pt x="98374" y="49187"/>
                </a:lnTo>
                <a:close/>
                <a:lnTo>
                  <a:pt x="94630" y="30364"/>
                </a:lnTo>
                <a:close/>
                <a:lnTo>
                  <a:pt x="83968" y="14407"/>
                </a:lnTo>
                <a:close/>
                <a:lnTo>
                  <a:pt x="68010" y="3745"/>
                </a:lnTo>
                <a:close/>
                <a:lnTo>
                  <a:pt x="49187" y="0"/>
                </a:lnTo>
                <a:close/>
                <a:lnTo>
                  <a:pt x="30364" y="3745"/>
                </a:lnTo>
                <a:close/>
                <a:lnTo>
                  <a:pt x="14407" y="14407"/>
                </a:lnTo>
                <a:close/>
                <a:lnTo>
                  <a:pt x="3745" y="30364"/>
                </a:lnTo>
                <a:close/>
                <a:lnTo>
                  <a:pt x="0" y="49187"/>
                </a:lnTo>
                <a:close/>
                <a:lnTo>
                  <a:pt x="3745" y="68010"/>
                </a:lnTo>
                <a:close/>
                <a:lnTo>
                  <a:pt x="14407" y="83968"/>
                </a:lnTo>
                <a:close/>
                <a:lnTo>
                  <a:pt x="30364" y="94630"/>
                </a:lnTo>
                <a:close/>
                <a:lnTo>
                  <a:pt x="49187" y="98374"/>
                </a:lnTo>
                <a:close/>
                <a:lnTo>
                  <a:pt x="49187" y="98374"/>
                </a:lnTo>
                <a:close/>
              </a:path>
            </a:pathLst>
          </a:custGeom>
          <a:solidFill>
            <a:srgbClr val="B1DE71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894452" y="2557317"/>
            <a:ext cx="98374" cy="98374"/>
          </a:xfrm>
          <a:custGeom>
            <a:avLst/>
            <a:gdLst/>
            <a:ahLst/>
            <a:cxnLst/>
            <a:rect l="l" t="t" r="r" b="b"/>
            <a:pathLst>
              <a:path w="98374" h="98374">
                <a:moveTo>
                  <a:pt x="49187" y="98374"/>
                </a:moveTo>
                <a:lnTo>
                  <a:pt x="68010" y="94629"/>
                </a:lnTo>
                <a:close/>
                <a:lnTo>
                  <a:pt x="83968" y="83967"/>
                </a:lnTo>
                <a:close/>
                <a:lnTo>
                  <a:pt x="94630" y="68010"/>
                </a:lnTo>
                <a:close/>
                <a:lnTo>
                  <a:pt x="98374" y="49187"/>
                </a:lnTo>
                <a:close/>
                <a:lnTo>
                  <a:pt x="94630" y="30364"/>
                </a:lnTo>
                <a:close/>
                <a:lnTo>
                  <a:pt x="83968" y="14406"/>
                </a:lnTo>
                <a:close/>
                <a:lnTo>
                  <a:pt x="68010" y="3744"/>
                </a:lnTo>
                <a:close/>
                <a:lnTo>
                  <a:pt x="49187" y="0"/>
                </a:lnTo>
                <a:close/>
                <a:lnTo>
                  <a:pt x="30364" y="3744"/>
                </a:lnTo>
                <a:close/>
                <a:lnTo>
                  <a:pt x="14407" y="14406"/>
                </a:lnTo>
                <a:close/>
                <a:lnTo>
                  <a:pt x="3745" y="30364"/>
                </a:lnTo>
                <a:close/>
                <a:lnTo>
                  <a:pt x="0" y="49187"/>
                </a:lnTo>
                <a:close/>
                <a:lnTo>
                  <a:pt x="3745" y="68010"/>
                </a:lnTo>
                <a:close/>
                <a:lnTo>
                  <a:pt x="14407" y="83967"/>
                </a:lnTo>
                <a:close/>
                <a:lnTo>
                  <a:pt x="30364" y="94629"/>
                </a:lnTo>
                <a:close/>
                <a:lnTo>
                  <a:pt x="49187" y="98374"/>
                </a:lnTo>
                <a:close/>
                <a:lnTo>
                  <a:pt x="49187" y="98374"/>
                </a:lnTo>
                <a:close/>
              </a:path>
            </a:pathLst>
          </a:custGeom>
          <a:solidFill>
            <a:srgbClr val="2AA054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659637" y="3421158"/>
            <a:ext cx="98374" cy="98374"/>
          </a:xfrm>
          <a:custGeom>
            <a:avLst/>
            <a:gdLst/>
            <a:ahLst/>
            <a:cxnLst/>
            <a:rect l="l" t="t" r="r" b="b"/>
            <a:pathLst>
              <a:path w="98374" h="98374">
                <a:moveTo>
                  <a:pt x="49187" y="98374"/>
                </a:moveTo>
                <a:lnTo>
                  <a:pt x="68010" y="94630"/>
                </a:lnTo>
                <a:close/>
                <a:lnTo>
                  <a:pt x="83967" y="83968"/>
                </a:lnTo>
                <a:close/>
                <a:lnTo>
                  <a:pt x="94629" y="68010"/>
                </a:lnTo>
                <a:close/>
                <a:lnTo>
                  <a:pt x="98374" y="49187"/>
                </a:lnTo>
                <a:close/>
                <a:lnTo>
                  <a:pt x="94629" y="30364"/>
                </a:lnTo>
                <a:close/>
                <a:lnTo>
                  <a:pt x="83967" y="14407"/>
                </a:lnTo>
                <a:close/>
                <a:lnTo>
                  <a:pt x="68010" y="3745"/>
                </a:lnTo>
                <a:close/>
                <a:lnTo>
                  <a:pt x="49187" y="0"/>
                </a:lnTo>
                <a:close/>
                <a:lnTo>
                  <a:pt x="30364" y="3745"/>
                </a:lnTo>
                <a:close/>
                <a:lnTo>
                  <a:pt x="14406" y="14407"/>
                </a:lnTo>
                <a:close/>
                <a:lnTo>
                  <a:pt x="3744" y="30364"/>
                </a:lnTo>
                <a:close/>
                <a:lnTo>
                  <a:pt x="0" y="49187"/>
                </a:lnTo>
                <a:close/>
                <a:lnTo>
                  <a:pt x="3744" y="68010"/>
                </a:lnTo>
                <a:close/>
                <a:lnTo>
                  <a:pt x="14406" y="83968"/>
                </a:lnTo>
                <a:close/>
                <a:lnTo>
                  <a:pt x="30364" y="94630"/>
                </a:lnTo>
                <a:close/>
                <a:lnTo>
                  <a:pt x="49187" y="98374"/>
                </a:lnTo>
                <a:close/>
                <a:lnTo>
                  <a:pt x="49187" y="98374"/>
                </a:lnTo>
                <a:close/>
              </a:path>
            </a:pathLst>
          </a:custGeom>
          <a:solidFill>
            <a:srgbClr val="F26841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685738" y="2443107"/>
            <a:ext cx="98373" cy="98374"/>
          </a:xfrm>
          <a:custGeom>
            <a:avLst/>
            <a:gdLst/>
            <a:ahLst/>
            <a:cxnLst/>
            <a:rect l="l" t="t" r="r" b="b"/>
            <a:pathLst>
              <a:path w="98373" h="98374">
                <a:moveTo>
                  <a:pt x="49186" y="98374"/>
                </a:moveTo>
                <a:lnTo>
                  <a:pt x="68009" y="94630"/>
                </a:lnTo>
                <a:close/>
                <a:lnTo>
                  <a:pt x="83967" y="83967"/>
                </a:lnTo>
                <a:close/>
                <a:lnTo>
                  <a:pt x="94629" y="68010"/>
                </a:lnTo>
                <a:close/>
                <a:lnTo>
                  <a:pt x="98373" y="49187"/>
                </a:lnTo>
                <a:close/>
                <a:lnTo>
                  <a:pt x="94629" y="30364"/>
                </a:lnTo>
                <a:close/>
                <a:lnTo>
                  <a:pt x="83967" y="14407"/>
                </a:lnTo>
                <a:close/>
                <a:lnTo>
                  <a:pt x="68009" y="3744"/>
                </a:lnTo>
                <a:close/>
                <a:lnTo>
                  <a:pt x="49186" y="0"/>
                </a:lnTo>
                <a:close/>
                <a:lnTo>
                  <a:pt x="30363" y="3744"/>
                </a:lnTo>
                <a:close/>
                <a:lnTo>
                  <a:pt x="14406" y="14407"/>
                </a:lnTo>
                <a:close/>
                <a:lnTo>
                  <a:pt x="3744" y="30364"/>
                </a:lnTo>
                <a:close/>
                <a:lnTo>
                  <a:pt x="0" y="49187"/>
                </a:lnTo>
                <a:close/>
                <a:lnTo>
                  <a:pt x="3744" y="68010"/>
                </a:lnTo>
                <a:close/>
                <a:lnTo>
                  <a:pt x="14406" y="83967"/>
                </a:lnTo>
                <a:close/>
                <a:lnTo>
                  <a:pt x="30363" y="94630"/>
                </a:lnTo>
                <a:close/>
                <a:lnTo>
                  <a:pt x="49186" y="98374"/>
                </a:lnTo>
                <a:close/>
                <a:lnTo>
                  <a:pt x="49186" y="98374"/>
                </a:lnTo>
                <a:close/>
              </a:path>
            </a:pathLst>
          </a:custGeom>
          <a:solidFill>
            <a:srgbClr val="128A4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805662" y="2706828"/>
            <a:ext cx="98374" cy="98374"/>
          </a:xfrm>
          <a:custGeom>
            <a:avLst/>
            <a:gdLst/>
            <a:ahLst/>
            <a:cxnLst/>
            <a:rect l="l" t="t" r="r" b="b"/>
            <a:pathLst>
              <a:path w="98374" h="98374">
                <a:moveTo>
                  <a:pt x="49187" y="98374"/>
                </a:moveTo>
                <a:lnTo>
                  <a:pt x="68010" y="94629"/>
                </a:lnTo>
                <a:close/>
                <a:lnTo>
                  <a:pt x="83967" y="83967"/>
                </a:lnTo>
                <a:close/>
                <a:lnTo>
                  <a:pt x="94630" y="68010"/>
                </a:lnTo>
                <a:close/>
                <a:lnTo>
                  <a:pt x="98374" y="49187"/>
                </a:lnTo>
                <a:close/>
                <a:lnTo>
                  <a:pt x="94630" y="30364"/>
                </a:lnTo>
                <a:close/>
                <a:lnTo>
                  <a:pt x="83967" y="14406"/>
                </a:lnTo>
                <a:close/>
                <a:lnTo>
                  <a:pt x="68010" y="3744"/>
                </a:lnTo>
                <a:close/>
                <a:lnTo>
                  <a:pt x="49187" y="0"/>
                </a:lnTo>
                <a:close/>
                <a:lnTo>
                  <a:pt x="30364" y="3744"/>
                </a:lnTo>
                <a:close/>
                <a:lnTo>
                  <a:pt x="14407" y="14406"/>
                </a:lnTo>
                <a:close/>
                <a:lnTo>
                  <a:pt x="3744" y="30364"/>
                </a:lnTo>
                <a:close/>
                <a:lnTo>
                  <a:pt x="0" y="49187"/>
                </a:lnTo>
                <a:close/>
                <a:lnTo>
                  <a:pt x="3744" y="68010"/>
                </a:lnTo>
                <a:close/>
                <a:lnTo>
                  <a:pt x="14407" y="83967"/>
                </a:lnTo>
                <a:close/>
                <a:lnTo>
                  <a:pt x="30364" y="94629"/>
                </a:lnTo>
                <a:close/>
                <a:lnTo>
                  <a:pt x="49187" y="98374"/>
                </a:lnTo>
                <a:close/>
                <a:lnTo>
                  <a:pt x="49187" y="98374"/>
                </a:lnTo>
                <a:close/>
              </a:path>
            </a:pathLst>
          </a:custGeom>
          <a:solidFill>
            <a:srgbClr val="199750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4156632" y="3429465"/>
            <a:ext cx="98374" cy="98373"/>
          </a:xfrm>
          <a:custGeom>
            <a:avLst/>
            <a:gdLst/>
            <a:ahLst/>
            <a:cxnLst/>
            <a:rect l="l" t="t" r="r" b="b"/>
            <a:pathLst>
              <a:path w="98374" h="98373">
                <a:moveTo>
                  <a:pt x="49187" y="98373"/>
                </a:moveTo>
                <a:lnTo>
                  <a:pt x="68010" y="94629"/>
                </a:lnTo>
                <a:close/>
                <a:lnTo>
                  <a:pt x="83967" y="83967"/>
                </a:lnTo>
                <a:close/>
                <a:lnTo>
                  <a:pt x="94630" y="68009"/>
                </a:lnTo>
                <a:close/>
                <a:lnTo>
                  <a:pt x="98374" y="49186"/>
                </a:lnTo>
                <a:close/>
                <a:lnTo>
                  <a:pt x="94630" y="30364"/>
                </a:lnTo>
                <a:close/>
                <a:lnTo>
                  <a:pt x="83967" y="14406"/>
                </a:lnTo>
                <a:close/>
                <a:lnTo>
                  <a:pt x="68010" y="3744"/>
                </a:lnTo>
                <a:close/>
                <a:lnTo>
                  <a:pt x="49187" y="0"/>
                </a:lnTo>
                <a:close/>
                <a:lnTo>
                  <a:pt x="30364" y="3744"/>
                </a:lnTo>
                <a:close/>
                <a:lnTo>
                  <a:pt x="14407" y="14406"/>
                </a:lnTo>
                <a:close/>
                <a:lnTo>
                  <a:pt x="3744" y="30364"/>
                </a:lnTo>
                <a:close/>
                <a:lnTo>
                  <a:pt x="0" y="49186"/>
                </a:lnTo>
                <a:close/>
                <a:lnTo>
                  <a:pt x="3744" y="68009"/>
                </a:lnTo>
                <a:close/>
                <a:lnTo>
                  <a:pt x="14407" y="83967"/>
                </a:lnTo>
                <a:close/>
                <a:lnTo>
                  <a:pt x="30364" y="94629"/>
                </a:lnTo>
                <a:close/>
                <a:lnTo>
                  <a:pt x="49187" y="98373"/>
                </a:lnTo>
                <a:close/>
                <a:lnTo>
                  <a:pt x="49187" y="98373"/>
                </a:lnTo>
                <a:close/>
              </a:path>
            </a:pathLst>
          </a:custGeom>
          <a:solidFill>
            <a:srgbClr val="C82227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3987700" y="3429465"/>
            <a:ext cx="98374" cy="98373"/>
          </a:xfrm>
          <a:custGeom>
            <a:avLst/>
            <a:gdLst/>
            <a:ahLst/>
            <a:cxnLst/>
            <a:rect l="l" t="t" r="r" b="b"/>
            <a:pathLst>
              <a:path w="98374" h="98373">
                <a:moveTo>
                  <a:pt x="49187" y="98373"/>
                </a:moveTo>
                <a:lnTo>
                  <a:pt x="68010" y="94629"/>
                </a:lnTo>
                <a:close/>
                <a:lnTo>
                  <a:pt x="83967" y="83967"/>
                </a:lnTo>
                <a:close/>
                <a:lnTo>
                  <a:pt x="94629" y="68009"/>
                </a:lnTo>
                <a:close/>
                <a:lnTo>
                  <a:pt x="98374" y="49186"/>
                </a:lnTo>
                <a:close/>
                <a:lnTo>
                  <a:pt x="94629" y="30364"/>
                </a:lnTo>
                <a:close/>
                <a:lnTo>
                  <a:pt x="83967" y="14406"/>
                </a:lnTo>
                <a:close/>
                <a:lnTo>
                  <a:pt x="68010" y="3744"/>
                </a:lnTo>
                <a:close/>
                <a:lnTo>
                  <a:pt x="49187" y="0"/>
                </a:lnTo>
                <a:close/>
                <a:lnTo>
                  <a:pt x="30364" y="3744"/>
                </a:lnTo>
                <a:close/>
                <a:lnTo>
                  <a:pt x="14406" y="14406"/>
                </a:lnTo>
                <a:close/>
                <a:lnTo>
                  <a:pt x="3744" y="30364"/>
                </a:lnTo>
                <a:close/>
                <a:lnTo>
                  <a:pt x="0" y="49186"/>
                </a:lnTo>
                <a:close/>
                <a:lnTo>
                  <a:pt x="3744" y="68009"/>
                </a:lnTo>
                <a:close/>
                <a:lnTo>
                  <a:pt x="14406" y="83967"/>
                </a:lnTo>
                <a:close/>
                <a:lnTo>
                  <a:pt x="30364" y="94629"/>
                </a:lnTo>
                <a:close/>
                <a:lnTo>
                  <a:pt x="49187" y="98373"/>
                </a:lnTo>
                <a:close/>
                <a:lnTo>
                  <a:pt x="49187" y="98373"/>
                </a:lnTo>
                <a:close/>
              </a:path>
            </a:pathLst>
          </a:custGeom>
          <a:solidFill>
            <a:srgbClr val="DA362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3019257" y="788416"/>
            <a:ext cx="1309307" cy="179610"/>
          </a:xfrm>
          <a:custGeom>
            <a:avLst/>
            <a:gdLst/>
            <a:ahLst/>
            <a:cxnLst/>
            <a:rect l="l" t="t" r="r" b="b"/>
            <a:pathLst>
              <a:path w="1309307" h="179610">
                <a:moveTo>
                  <a:pt x="20320" y="179610"/>
                </a:moveTo>
                <a:lnTo>
                  <a:pt x="1288987" y="179610"/>
                </a:lnTo>
                <a:close/>
                <a:lnTo>
                  <a:pt x="1304227" y="174530"/>
                </a:lnTo>
                <a:close/>
                <a:lnTo>
                  <a:pt x="1309307" y="159290"/>
                </a:lnTo>
                <a:close/>
                <a:lnTo>
                  <a:pt x="1309307" y="20320"/>
                </a:lnTo>
                <a:close/>
                <a:lnTo>
                  <a:pt x="1304227" y="5080"/>
                </a:lnTo>
                <a:close/>
                <a:lnTo>
                  <a:pt x="1288987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159290"/>
                </a:lnTo>
                <a:close/>
                <a:lnTo>
                  <a:pt x="5080" y="174530"/>
                </a:lnTo>
                <a:close/>
                <a:lnTo>
                  <a:pt x="20320" y="179610"/>
                </a:lnTo>
                <a:close/>
                <a:lnTo>
                  <a:pt x="20320" y="17961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3059897" y="870696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101600" y="0"/>
                </a:lnTo>
                <a:close/>
                <a:lnTo>
                  <a:pt x="203200" y="0"/>
                </a:lnTo>
                <a:close/>
              </a:path>
            </a:pathLst>
          </a:custGeom>
          <a:noFill/>
          <a:ln w="16510">
            <a:solidFill>
              <a:srgbClr val="C0392B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4377" y="804656"/>
            <a:ext cx="11379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131 MPa threshold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93350" y="737616"/>
            <a:ext cx="4772480" cy="2865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0281" y="874074"/>
            <a:ext cx="410410" cy="2729170"/>
          </a:xfrm>
          <a:prstGeom prst="rect">
            <a:avLst/>
          </a:prstGeom>
          <a:solidFill>
            <a:srgbClr val="C0392B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382880" y="3603244"/>
            <a:ext cx="410410" cy="0"/>
          </a:xfrm>
          <a:custGeom>
            <a:avLst/>
            <a:gdLst/>
            <a:ahLst/>
            <a:cxnLst/>
            <a:rect l="l" t="t" r="r" b="b"/>
            <a:pathLst>
              <a:path w="410410" h="0">
                <a:moveTo>
                  <a:pt x="0" y="0"/>
                </a:moveTo>
                <a:lnTo>
                  <a:pt x="410410" y="0"/>
                </a:lnTo>
                <a:close/>
                <a:lnTo>
                  <a:pt x="41041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C0392B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555480" y="3603244"/>
            <a:ext cx="410409" cy="0"/>
          </a:xfrm>
          <a:custGeom>
            <a:avLst/>
            <a:gdLst/>
            <a:ahLst/>
            <a:cxnLst/>
            <a:rect l="l" t="t" r="r" b="b"/>
            <a:pathLst>
              <a:path w="410409" h="0">
                <a:moveTo>
                  <a:pt x="0" y="0"/>
                </a:moveTo>
                <a:lnTo>
                  <a:pt x="410409" y="0"/>
                </a:lnTo>
                <a:close/>
                <a:lnTo>
                  <a:pt x="41040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C0392B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728079" y="3603244"/>
            <a:ext cx="410410" cy="0"/>
          </a:xfrm>
          <a:custGeom>
            <a:avLst/>
            <a:gdLst/>
            <a:ahLst/>
            <a:cxnLst/>
            <a:rect l="l" t="t" r="r" b="b"/>
            <a:pathLst>
              <a:path w="410410" h="0">
                <a:moveTo>
                  <a:pt x="0" y="0"/>
                </a:moveTo>
                <a:lnTo>
                  <a:pt x="410410" y="0"/>
                </a:lnTo>
                <a:close/>
                <a:lnTo>
                  <a:pt x="41041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C0392B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620690" y="1331553"/>
            <a:ext cx="410410" cy="2271691"/>
          </a:xfrm>
          <a:prstGeom prst="rect">
            <a:avLst/>
          </a:prstGeom>
          <a:solidFill>
            <a:srgbClr val="57A77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7793290" y="3603244"/>
            <a:ext cx="410410" cy="0"/>
          </a:xfrm>
          <a:custGeom>
            <a:avLst/>
            <a:gdLst/>
            <a:ahLst/>
            <a:cxnLst/>
            <a:rect l="l" t="t" r="r" b="b"/>
            <a:pathLst>
              <a:path w="410410" h="0">
                <a:moveTo>
                  <a:pt x="0" y="0"/>
                </a:moveTo>
                <a:lnTo>
                  <a:pt x="410410" y="0"/>
                </a:lnTo>
                <a:close/>
                <a:lnTo>
                  <a:pt x="41041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57A77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8965889" y="3603244"/>
            <a:ext cx="410410" cy="0"/>
          </a:xfrm>
          <a:custGeom>
            <a:avLst/>
            <a:gdLst/>
            <a:ahLst/>
            <a:cxnLst/>
            <a:rect l="l" t="t" r="r" b="b"/>
            <a:pathLst>
              <a:path w="410410" h="0">
                <a:moveTo>
                  <a:pt x="0" y="0"/>
                </a:moveTo>
                <a:lnTo>
                  <a:pt x="410410" y="0"/>
                </a:lnTo>
                <a:close/>
                <a:lnTo>
                  <a:pt x="41041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57A77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138489" y="3603244"/>
            <a:ext cx="410410" cy="0"/>
          </a:xfrm>
          <a:custGeom>
            <a:avLst/>
            <a:gdLst/>
            <a:ahLst/>
            <a:cxnLst/>
            <a:rect l="l" t="t" r="r" b="b"/>
            <a:pathLst>
              <a:path w="410410" h="0">
                <a:moveTo>
                  <a:pt x="0" y="0"/>
                </a:moveTo>
                <a:lnTo>
                  <a:pt x="410410" y="0"/>
                </a:lnTo>
                <a:close/>
                <a:lnTo>
                  <a:pt x="41041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57A77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6620690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30393" y="3664694"/>
            <a:ext cx="38862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1">
                <a:solidFill>
                  <a:srgbClr val="000000"/>
                </a:solidFill>
                <a:latin typeface="Arial"/>
              </a:rPr>
              <a:t>Eint</a:t>
            </a:r>
          </a:p>
        </p:txBody>
      </p:sp>
      <p:sp>
        <p:nvSpPr>
          <p:cNvPr id="59" name="Freeform 58"/>
          <p:cNvSpPr/>
          <p:nvPr/>
        </p:nvSpPr>
        <p:spPr>
          <a:xfrm>
            <a:off x="7793290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58416" y="3664694"/>
            <a:ext cx="45720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1">
                <a:solidFill>
                  <a:srgbClr val="000000"/>
                </a:solidFill>
                <a:latin typeface="Arial"/>
              </a:rPr>
              <a:t>αbase</a:t>
            </a:r>
          </a:p>
        </p:txBody>
      </p:sp>
      <p:sp>
        <p:nvSpPr>
          <p:cNvPr id="61" name="Freeform 60"/>
          <p:cNvSpPr/>
          <p:nvPr/>
        </p:nvSpPr>
        <p:spPr>
          <a:xfrm>
            <a:off x="8965889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94452" y="3664694"/>
            <a:ext cx="32004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1">
                <a:solidFill>
                  <a:srgbClr val="000000"/>
                </a:solidFill>
                <a:latin typeface="Arial"/>
              </a:rPr>
              <a:t>αsl</a:t>
            </a:r>
          </a:p>
        </p:txBody>
      </p:sp>
      <p:sp>
        <p:nvSpPr>
          <p:cNvPr id="63" name="Freeform 62"/>
          <p:cNvSpPr/>
          <p:nvPr/>
        </p:nvSpPr>
        <p:spPr>
          <a:xfrm>
            <a:off x="10138489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06485" y="3664694"/>
            <a:ext cx="18288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1">
                <a:solidFill>
                  <a:srgbClr val="000000"/>
                </a:solidFill>
                <a:latin typeface="Arial"/>
              </a:rPr>
              <a:t>ν</a:t>
            </a:r>
          </a:p>
        </p:txBody>
      </p:sp>
      <p:sp>
        <p:nvSpPr>
          <p:cNvPr id="65" name="Freeform 64"/>
          <p:cNvSpPr/>
          <p:nvPr/>
        </p:nvSpPr>
        <p:spPr>
          <a:xfrm>
            <a:off x="5948900" y="360324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02480" y="352449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67" name="Freeform 66"/>
          <p:cNvSpPr/>
          <p:nvPr/>
        </p:nvSpPr>
        <p:spPr>
          <a:xfrm>
            <a:off x="5948900" y="315287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02480" y="307412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69" name="Freeform 68"/>
          <p:cNvSpPr/>
          <p:nvPr/>
        </p:nvSpPr>
        <p:spPr>
          <a:xfrm>
            <a:off x="5948900" y="270250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02480" y="262375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71" name="Freeform 70"/>
          <p:cNvSpPr/>
          <p:nvPr/>
        </p:nvSpPr>
        <p:spPr>
          <a:xfrm>
            <a:off x="5948900" y="225213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02480" y="217338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73" name="Freeform 72"/>
          <p:cNvSpPr/>
          <p:nvPr/>
        </p:nvSpPr>
        <p:spPr>
          <a:xfrm>
            <a:off x="5948900" y="180176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02480" y="172301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75" name="Freeform 74"/>
          <p:cNvSpPr/>
          <p:nvPr/>
        </p:nvSpPr>
        <p:spPr>
          <a:xfrm>
            <a:off x="5948900" y="135139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702480" y="1272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77" name="Freeform 76"/>
          <p:cNvSpPr/>
          <p:nvPr/>
        </p:nvSpPr>
        <p:spPr>
          <a:xfrm>
            <a:off x="5948900" y="90102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02480" y="82227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sp>
        <p:nvSpPr>
          <p:cNvPr id="79" name="TextBox 78"/>
          <p:cNvSpPr txBox="1"/>
          <p:nvPr/>
        </p:nvSpPr>
        <p:spPr>
          <a:xfrm rot="16200000">
            <a:off x="5530018" y="1747054"/>
            <a:ext cx="2336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Posterior std (natural units)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93350" y="57251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1e10</a:t>
            </a:r>
          </a:p>
        </p:txBody>
      </p:sp>
      <p:sp>
        <p:nvSpPr>
          <p:cNvPr id="81" name="Freeform 80"/>
          <p:cNvSpPr/>
          <p:nvPr/>
        </p:nvSpPr>
        <p:spPr>
          <a:xfrm>
            <a:off x="5993350" y="737616"/>
            <a:ext cx="0" cy="2865628"/>
          </a:xfrm>
          <a:custGeom>
            <a:avLst/>
            <a:gdLst/>
            <a:ahLst/>
            <a:cxnLst/>
            <a:rect l="l" t="t" r="r" b="b"/>
            <a:pathLst>
              <a:path w="0" h="2865628">
                <a:moveTo>
                  <a:pt x="0" y="28656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5993350" y="3603244"/>
            <a:ext cx="4772480" cy="0"/>
          </a:xfrm>
          <a:custGeom>
            <a:avLst/>
            <a:gdLst/>
            <a:ahLst/>
            <a:cxnLst/>
            <a:rect l="l" t="t" r="r" b="b"/>
            <a:pathLst>
              <a:path w="4772480" h="0">
                <a:moveTo>
                  <a:pt x="0" y="0"/>
                </a:moveTo>
                <a:lnTo>
                  <a:pt x="477248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99902" y="405664"/>
            <a:ext cx="250952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(B)  Posterior standard deviation</a:t>
            </a:r>
          </a:p>
        </p:txBody>
      </p:sp>
      <p:sp>
        <p:nvSpPr>
          <p:cNvPr id="84" name="Freeform 83"/>
          <p:cNvSpPr/>
          <p:nvPr/>
        </p:nvSpPr>
        <p:spPr>
          <a:xfrm>
            <a:off x="9512625" y="788416"/>
            <a:ext cx="1202405" cy="328740"/>
          </a:xfrm>
          <a:custGeom>
            <a:avLst/>
            <a:gdLst/>
            <a:ahLst/>
            <a:cxnLst/>
            <a:rect l="l" t="t" r="r" b="b"/>
            <a:pathLst>
              <a:path w="1202405" h="328740">
                <a:moveTo>
                  <a:pt x="20320" y="328740"/>
                </a:moveTo>
                <a:lnTo>
                  <a:pt x="1182085" y="328740"/>
                </a:lnTo>
                <a:close/>
                <a:lnTo>
                  <a:pt x="1197325" y="323660"/>
                </a:lnTo>
                <a:close/>
                <a:lnTo>
                  <a:pt x="1202405" y="308420"/>
                </a:lnTo>
                <a:close/>
                <a:lnTo>
                  <a:pt x="1202405" y="20320"/>
                </a:lnTo>
                <a:close/>
                <a:lnTo>
                  <a:pt x="1197325" y="5080"/>
                </a:lnTo>
                <a:close/>
                <a:lnTo>
                  <a:pt x="1182085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308420"/>
                </a:lnTo>
                <a:close/>
                <a:lnTo>
                  <a:pt x="5080" y="323660"/>
                </a:lnTo>
                <a:close/>
                <a:lnTo>
                  <a:pt x="20320" y="328740"/>
                </a:lnTo>
                <a:close/>
                <a:lnTo>
                  <a:pt x="20320" y="32874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553265" y="835136"/>
            <a:ext cx="203200" cy="71120"/>
          </a:xfrm>
          <a:prstGeom prst="rect">
            <a:avLst/>
          </a:prstGeom>
          <a:solidFill>
            <a:srgbClr val="C0392B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837745" y="804656"/>
            <a:ext cx="10769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High-stress case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53265" y="984266"/>
            <a:ext cx="203200" cy="71120"/>
          </a:xfrm>
          <a:prstGeom prst="rect">
            <a:avLst/>
          </a:prstGeom>
          <a:solidFill>
            <a:srgbClr val="57A77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837745" y="953786"/>
            <a:ext cx="10160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Low-stress case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17988" y="952538"/>
            <a:ext cx="121789" cy="2435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4739777" y="33303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828677" y="325162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130</a:t>
            </a:r>
          </a:p>
        </p:txBody>
      </p:sp>
      <p:sp>
        <p:nvSpPr>
          <p:cNvPr id="92" name="Freeform 91"/>
          <p:cNvSpPr/>
          <p:nvPr/>
        </p:nvSpPr>
        <p:spPr>
          <a:xfrm>
            <a:off x="4739777" y="298339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828677" y="290464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94" name="Freeform 93"/>
          <p:cNvSpPr/>
          <p:nvPr/>
        </p:nvSpPr>
        <p:spPr>
          <a:xfrm>
            <a:off x="4739777" y="263642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828677" y="255767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96" name="Freeform 95"/>
          <p:cNvSpPr/>
          <p:nvPr/>
        </p:nvSpPr>
        <p:spPr>
          <a:xfrm>
            <a:off x="4739777" y="228944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828677" y="221069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98" name="Freeform 97"/>
          <p:cNvSpPr/>
          <p:nvPr/>
        </p:nvSpPr>
        <p:spPr>
          <a:xfrm>
            <a:off x="4739777" y="194246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828677" y="186371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170</a:t>
            </a:r>
          </a:p>
        </p:txBody>
      </p:sp>
      <p:sp>
        <p:nvSpPr>
          <p:cNvPr id="100" name="Freeform 99"/>
          <p:cNvSpPr/>
          <p:nvPr/>
        </p:nvSpPr>
        <p:spPr>
          <a:xfrm>
            <a:off x="4739777" y="159548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828677" y="151673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102" name="Freeform 101"/>
          <p:cNvSpPr/>
          <p:nvPr/>
        </p:nvSpPr>
        <p:spPr>
          <a:xfrm>
            <a:off x="4739777" y="124851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828677" y="1169760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190</a:t>
            </a:r>
          </a:p>
        </p:txBody>
      </p:sp>
      <p:sp>
        <p:nvSpPr>
          <p:cNvPr id="104" name="TextBox 103"/>
          <p:cNvSpPr txBox="1"/>
          <p:nvPr/>
        </p:nvSpPr>
        <p:spPr>
          <a:xfrm rot="16200000">
            <a:off x="5123138" y="1892280"/>
            <a:ext cx="1727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Observed stress (MPa)</a:t>
            </a:r>
          </a:p>
        </p:txBody>
      </p:sp>
      <p:sp>
        <p:nvSpPr>
          <p:cNvPr id="105" name="Freeform 104"/>
          <p:cNvSpPr/>
          <p:nvPr/>
        </p:nvSpPr>
        <p:spPr>
          <a:xfrm>
            <a:off x="4617988" y="952538"/>
            <a:ext cx="121789" cy="2435784"/>
          </a:xfrm>
          <a:custGeom>
            <a:avLst/>
            <a:gdLst/>
            <a:ahLst/>
            <a:cxnLst/>
            <a:rect l="l" t="t" r="r" b="b"/>
            <a:pathLst>
              <a:path w="121789" h="2435784">
                <a:moveTo>
                  <a:pt x="0" y="2435784"/>
                </a:moveTo>
                <a:lnTo>
                  <a:pt x="60894" y="2435784"/>
                </a:lnTo>
                <a:close/>
                <a:lnTo>
                  <a:pt x="121789" y="2435784"/>
                </a:lnTo>
                <a:close/>
                <a:lnTo>
                  <a:pt x="121789" y="0"/>
                </a:lnTo>
                <a:close/>
                <a:lnTo>
                  <a:pt x="60894" y="0"/>
                </a:lnTo>
                <a:close/>
                <a:lnTo>
                  <a:pt x="0" y="0"/>
                </a:lnTo>
                <a:close/>
                <a:lnTo>
                  <a:pt x="0" y="2435784"/>
                </a:lnTo>
                <a:close/>
                <a:lnTo>
                  <a:pt x="0" y="2435784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751614" y="55507"/>
            <a:ext cx="582168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5 (v2) | Posterior risk curve and parameter contraction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