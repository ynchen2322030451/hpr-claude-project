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778954" cy="67665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78954" cy="6766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083564" y="1535278"/>
            <a:ext cx="2267712" cy="985723"/>
          </a:xfrm>
          <a:custGeom>
            <a:avLst/>
            <a:gdLst/>
            <a:ahLst/>
            <a:cxnLst/>
            <a:rect l="l" t="t" r="r" b="b"/>
            <a:pathLst>
              <a:path w="2267712" h="985723">
                <a:moveTo>
                  <a:pt x="70866" y="985723"/>
                </a:moveTo>
                <a:lnTo>
                  <a:pt x="2196846" y="985723"/>
                </a:lnTo>
                <a:close/>
                <a:lnTo>
                  <a:pt x="2227850" y="981322"/>
                </a:lnTo>
                <a:close/>
                <a:lnTo>
                  <a:pt x="2249995" y="968121"/>
                </a:lnTo>
                <a:close/>
                <a:lnTo>
                  <a:pt x="2263283" y="946118"/>
                </a:lnTo>
                <a:close/>
                <a:lnTo>
                  <a:pt x="2267712" y="915314"/>
                </a:lnTo>
                <a:close/>
                <a:lnTo>
                  <a:pt x="2267712" y="70408"/>
                </a:lnTo>
                <a:close/>
                <a:lnTo>
                  <a:pt x="2263283" y="39605"/>
                </a:lnTo>
                <a:close/>
                <a:lnTo>
                  <a:pt x="2249995" y="17602"/>
                </a:lnTo>
                <a:close/>
                <a:lnTo>
                  <a:pt x="2227850" y="4400"/>
                </a:lnTo>
                <a:close/>
                <a:lnTo>
                  <a:pt x="2196846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6" y="17602"/>
                </a:lnTo>
                <a:close/>
                <a:lnTo>
                  <a:pt x="4429" y="39605"/>
                </a:lnTo>
                <a:close/>
                <a:lnTo>
                  <a:pt x="0" y="70408"/>
                </a:lnTo>
                <a:close/>
                <a:lnTo>
                  <a:pt x="0" y="915314"/>
                </a:lnTo>
                <a:close/>
                <a:lnTo>
                  <a:pt x="4429" y="946118"/>
                </a:lnTo>
                <a:close/>
                <a:lnTo>
                  <a:pt x="17716" y="968121"/>
                </a:lnTo>
                <a:close/>
                <a:lnTo>
                  <a:pt x="39862" y="981322"/>
                </a:lnTo>
                <a:close/>
                <a:lnTo>
                  <a:pt x="70866" y="985723"/>
                </a:lnTo>
                <a:close/>
                <a:lnTo>
                  <a:pt x="70866" y="985723"/>
                </a:lnTo>
                <a:close/>
              </a:path>
            </a:pathLst>
          </a:custGeom>
          <a:solidFill>
            <a:srgbClr val="D6EAF8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083564" y="2943454"/>
            <a:ext cx="2267712" cy="844905"/>
          </a:xfrm>
          <a:custGeom>
            <a:avLst/>
            <a:gdLst/>
            <a:ahLst/>
            <a:cxnLst/>
            <a:rect l="l" t="t" r="r" b="b"/>
            <a:pathLst>
              <a:path w="2267712" h="844905">
                <a:moveTo>
                  <a:pt x="70866" y="844905"/>
                </a:moveTo>
                <a:lnTo>
                  <a:pt x="2196846" y="844905"/>
                </a:lnTo>
                <a:close/>
                <a:lnTo>
                  <a:pt x="2227850" y="840505"/>
                </a:lnTo>
                <a:close/>
                <a:lnTo>
                  <a:pt x="2249995" y="827303"/>
                </a:lnTo>
                <a:close/>
                <a:lnTo>
                  <a:pt x="2263283" y="805300"/>
                </a:lnTo>
                <a:close/>
                <a:lnTo>
                  <a:pt x="2267712" y="774496"/>
                </a:lnTo>
                <a:close/>
                <a:lnTo>
                  <a:pt x="2267712" y="70408"/>
                </a:lnTo>
                <a:close/>
                <a:lnTo>
                  <a:pt x="2263283" y="39605"/>
                </a:lnTo>
                <a:close/>
                <a:lnTo>
                  <a:pt x="2249995" y="17602"/>
                </a:lnTo>
                <a:close/>
                <a:lnTo>
                  <a:pt x="2227850" y="4400"/>
                </a:lnTo>
                <a:close/>
                <a:lnTo>
                  <a:pt x="2196846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6" y="17602"/>
                </a:lnTo>
                <a:close/>
                <a:lnTo>
                  <a:pt x="4429" y="39605"/>
                </a:lnTo>
                <a:close/>
                <a:lnTo>
                  <a:pt x="0" y="70408"/>
                </a:lnTo>
                <a:close/>
                <a:lnTo>
                  <a:pt x="0" y="774496"/>
                </a:lnTo>
                <a:close/>
                <a:lnTo>
                  <a:pt x="4429" y="805300"/>
                </a:lnTo>
                <a:close/>
                <a:lnTo>
                  <a:pt x="17716" y="827303"/>
                </a:lnTo>
                <a:close/>
                <a:lnTo>
                  <a:pt x="39862" y="840505"/>
                </a:lnTo>
                <a:close/>
                <a:lnTo>
                  <a:pt x="70866" y="844905"/>
                </a:lnTo>
                <a:close/>
                <a:lnTo>
                  <a:pt x="70866" y="844905"/>
                </a:lnTo>
                <a:close/>
              </a:path>
            </a:pathLst>
          </a:custGeom>
          <a:solidFill>
            <a:srgbClr val="FDEBD0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083564" y="4140403"/>
            <a:ext cx="2267712" cy="774497"/>
          </a:xfrm>
          <a:custGeom>
            <a:avLst/>
            <a:gdLst/>
            <a:ahLst/>
            <a:cxnLst/>
            <a:rect l="l" t="t" r="r" b="b"/>
            <a:pathLst>
              <a:path w="2267712" h="774497">
                <a:moveTo>
                  <a:pt x="70866" y="774497"/>
                </a:moveTo>
                <a:lnTo>
                  <a:pt x="2196846" y="774497"/>
                </a:lnTo>
                <a:close/>
                <a:lnTo>
                  <a:pt x="2227850" y="770096"/>
                </a:lnTo>
                <a:close/>
                <a:lnTo>
                  <a:pt x="2249995" y="756895"/>
                </a:lnTo>
                <a:close/>
                <a:lnTo>
                  <a:pt x="2263283" y="734892"/>
                </a:lnTo>
                <a:close/>
                <a:lnTo>
                  <a:pt x="2267712" y="704088"/>
                </a:lnTo>
                <a:close/>
                <a:lnTo>
                  <a:pt x="2267712" y="70409"/>
                </a:lnTo>
                <a:close/>
                <a:lnTo>
                  <a:pt x="2263283" y="39605"/>
                </a:lnTo>
                <a:close/>
                <a:lnTo>
                  <a:pt x="2249995" y="17602"/>
                </a:lnTo>
                <a:close/>
                <a:lnTo>
                  <a:pt x="2227850" y="4401"/>
                </a:lnTo>
                <a:close/>
                <a:lnTo>
                  <a:pt x="2196846" y="0"/>
                </a:lnTo>
                <a:close/>
                <a:lnTo>
                  <a:pt x="70866" y="0"/>
                </a:lnTo>
                <a:close/>
                <a:lnTo>
                  <a:pt x="39862" y="4401"/>
                </a:lnTo>
                <a:close/>
                <a:lnTo>
                  <a:pt x="17716" y="17602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704088"/>
                </a:lnTo>
                <a:close/>
                <a:lnTo>
                  <a:pt x="4429" y="734892"/>
                </a:lnTo>
                <a:close/>
                <a:lnTo>
                  <a:pt x="17716" y="756895"/>
                </a:lnTo>
                <a:close/>
                <a:lnTo>
                  <a:pt x="39862" y="770096"/>
                </a:lnTo>
                <a:close/>
                <a:lnTo>
                  <a:pt x="70866" y="774497"/>
                </a:lnTo>
                <a:close/>
                <a:lnTo>
                  <a:pt x="70866" y="774497"/>
                </a:lnTo>
                <a:close/>
              </a:path>
            </a:pathLst>
          </a:custGeom>
          <a:solidFill>
            <a:srgbClr val="D5F5E3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83564" y="5337353"/>
            <a:ext cx="2267712" cy="844905"/>
          </a:xfrm>
          <a:custGeom>
            <a:avLst/>
            <a:gdLst/>
            <a:ahLst/>
            <a:cxnLst/>
            <a:rect l="l" t="t" r="r" b="b"/>
            <a:pathLst>
              <a:path w="2267712" h="844905">
                <a:moveTo>
                  <a:pt x="70866" y="844905"/>
                </a:moveTo>
                <a:lnTo>
                  <a:pt x="2196846" y="844905"/>
                </a:lnTo>
                <a:close/>
                <a:lnTo>
                  <a:pt x="2227850" y="840505"/>
                </a:lnTo>
                <a:close/>
                <a:lnTo>
                  <a:pt x="2249995" y="827303"/>
                </a:lnTo>
                <a:close/>
                <a:lnTo>
                  <a:pt x="2263283" y="805300"/>
                </a:lnTo>
                <a:close/>
                <a:lnTo>
                  <a:pt x="2267712" y="774497"/>
                </a:lnTo>
                <a:close/>
                <a:lnTo>
                  <a:pt x="2267712" y="70409"/>
                </a:lnTo>
                <a:close/>
                <a:lnTo>
                  <a:pt x="2263283" y="39605"/>
                </a:lnTo>
                <a:close/>
                <a:lnTo>
                  <a:pt x="2249995" y="17602"/>
                </a:lnTo>
                <a:close/>
                <a:lnTo>
                  <a:pt x="2227850" y="4400"/>
                </a:lnTo>
                <a:close/>
                <a:lnTo>
                  <a:pt x="2196846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6" y="17602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774497"/>
                </a:lnTo>
                <a:close/>
                <a:lnTo>
                  <a:pt x="4429" y="805300"/>
                </a:lnTo>
                <a:close/>
                <a:lnTo>
                  <a:pt x="17716" y="827303"/>
                </a:lnTo>
                <a:close/>
                <a:lnTo>
                  <a:pt x="39862" y="840505"/>
                </a:lnTo>
                <a:close/>
                <a:lnTo>
                  <a:pt x="70866" y="844905"/>
                </a:lnTo>
                <a:close/>
                <a:lnTo>
                  <a:pt x="70866" y="844905"/>
                </a:lnTo>
                <a:close/>
              </a:path>
            </a:pathLst>
          </a:custGeom>
          <a:solidFill>
            <a:srgbClr val="D6EAF8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563874" y="2168957"/>
            <a:ext cx="1488186" cy="704088"/>
          </a:xfrm>
          <a:custGeom>
            <a:avLst/>
            <a:gdLst/>
            <a:ahLst/>
            <a:cxnLst/>
            <a:rect l="l" t="t" r="r" b="b"/>
            <a:pathLst>
              <a:path w="1488186" h="704088">
                <a:moveTo>
                  <a:pt x="70866" y="704088"/>
                </a:moveTo>
                <a:lnTo>
                  <a:pt x="1417320" y="704088"/>
                </a:lnTo>
                <a:close/>
                <a:lnTo>
                  <a:pt x="1448324" y="699687"/>
                </a:lnTo>
                <a:close/>
                <a:lnTo>
                  <a:pt x="1470470" y="686486"/>
                </a:lnTo>
                <a:close/>
                <a:lnTo>
                  <a:pt x="1483757" y="664483"/>
                </a:lnTo>
                <a:close/>
                <a:lnTo>
                  <a:pt x="1488186" y="633679"/>
                </a:lnTo>
                <a:close/>
                <a:lnTo>
                  <a:pt x="1488186" y="70409"/>
                </a:lnTo>
                <a:close/>
                <a:lnTo>
                  <a:pt x="1483757" y="39605"/>
                </a:lnTo>
                <a:close/>
                <a:lnTo>
                  <a:pt x="1470470" y="17602"/>
                </a:lnTo>
                <a:close/>
                <a:lnTo>
                  <a:pt x="1448324" y="4400"/>
                </a:lnTo>
                <a:close/>
                <a:lnTo>
                  <a:pt x="1417320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7" y="17602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633679"/>
                </a:lnTo>
                <a:close/>
                <a:lnTo>
                  <a:pt x="4429" y="664483"/>
                </a:lnTo>
                <a:close/>
                <a:lnTo>
                  <a:pt x="17717" y="686486"/>
                </a:lnTo>
                <a:close/>
                <a:lnTo>
                  <a:pt x="39862" y="699687"/>
                </a:lnTo>
                <a:close/>
                <a:lnTo>
                  <a:pt x="70866" y="704088"/>
                </a:lnTo>
                <a:close/>
                <a:lnTo>
                  <a:pt x="70866" y="704088"/>
                </a:lnTo>
                <a:close/>
              </a:path>
            </a:pathLst>
          </a:custGeom>
          <a:solidFill>
            <a:srgbClr val="EBF5FB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0574" y="3436315"/>
            <a:ext cx="1488186" cy="704088"/>
          </a:xfrm>
          <a:custGeom>
            <a:avLst/>
            <a:gdLst/>
            <a:ahLst/>
            <a:cxnLst/>
            <a:rect l="l" t="t" r="r" b="b"/>
            <a:pathLst>
              <a:path w="1488186" h="704088">
                <a:moveTo>
                  <a:pt x="70866" y="704088"/>
                </a:moveTo>
                <a:lnTo>
                  <a:pt x="1417320" y="704088"/>
                </a:lnTo>
                <a:close/>
                <a:lnTo>
                  <a:pt x="1448324" y="699688"/>
                </a:lnTo>
                <a:close/>
                <a:lnTo>
                  <a:pt x="1470470" y="686486"/>
                </a:lnTo>
                <a:close/>
                <a:lnTo>
                  <a:pt x="1483757" y="664483"/>
                </a:lnTo>
                <a:close/>
                <a:lnTo>
                  <a:pt x="1488186" y="633679"/>
                </a:lnTo>
                <a:close/>
                <a:lnTo>
                  <a:pt x="1488186" y="70409"/>
                </a:lnTo>
                <a:close/>
                <a:lnTo>
                  <a:pt x="1483757" y="39605"/>
                </a:lnTo>
                <a:close/>
                <a:lnTo>
                  <a:pt x="1470470" y="17602"/>
                </a:lnTo>
                <a:close/>
                <a:lnTo>
                  <a:pt x="1448324" y="4401"/>
                </a:lnTo>
                <a:close/>
                <a:lnTo>
                  <a:pt x="1417320" y="0"/>
                </a:lnTo>
                <a:close/>
                <a:lnTo>
                  <a:pt x="70866" y="0"/>
                </a:lnTo>
                <a:close/>
                <a:lnTo>
                  <a:pt x="39862" y="4401"/>
                </a:lnTo>
                <a:close/>
                <a:lnTo>
                  <a:pt x="17716" y="17602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633679"/>
                </a:lnTo>
                <a:close/>
                <a:lnTo>
                  <a:pt x="4429" y="664483"/>
                </a:lnTo>
                <a:close/>
                <a:lnTo>
                  <a:pt x="17716" y="686486"/>
                </a:lnTo>
                <a:close/>
                <a:lnTo>
                  <a:pt x="39862" y="699688"/>
                </a:lnTo>
                <a:close/>
                <a:lnTo>
                  <a:pt x="70866" y="704088"/>
                </a:lnTo>
                <a:close/>
                <a:lnTo>
                  <a:pt x="70866" y="704088"/>
                </a:lnTo>
                <a:close/>
              </a:path>
            </a:pathLst>
          </a:custGeom>
          <a:solidFill>
            <a:srgbClr val="EBF5FB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563874" y="4703674"/>
            <a:ext cx="1488186" cy="704088"/>
          </a:xfrm>
          <a:custGeom>
            <a:avLst/>
            <a:gdLst/>
            <a:ahLst/>
            <a:cxnLst/>
            <a:rect l="l" t="t" r="r" b="b"/>
            <a:pathLst>
              <a:path w="1488186" h="704088">
                <a:moveTo>
                  <a:pt x="70866" y="704088"/>
                </a:moveTo>
                <a:lnTo>
                  <a:pt x="1417320" y="704088"/>
                </a:lnTo>
                <a:close/>
                <a:lnTo>
                  <a:pt x="1448324" y="699687"/>
                </a:lnTo>
                <a:close/>
                <a:lnTo>
                  <a:pt x="1470470" y="686485"/>
                </a:lnTo>
                <a:close/>
                <a:lnTo>
                  <a:pt x="1483757" y="664483"/>
                </a:lnTo>
                <a:close/>
                <a:lnTo>
                  <a:pt x="1488186" y="633679"/>
                </a:lnTo>
                <a:close/>
                <a:lnTo>
                  <a:pt x="1488186" y="70408"/>
                </a:lnTo>
                <a:close/>
                <a:lnTo>
                  <a:pt x="1483757" y="39605"/>
                </a:lnTo>
                <a:close/>
                <a:lnTo>
                  <a:pt x="1470470" y="17602"/>
                </a:lnTo>
                <a:close/>
                <a:lnTo>
                  <a:pt x="1448324" y="4400"/>
                </a:lnTo>
                <a:close/>
                <a:lnTo>
                  <a:pt x="1417320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7" y="17602"/>
                </a:lnTo>
                <a:close/>
                <a:lnTo>
                  <a:pt x="4429" y="39605"/>
                </a:lnTo>
                <a:close/>
                <a:lnTo>
                  <a:pt x="0" y="70408"/>
                </a:lnTo>
                <a:close/>
                <a:lnTo>
                  <a:pt x="0" y="633679"/>
                </a:lnTo>
                <a:close/>
                <a:lnTo>
                  <a:pt x="4429" y="664483"/>
                </a:lnTo>
                <a:close/>
                <a:lnTo>
                  <a:pt x="17717" y="686485"/>
                </a:lnTo>
                <a:close/>
                <a:lnTo>
                  <a:pt x="39862" y="699687"/>
                </a:lnTo>
                <a:close/>
                <a:lnTo>
                  <a:pt x="70866" y="704088"/>
                </a:lnTo>
                <a:close/>
                <a:lnTo>
                  <a:pt x="70866" y="704088"/>
                </a:lnTo>
                <a:close/>
              </a:path>
            </a:pathLst>
          </a:custGeom>
          <a:solidFill>
            <a:srgbClr val="EBF5FB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7629" y="1754648"/>
            <a:ext cx="8001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8 material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1076" y="2085908"/>
            <a:ext cx="8953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uniform priors</a:t>
            </a:r>
          </a:p>
        </p:txBody>
      </p:sp>
      <p:sp>
        <p:nvSpPr>
          <p:cNvPr id="12" name="Freeform 11"/>
          <p:cNvSpPr/>
          <p:nvPr/>
        </p:nvSpPr>
        <p:spPr>
          <a:xfrm>
            <a:off x="2217420" y="2476015"/>
            <a:ext cx="0" cy="350287"/>
          </a:xfrm>
          <a:custGeom>
            <a:avLst/>
            <a:gdLst/>
            <a:ahLst/>
            <a:cxnLst/>
            <a:rect l="l" t="t" r="r" b="b"/>
            <a:pathLst>
              <a:path w="0" h="350287">
                <a:moveTo>
                  <a:pt x="0" y="0"/>
                </a:moveTo>
                <a:lnTo>
                  <a:pt x="0" y="350287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192020" y="277550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0"/>
                </a:moveTo>
                <a:lnTo>
                  <a:pt x="25400" y="50800"/>
                </a:lnTo>
                <a:close/>
                <a:lnTo>
                  <a:pt x="0" y="0"/>
                </a:lnTo>
                <a:close/>
                <a:lnTo>
                  <a:pt x="50800" y="0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13587" y="3156410"/>
            <a:ext cx="7315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HF solver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7661" y="3370346"/>
            <a:ext cx="8382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OpenMC–FEniCS</a:t>
            </a:r>
          </a:p>
        </p:txBody>
      </p:sp>
      <p:sp>
        <p:nvSpPr>
          <p:cNvPr id="16" name="Freeform 15"/>
          <p:cNvSpPr/>
          <p:nvPr/>
        </p:nvSpPr>
        <p:spPr>
          <a:xfrm>
            <a:off x="2217420" y="3743374"/>
            <a:ext cx="0" cy="350286"/>
          </a:xfrm>
          <a:custGeom>
            <a:avLst/>
            <a:gdLst/>
            <a:ahLst/>
            <a:cxnLst/>
            <a:rect l="l" t="t" r="r" b="b"/>
            <a:pathLst>
              <a:path w="0" h="350286">
                <a:moveTo>
                  <a:pt x="0" y="0"/>
                </a:moveTo>
                <a:lnTo>
                  <a:pt x="0" y="350286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192020" y="404286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0"/>
                </a:moveTo>
                <a:lnTo>
                  <a:pt x="25400" y="50800"/>
                </a:lnTo>
                <a:close/>
                <a:lnTo>
                  <a:pt x="0" y="0"/>
                </a:lnTo>
                <a:close/>
                <a:lnTo>
                  <a:pt x="50800" y="0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433" y="4318155"/>
            <a:ext cx="59436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8223" y="4585420"/>
            <a:ext cx="11239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n≈2900, 15 outputs</a:t>
            </a:r>
          </a:p>
        </p:txBody>
      </p:sp>
      <p:sp>
        <p:nvSpPr>
          <p:cNvPr id="20" name="Freeform 19"/>
          <p:cNvSpPr/>
          <p:nvPr/>
        </p:nvSpPr>
        <p:spPr>
          <a:xfrm>
            <a:off x="2217420" y="4869915"/>
            <a:ext cx="0" cy="350286"/>
          </a:xfrm>
          <a:custGeom>
            <a:avLst/>
            <a:gdLst/>
            <a:ahLst/>
            <a:cxnLst/>
            <a:rect l="l" t="t" r="r" b="b"/>
            <a:pathLst>
              <a:path w="0" h="350286">
                <a:moveTo>
                  <a:pt x="0" y="0"/>
                </a:moveTo>
                <a:lnTo>
                  <a:pt x="0" y="350286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192020" y="516940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0"/>
                </a:moveTo>
                <a:lnTo>
                  <a:pt x="25400" y="50800"/>
                </a:lnTo>
                <a:close/>
                <a:lnTo>
                  <a:pt x="0" y="0"/>
                </a:lnTo>
                <a:close/>
                <a:lnTo>
                  <a:pt x="50800" y="0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62126" y="5550309"/>
            <a:ext cx="7315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HeteroMLP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4609" y="5764245"/>
            <a:ext cx="11811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physics-regularized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28420" y="2311505"/>
            <a:ext cx="8001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Forward UQ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02242" y="2578770"/>
            <a:ext cx="4953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20k/3ms</a:t>
            </a:r>
          </a:p>
        </p:txBody>
      </p:sp>
      <p:sp>
        <p:nvSpPr>
          <p:cNvPr id="26" name="Freeform 25"/>
          <p:cNvSpPr/>
          <p:nvPr/>
        </p:nvSpPr>
        <p:spPr>
          <a:xfrm>
            <a:off x="2238114" y="2560299"/>
            <a:ext cx="1433480" cy="3184714"/>
          </a:xfrm>
          <a:custGeom>
            <a:avLst/>
            <a:gdLst/>
            <a:ahLst/>
            <a:cxnLst/>
            <a:rect l="l" t="t" r="r" b="b"/>
            <a:pathLst>
              <a:path w="1433480" h="3184714">
                <a:moveTo>
                  <a:pt x="0" y="3184714"/>
                </a:moveTo>
                <a:lnTo>
                  <a:pt x="198563" y="3033448"/>
                </a:lnTo>
                <a:close/>
                <a:lnTo>
                  <a:pt x="382330" y="2875812"/>
                </a:lnTo>
                <a:close/>
                <a:lnTo>
                  <a:pt x="551302" y="2711805"/>
                </a:lnTo>
                <a:close/>
                <a:lnTo>
                  <a:pt x="705478" y="2541427"/>
                </a:lnTo>
                <a:close/>
                <a:lnTo>
                  <a:pt x="844858" y="2364679"/>
                </a:lnTo>
                <a:close/>
                <a:lnTo>
                  <a:pt x="969443" y="2181561"/>
                </a:lnTo>
                <a:close/>
                <a:lnTo>
                  <a:pt x="1079232" y="1992072"/>
                </a:lnTo>
                <a:close/>
                <a:lnTo>
                  <a:pt x="1174226" y="1796213"/>
                </a:lnTo>
                <a:close/>
                <a:lnTo>
                  <a:pt x="1254424" y="1593983"/>
                </a:lnTo>
                <a:close/>
                <a:lnTo>
                  <a:pt x="1319826" y="1385382"/>
                </a:lnTo>
                <a:close/>
                <a:lnTo>
                  <a:pt x="1370433" y="1170412"/>
                </a:lnTo>
                <a:close/>
                <a:lnTo>
                  <a:pt x="1406244" y="949070"/>
                </a:lnTo>
                <a:close/>
                <a:lnTo>
                  <a:pt x="1427260" y="721359"/>
                </a:lnTo>
                <a:close/>
                <a:lnTo>
                  <a:pt x="1433480" y="487276"/>
                </a:lnTo>
                <a:close/>
                <a:lnTo>
                  <a:pt x="1424904" y="246824"/>
                </a:lnTo>
                <a:close/>
                <a:lnTo>
                  <a:pt x="1401533" y="0"/>
                </a:lnTo>
                <a:close/>
              </a:path>
            </a:pathLst>
          </a:custGeom>
          <a:noFill/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620642" y="2560299"/>
            <a:ext cx="50420" cy="53523"/>
          </a:xfrm>
          <a:custGeom>
            <a:avLst/>
            <a:gdLst/>
            <a:ahLst/>
            <a:cxnLst/>
            <a:rect l="l" t="t" r="r" b="b"/>
            <a:pathLst>
              <a:path w="50420" h="53523">
                <a:moveTo>
                  <a:pt x="0" y="53523"/>
                </a:moveTo>
                <a:lnTo>
                  <a:pt x="19005" y="0"/>
                </a:lnTo>
                <a:close/>
                <a:lnTo>
                  <a:pt x="50420" y="47317"/>
                </a:lnTo>
                <a:close/>
                <a:lnTo>
                  <a:pt x="0" y="5352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206" y="3578863"/>
            <a:ext cx="66294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Sobol S1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52" y="3846128"/>
            <a:ext cx="7239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sensitivity</a:t>
            </a:r>
          </a:p>
        </p:txBody>
      </p:sp>
      <p:sp>
        <p:nvSpPr>
          <p:cNvPr id="30" name="Freeform 29"/>
          <p:cNvSpPr/>
          <p:nvPr/>
        </p:nvSpPr>
        <p:spPr>
          <a:xfrm>
            <a:off x="130153" y="3796684"/>
            <a:ext cx="2080105" cy="1938768"/>
          </a:xfrm>
          <a:custGeom>
            <a:avLst/>
            <a:gdLst/>
            <a:ahLst/>
            <a:cxnLst/>
            <a:rect l="l" t="t" r="r" b="b"/>
            <a:pathLst>
              <a:path w="2080105" h="1938768">
                <a:moveTo>
                  <a:pt x="2080105" y="1938768"/>
                </a:moveTo>
                <a:lnTo>
                  <a:pt x="2016524" y="1744909"/>
                </a:lnTo>
                <a:close/>
                <a:lnTo>
                  <a:pt x="1944086" y="1560742"/>
                </a:lnTo>
                <a:close/>
                <a:lnTo>
                  <a:pt x="1862791" y="1386266"/>
                </a:lnTo>
                <a:close/>
                <a:lnTo>
                  <a:pt x="1772640" y="1221482"/>
                </a:lnTo>
                <a:close/>
                <a:lnTo>
                  <a:pt x="1673632" y="1066389"/>
                </a:lnTo>
                <a:close/>
                <a:lnTo>
                  <a:pt x="1565767" y="920988"/>
                </a:lnTo>
                <a:close/>
                <a:lnTo>
                  <a:pt x="1449045" y="785278"/>
                </a:lnTo>
                <a:close/>
                <a:lnTo>
                  <a:pt x="1323467" y="659259"/>
                </a:lnTo>
                <a:close/>
                <a:lnTo>
                  <a:pt x="1189032" y="542932"/>
                </a:lnTo>
                <a:close/>
                <a:lnTo>
                  <a:pt x="1045740" y="436296"/>
                </a:lnTo>
                <a:close/>
                <a:lnTo>
                  <a:pt x="893592" y="339351"/>
                </a:lnTo>
                <a:close/>
                <a:lnTo>
                  <a:pt x="732587" y="252098"/>
                </a:lnTo>
                <a:close/>
                <a:lnTo>
                  <a:pt x="562725" y="174536"/>
                </a:lnTo>
                <a:close/>
                <a:lnTo>
                  <a:pt x="384007" y="106666"/>
                </a:lnTo>
                <a:close/>
                <a:lnTo>
                  <a:pt x="196431" y="48487"/>
                </a:lnTo>
                <a:close/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30153" y="3782649"/>
            <a:ext cx="55034" cy="49641"/>
          </a:xfrm>
          <a:custGeom>
            <a:avLst/>
            <a:gdLst/>
            <a:ahLst/>
            <a:cxnLst/>
            <a:rect l="l" t="t" r="r" b="b"/>
            <a:pathLst>
              <a:path w="55034" h="49641">
                <a:moveTo>
                  <a:pt x="44248" y="49641"/>
                </a:moveTo>
                <a:lnTo>
                  <a:pt x="0" y="14035"/>
                </a:lnTo>
                <a:close/>
                <a:lnTo>
                  <a:pt x="55034" y="0"/>
                </a:lnTo>
                <a:close/>
                <a:lnTo>
                  <a:pt x="44248" y="49641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11501" y="4846221"/>
            <a:ext cx="7315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Posterior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59273" y="5113486"/>
            <a:ext cx="3238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MCMC</a:t>
            </a:r>
          </a:p>
        </p:txBody>
      </p:sp>
      <p:sp>
        <p:nvSpPr>
          <p:cNvPr id="34" name="Freeform 33"/>
          <p:cNvSpPr/>
          <p:nvPr/>
        </p:nvSpPr>
        <p:spPr>
          <a:xfrm>
            <a:off x="2242773" y="5088893"/>
            <a:ext cx="1370343" cy="677141"/>
          </a:xfrm>
          <a:custGeom>
            <a:avLst/>
            <a:gdLst/>
            <a:ahLst/>
            <a:cxnLst/>
            <a:rect l="l" t="t" r="r" b="b"/>
            <a:pathLst>
              <a:path w="1370343" h="677141">
                <a:moveTo>
                  <a:pt x="0" y="672773"/>
                </a:moveTo>
                <a:lnTo>
                  <a:pt x="109507" y="677141"/>
                </a:lnTo>
                <a:close/>
                <a:lnTo>
                  <a:pt x="215833" y="675320"/>
                </a:lnTo>
                <a:close/>
                <a:lnTo>
                  <a:pt x="318977" y="667310"/>
                </a:lnTo>
                <a:close/>
                <a:lnTo>
                  <a:pt x="418940" y="653111"/>
                </a:lnTo>
                <a:close/>
                <a:lnTo>
                  <a:pt x="515722" y="632724"/>
                </a:lnTo>
                <a:close/>
                <a:lnTo>
                  <a:pt x="609322" y="606148"/>
                </a:lnTo>
                <a:close/>
                <a:lnTo>
                  <a:pt x="699740" y="573383"/>
                </a:lnTo>
                <a:close/>
                <a:lnTo>
                  <a:pt x="786978" y="534429"/>
                </a:lnTo>
                <a:close/>
                <a:lnTo>
                  <a:pt x="871033" y="489286"/>
                </a:lnTo>
                <a:close/>
                <a:lnTo>
                  <a:pt x="951908" y="437955"/>
                </a:lnTo>
                <a:close/>
                <a:lnTo>
                  <a:pt x="1029600" y="380434"/>
                </a:lnTo>
                <a:close/>
                <a:lnTo>
                  <a:pt x="1104112" y="316725"/>
                </a:lnTo>
                <a:close/>
                <a:lnTo>
                  <a:pt x="1175442" y="246827"/>
                </a:lnTo>
                <a:close/>
                <a:lnTo>
                  <a:pt x="1243590" y="170740"/>
                </a:lnTo>
                <a:close/>
                <a:lnTo>
                  <a:pt x="1308557" y="88465"/>
                </a:lnTo>
                <a:close/>
                <a:lnTo>
                  <a:pt x="1370343" y="0"/>
                </a:lnTo>
                <a:close/>
              </a:path>
            </a:pathLst>
          </a:custGeom>
          <a:noFill/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563985" y="5088893"/>
            <a:ext cx="49131" cy="56402"/>
          </a:xfrm>
          <a:custGeom>
            <a:avLst/>
            <a:gdLst/>
            <a:ahLst/>
            <a:cxnLst/>
            <a:rect l="l" t="t" r="r" b="b"/>
            <a:pathLst>
              <a:path w="49131" h="56402">
                <a:moveTo>
                  <a:pt x="0" y="28495"/>
                </a:moveTo>
                <a:lnTo>
                  <a:pt x="49131" y="0"/>
                </a:lnTo>
                <a:close/>
                <a:lnTo>
                  <a:pt x="42448" y="56402"/>
                </a:lnTo>
                <a:close/>
                <a:lnTo>
                  <a:pt x="0" y="28495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0969" y="58501"/>
            <a:ext cx="38277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Figure 1 (v2) | Surrogate framework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