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48672" cy="43714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48672" cy="43714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53312" y="586455"/>
            <a:ext cx="8503920" cy="33796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53312" y="586455"/>
            <a:ext cx="2834640" cy="3379622"/>
          </a:xfrm>
          <a:prstGeom prst="rect">
            <a:avLst/>
          </a:prstGeom>
          <a:solidFill>
            <a:srgbClr val="DBEAF9">
              <a:alpha val="60000"/>
            </a:srgbClr>
          </a:solidFill>
          <a:ln w="12700">
            <a:solidFill>
              <a:srgbClr val="DBEAF9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87952" y="586455"/>
            <a:ext cx="2834640" cy="3379622"/>
          </a:xfrm>
          <a:prstGeom prst="rect">
            <a:avLst/>
          </a:prstGeom>
          <a:solidFill>
            <a:srgbClr val="FFF3CD">
              <a:alpha val="60000"/>
            </a:srgbClr>
          </a:solidFill>
          <a:ln w="12700">
            <a:solidFill>
              <a:srgbClr val="FFF3CD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22592" y="586455"/>
            <a:ext cx="2834640" cy="3379622"/>
          </a:xfrm>
          <a:prstGeom prst="rect">
            <a:avLst/>
          </a:prstGeom>
          <a:solidFill>
            <a:srgbClr val="F8D7DA">
              <a:alpha val="60000"/>
            </a:srgbClr>
          </a:solidFill>
          <a:ln w="12700">
            <a:solidFill>
              <a:srgbClr val="F8D7DA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1353312" y="2907210"/>
            <a:ext cx="8503920" cy="0"/>
          </a:xfrm>
          <a:custGeom>
            <a:avLst/>
            <a:gdLst/>
            <a:ahLst/>
            <a:cxnLst/>
            <a:rect l="l" t="t" r="r" b="b"/>
            <a:pathLst>
              <a:path w="8503920" h="0">
                <a:moveTo>
                  <a:pt x="0" y="0"/>
                </a:moveTo>
                <a:lnTo>
                  <a:pt x="8503920" y="0"/>
                </a:lnTo>
                <a:close/>
              </a:path>
            </a:pathLst>
          </a:custGeom>
          <a:noFill/>
          <a:ln w="10160">
            <a:solidFill>
              <a:srgbClr val="A63D4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589532" y="396607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9532" y="3991611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</a:t>
            </a:r>
          </a:p>
        </p:txBody>
      </p:sp>
      <p:sp>
        <p:nvSpPr>
          <p:cNvPr id="10" name="Freeform 9"/>
          <p:cNvSpPr/>
          <p:nvPr/>
        </p:nvSpPr>
        <p:spPr>
          <a:xfrm>
            <a:off x="2061972" y="396607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1972" y="3991611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</a:t>
            </a:r>
          </a:p>
        </p:txBody>
      </p:sp>
      <p:sp>
        <p:nvSpPr>
          <p:cNvPr id="12" name="Freeform 11"/>
          <p:cNvSpPr/>
          <p:nvPr/>
        </p:nvSpPr>
        <p:spPr>
          <a:xfrm>
            <a:off x="2534412" y="396607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4412" y="3991611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3</a:t>
            </a:r>
          </a:p>
        </p:txBody>
      </p:sp>
      <p:sp>
        <p:nvSpPr>
          <p:cNvPr id="14" name="Freeform 13"/>
          <p:cNvSpPr/>
          <p:nvPr/>
        </p:nvSpPr>
        <p:spPr>
          <a:xfrm>
            <a:off x="3006852" y="396607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6852" y="3991611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4</a:t>
            </a:r>
          </a:p>
        </p:txBody>
      </p:sp>
      <p:sp>
        <p:nvSpPr>
          <p:cNvPr id="16" name="Freeform 15"/>
          <p:cNvSpPr/>
          <p:nvPr/>
        </p:nvSpPr>
        <p:spPr>
          <a:xfrm>
            <a:off x="3479292" y="396607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9292" y="3991611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5</a:t>
            </a:r>
          </a:p>
        </p:txBody>
      </p:sp>
      <p:sp>
        <p:nvSpPr>
          <p:cNvPr id="18" name="Freeform 17"/>
          <p:cNvSpPr/>
          <p:nvPr/>
        </p:nvSpPr>
        <p:spPr>
          <a:xfrm>
            <a:off x="3951732" y="396607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1732" y="3991611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6</a:t>
            </a:r>
          </a:p>
        </p:txBody>
      </p:sp>
      <p:sp>
        <p:nvSpPr>
          <p:cNvPr id="20" name="Freeform 19"/>
          <p:cNvSpPr/>
          <p:nvPr/>
        </p:nvSpPr>
        <p:spPr>
          <a:xfrm>
            <a:off x="4424172" y="396607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4172" y="3991611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7</a:t>
            </a:r>
          </a:p>
        </p:txBody>
      </p:sp>
      <p:sp>
        <p:nvSpPr>
          <p:cNvPr id="22" name="Freeform 21"/>
          <p:cNvSpPr/>
          <p:nvPr/>
        </p:nvSpPr>
        <p:spPr>
          <a:xfrm>
            <a:off x="4896612" y="396607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6612" y="3991611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8</a:t>
            </a:r>
          </a:p>
        </p:txBody>
      </p:sp>
      <p:sp>
        <p:nvSpPr>
          <p:cNvPr id="24" name="Freeform 23"/>
          <p:cNvSpPr/>
          <p:nvPr/>
        </p:nvSpPr>
        <p:spPr>
          <a:xfrm>
            <a:off x="5369052" y="396607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69052" y="3991611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9</a:t>
            </a:r>
          </a:p>
        </p:txBody>
      </p:sp>
      <p:sp>
        <p:nvSpPr>
          <p:cNvPr id="26" name="Freeform 25"/>
          <p:cNvSpPr/>
          <p:nvPr/>
        </p:nvSpPr>
        <p:spPr>
          <a:xfrm>
            <a:off x="5841492" y="396607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41492" y="399161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</a:t>
            </a:r>
          </a:p>
        </p:txBody>
      </p:sp>
      <p:sp>
        <p:nvSpPr>
          <p:cNvPr id="28" name="Freeform 27"/>
          <p:cNvSpPr/>
          <p:nvPr/>
        </p:nvSpPr>
        <p:spPr>
          <a:xfrm>
            <a:off x="6313932" y="396607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3932" y="399161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11</a:t>
            </a:r>
          </a:p>
        </p:txBody>
      </p:sp>
      <p:sp>
        <p:nvSpPr>
          <p:cNvPr id="30" name="Freeform 29"/>
          <p:cNvSpPr/>
          <p:nvPr/>
        </p:nvSpPr>
        <p:spPr>
          <a:xfrm>
            <a:off x="6786372" y="396607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6372" y="399161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12</a:t>
            </a:r>
          </a:p>
        </p:txBody>
      </p:sp>
      <p:sp>
        <p:nvSpPr>
          <p:cNvPr id="32" name="Freeform 31"/>
          <p:cNvSpPr/>
          <p:nvPr/>
        </p:nvSpPr>
        <p:spPr>
          <a:xfrm>
            <a:off x="7258812" y="396607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58812" y="399161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13</a:t>
            </a:r>
          </a:p>
        </p:txBody>
      </p:sp>
      <p:sp>
        <p:nvSpPr>
          <p:cNvPr id="34" name="Freeform 33"/>
          <p:cNvSpPr/>
          <p:nvPr/>
        </p:nvSpPr>
        <p:spPr>
          <a:xfrm>
            <a:off x="7731252" y="396607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31252" y="399161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14</a:t>
            </a:r>
          </a:p>
        </p:txBody>
      </p:sp>
      <p:sp>
        <p:nvSpPr>
          <p:cNvPr id="36" name="Freeform 35"/>
          <p:cNvSpPr/>
          <p:nvPr/>
        </p:nvSpPr>
        <p:spPr>
          <a:xfrm>
            <a:off x="8203692" y="396607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3692" y="399161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15</a:t>
            </a:r>
          </a:p>
        </p:txBody>
      </p:sp>
      <p:sp>
        <p:nvSpPr>
          <p:cNvPr id="38" name="Freeform 37"/>
          <p:cNvSpPr/>
          <p:nvPr/>
        </p:nvSpPr>
        <p:spPr>
          <a:xfrm>
            <a:off x="8676132" y="396607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76132" y="399161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16</a:t>
            </a:r>
          </a:p>
        </p:txBody>
      </p:sp>
      <p:sp>
        <p:nvSpPr>
          <p:cNvPr id="40" name="Freeform 39"/>
          <p:cNvSpPr/>
          <p:nvPr/>
        </p:nvSpPr>
        <p:spPr>
          <a:xfrm>
            <a:off x="9148572" y="396607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8572" y="399161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17</a:t>
            </a:r>
          </a:p>
        </p:txBody>
      </p:sp>
      <p:sp>
        <p:nvSpPr>
          <p:cNvPr id="42" name="Freeform 41"/>
          <p:cNvSpPr/>
          <p:nvPr/>
        </p:nvSpPr>
        <p:spPr>
          <a:xfrm>
            <a:off x="9621012" y="3966078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21012" y="3991611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05272" y="4132803"/>
            <a:ext cx="1651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Benchmark case index</a:t>
            </a:r>
          </a:p>
        </p:txBody>
      </p:sp>
      <p:sp>
        <p:nvSpPr>
          <p:cNvPr id="45" name="Freeform 44"/>
          <p:cNvSpPr/>
          <p:nvPr/>
        </p:nvSpPr>
        <p:spPr>
          <a:xfrm>
            <a:off x="1308862" y="390392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64412" y="3808746"/>
            <a:ext cx="279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80</a:t>
            </a:r>
          </a:p>
        </p:txBody>
      </p:sp>
      <p:sp>
        <p:nvSpPr>
          <p:cNvPr id="47" name="Freeform 46"/>
          <p:cNvSpPr/>
          <p:nvPr/>
        </p:nvSpPr>
        <p:spPr>
          <a:xfrm>
            <a:off x="1308862" y="351305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64412" y="341787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100</a:t>
            </a:r>
          </a:p>
        </p:txBody>
      </p:sp>
      <p:sp>
        <p:nvSpPr>
          <p:cNvPr id="49" name="Freeform 48"/>
          <p:cNvSpPr/>
          <p:nvPr/>
        </p:nvSpPr>
        <p:spPr>
          <a:xfrm>
            <a:off x="1308862" y="312218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64412" y="302700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120</a:t>
            </a:r>
          </a:p>
        </p:txBody>
      </p:sp>
      <p:sp>
        <p:nvSpPr>
          <p:cNvPr id="51" name="Freeform 50"/>
          <p:cNvSpPr/>
          <p:nvPr/>
        </p:nvSpPr>
        <p:spPr>
          <a:xfrm>
            <a:off x="1308862" y="273131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64412" y="263613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140</a:t>
            </a:r>
          </a:p>
        </p:txBody>
      </p:sp>
      <p:sp>
        <p:nvSpPr>
          <p:cNvPr id="53" name="Freeform 52"/>
          <p:cNvSpPr/>
          <p:nvPr/>
        </p:nvSpPr>
        <p:spPr>
          <a:xfrm>
            <a:off x="1308862" y="234044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64412" y="224526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160</a:t>
            </a:r>
          </a:p>
        </p:txBody>
      </p:sp>
      <p:sp>
        <p:nvSpPr>
          <p:cNvPr id="55" name="Freeform 54"/>
          <p:cNvSpPr/>
          <p:nvPr/>
        </p:nvSpPr>
        <p:spPr>
          <a:xfrm>
            <a:off x="1308862" y="194957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64412" y="1854394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180</a:t>
            </a:r>
          </a:p>
        </p:txBody>
      </p:sp>
      <p:sp>
        <p:nvSpPr>
          <p:cNvPr id="57" name="Freeform 56"/>
          <p:cNvSpPr/>
          <p:nvPr/>
        </p:nvSpPr>
        <p:spPr>
          <a:xfrm>
            <a:off x="1308862" y="155870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64412" y="146352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200</a:t>
            </a:r>
          </a:p>
        </p:txBody>
      </p:sp>
      <p:sp>
        <p:nvSpPr>
          <p:cNvPr id="59" name="Freeform 58"/>
          <p:cNvSpPr/>
          <p:nvPr/>
        </p:nvSpPr>
        <p:spPr>
          <a:xfrm>
            <a:off x="1308862" y="116783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64412" y="1072653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220</a:t>
            </a:r>
          </a:p>
        </p:txBody>
      </p:sp>
      <p:sp>
        <p:nvSpPr>
          <p:cNvPr id="61" name="Freeform 60"/>
          <p:cNvSpPr/>
          <p:nvPr/>
        </p:nvSpPr>
        <p:spPr>
          <a:xfrm>
            <a:off x="1308862" y="77696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A4A4A"/>
          </a:solidFill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264412" y="68178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4A4A4A"/>
                </a:solidFill>
                <a:latin typeface="Arial"/>
              </a:rPr>
              <a:t>240</a:t>
            </a:r>
          </a:p>
        </p:txBody>
      </p:sp>
      <p:sp>
        <p:nvSpPr>
          <p:cNvPr id="63" name="TextBox 62"/>
          <p:cNvSpPr txBox="1"/>
          <p:nvPr/>
        </p:nvSpPr>
        <p:spPr>
          <a:xfrm rot="16200000">
            <a:off x="2181017" y="-1691618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Stress (MPa)</a:t>
            </a:r>
          </a:p>
        </p:txBody>
      </p:sp>
      <p:sp>
        <p:nvSpPr>
          <p:cNvPr id="64" name="Freeform 63"/>
          <p:cNvSpPr/>
          <p:nvPr/>
        </p:nvSpPr>
        <p:spPr>
          <a:xfrm>
            <a:off x="1518666" y="1231392"/>
            <a:ext cx="0" cy="2127511"/>
          </a:xfrm>
          <a:custGeom>
            <a:avLst/>
            <a:gdLst/>
            <a:ahLst/>
            <a:cxnLst/>
            <a:rect l="l" t="t" r="r" b="b"/>
            <a:pathLst>
              <a:path w="0" h="2127511">
                <a:moveTo>
                  <a:pt x="0" y="212751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991106" y="1231392"/>
            <a:ext cx="0" cy="2127511"/>
          </a:xfrm>
          <a:custGeom>
            <a:avLst/>
            <a:gdLst/>
            <a:ahLst/>
            <a:cxnLst/>
            <a:rect l="l" t="t" r="r" b="b"/>
            <a:pathLst>
              <a:path w="0" h="2127511">
                <a:moveTo>
                  <a:pt x="0" y="212751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2463546" y="1231392"/>
            <a:ext cx="0" cy="2127511"/>
          </a:xfrm>
          <a:custGeom>
            <a:avLst/>
            <a:gdLst/>
            <a:ahLst/>
            <a:cxnLst/>
            <a:rect l="l" t="t" r="r" b="b"/>
            <a:pathLst>
              <a:path w="0" h="2127511">
                <a:moveTo>
                  <a:pt x="0" y="212751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935986" y="1231392"/>
            <a:ext cx="0" cy="2127511"/>
          </a:xfrm>
          <a:custGeom>
            <a:avLst/>
            <a:gdLst/>
            <a:ahLst/>
            <a:cxnLst/>
            <a:rect l="l" t="t" r="r" b="b"/>
            <a:pathLst>
              <a:path w="0" h="2127511">
                <a:moveTo>
                  <a:pt x="0" y="212751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408426" y="1231392"/>
            <a:ext cx="0" cy="2127511"/>
          </a:xfrm>
          <a:custGeom>
            <a:avLst/>
            <a:gdLst/>
            <a:ahLst/>
            <a:cxnLst/>
            <a:rect l="l" t="t" r="r" b="b"/>
            <a:pathLst>
              <a:path w="0" h="2127511">
                <a:moveTo>
                  <a:pt x="0" y="212751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880866" y="1231392"/>
            <a:ext cx="0" cy="2127511"/>
          </a:xfrm>
          <a:custGeom>
            <a:avLst/>
            <a:gdLst/>
            <a:ahLst/>
            <a:cxnLst/>
            <a:rect l="l" t="t" r="r" b="b"/>
            <a:pathLst>
              <a:path w="0" h="2127511">
                <a:moveTo>
                  <a:pt x="0" y="212751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4353306" y="1231392"/>
            <a:ext cx="0" cy="2127511"/>
          </a:xfrm>
          <a:custGeom>
            <a:avLst/>
            <a:gdLst/>
            <a:ahLst/>
            <a:cxnLst/>
            <a:rect l="l" t="t" r="r" b="b"/>
            <a:pathLst>
              <a:path w="0" h="2127511">
                <a:moveTo>
                  <a:pt x="0" y="212751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4825746" y="1231392"/>
            <a:ext cx="0" cy="2127511"/>
          </a:xfrm>
          <a:custGeom>
            <a:avLst/>
            <a:gdLst/>
            <a:ahLst/>
            <a:cxnLst/>
            <a:rect l="l" t="t" r="r" b="b"/>
            <a:pathLst>
              <a:path w="0" h="2127511">
                <a:moveTo>
                  <a:pt x="0" y="212751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5298186" y="1231392"/>
            <a:ext cx="0" cy="2127511"/>
          </a:xfrm>
          <a:custGeom>
            <a:avLst/>
            <a:gdLst/>
            <a:ahLst/>
            <a:cxnLst/>
            <a:rect l="l" t="t" r="r" b="b"/>
            <a:pathLst>
              <a:path w="0" h="2127511">
                <a:moveTo>
                  <a:pt x="0" y="212751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5770626" y="1231392"/>
            <a:ext cx="0" cy="2127511"/>
          </a:xfrm>
          <a:custGeom>
            <a:avLst/>
            <a:gdLst/>
            <a:ahLst/>
            <a:cxnLst/>
            <a:rect l="l" t="t" r="r" b="b"/>
            <a:pathLst>
              <a:path w="0" h="2127511">
                <a:moveTo>
                  <a:pt x="0" y="212751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6243066" y="1231392"/>
            <a:ext cx="0" cy="2127511"/>
          </a:xfrm>
          <a:custGeom>
            <a:avLst/>
            <a:gdLst/>
            <a:ahLst/>
            <a:cxnLst/>
            <a:rect l="l" t="t" r="r" b="b"/>
            <a:pathLst>
              <a:path w="0" h="2127511">
                <a:moveTo>
                  <a:pt x="0" y="212751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6715506" y="1231392"/>
            <a:ext cx="0" cy="2127511"/>
          </a:xfrm>
          <a:custGeom>
            <a:avLst/>
            <a:gdLst/>
            <a:ahLst/>
            <a:cxnLst/>
            <a:rect l="l" t="t" r="r" b="b"/>
            <a:pathLst>
              <a:path w="0" h="2127511">
                <a:moveTo>
                  <a:pt x="0" y="212751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7187946" y="1231392"/>
            <a:ext cx="0" cy="2127511"/>
          </a:xfrm>
          <a:custGeom>
            <a:avLst/>
            <a:gdLst/>
            <a:ahLst/>
            <a:cxnLst/>
            <a:rect l="l" t="t" r="r" b="b"/>
            <a:pathLst>
              <a:path w="0" h="2127511">
                <a:moveTo>
                  <a:pt x="0" y="212751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7660386" y="1231392"/>
            <a:ext cx="0" cy="2127511"/>
          </a:xfrm>
          <a:custGeom>
            <a:avLst/>
            <a:gdLst/>
            <a:ahLst/>
            <a:cxnLst/>
            <a:rect l="l" t="t" r="r" b="b"/>
            <a:pathLst>
              <a:path w="0" h="2127511">
                <a:moveTo>
                  <a:pt x="0" y="212751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8132826" y="1231392"/>
            <a:ext cx="0" cy="2127511"/>
          </a:xfrm>
          <a:custGeom>
            <a:avLst/>
            <a:gdLst/>
            <a:ahLst/>
            <a:cxnLst/>
            <a:rect l="l" t="t" r="r" b="b"/>
            <a:pathLst>
              <a:path w="0" h="2127511">
                <a:moveTo>
                  <a:pt x="0" y="212751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8605266" y="1231392"/>
            <a:ext cx="0" cy="2127511"/>
          </a:xfrm>
          <a:custGeom>
            <a:avLst/>
            <a:gdLst/>
            <a:ahLst/>
            <a:cxnLst/>
            <a:rect l="l" t="t" r="r" b="b"/>
            <a:pathLst>
              <a:path w="0" h="2127511">
                <a:moveTo>
                  <a:pt x="0" y="212751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9077706" y="1231392"/>
            <a:ext cx="0" cy="2127511"/>
          </a:xfrm>
          <a:custGeom>
            <a:avLst/>
            <a:gdLst/>
            <a:ahLst/>
            <a:cxnLst/>
            <a:rect l="l" t="t" r="r" b="b"/>
            <a:pathLst>
              <a:path w="0" h="2127511">
                <a:moveTo>
                  <a:pt x="0" y="212751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9550146" y="1231392"/>
            <a:ext cx="0" cy="2127511"/>
          </a:xfrm>
          <a:custGeom>
            <a:avLst/>
            <a:gdLst/>
            <a:ahLst/>
            <a:cxnLst/>
            <a:rect l="l" t="t" r="r" b="b"/>
            <a:pathLst>
              <a:path w="0" h="2127511">
                <a:moveTo>
                  <a:pt x="0" y="212751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4187952" y="586455"/>
            <a:ext cx="0" cy="3379623"/>
          </a:xfrm>
          <a:custGeom>
            <a:avLst/>
            <a:gdLst/>
            <a:ahLst/>
            <a:cxnLst/>
            <a:rect l="l" t="t" r="r" b="b"/>
            <a:pathLst>
              <a:path w="0" h="3379623">
                <a:moveTo>
                  <a:pt x="0" y="3379623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7022592" y="586455"/>
            <a:ext cx="0" cy="3379623"/>
          </a:xfrm>
          <a:custGeom>
            <a:avLst/>
            <a:gdLst/>
            <a:ahLst/>
            <a:cxnLst/>
            <a:rect l="l" t="t" r="r" b="b"/>
            <a:pathLst>
              <a:path w="0" h="3379623">
                <a:moveTo>
                  <a:pt x="0" y="3379623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1353312" y="586455"/>
            <a:ext cx="0" cy="3379623"/>
          </a:xfrm>
          <a:custGeom>
            <a:avLst/>
            <a:gdLst/>
            <a:ahLst/>
            <a:cxnLst/>
            <a:rect l="l" t="t" r="r" b="b"/>
            <a:pathLst>
              <a:path w="0" h="3379623">
                <a:moveTo>
                  <a:pt x="0" y="3379623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353312" y="3966078"/>
            <a:ext cx="8503920" cy="0"/>
          </a:xfrm>
          <a:custGeom>
            <a:avLst/>
            <a:gdLst/>
            <a:ahLst/>
            <a:cxnLst/>
            <a:rect l="l" t="t" r="r" b="b"/>
            <a:pathLst>
              <a:path w="8503920" h="0">
                <a:moveTo>
                  <a:pt x="0" y="0"/>
                </a:moveTo>
                <a:lnTo>
                  <a:pt x="8503920" y="0"/>
                </a:lnTo>
                <a:close/>
              </a:path>
            </a:pathLst>
          </a:custGeom>
          <a:noFill/>
          <a:ln w="1016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770632" y="694811"/>
            <a:ext cx="1803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3B6B9A"/>
                </a:solidFill>
                <a:latin typeface="Arial"/>
              </a:rPr>
              <a:t>Low-stress cases (1–6)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05272" y="694811"/>
            <a:ext cx="2184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C4713B"/>
                </a:solidFill>
                <a:latin typeface="Arial"/>
              </a:rPr>
              <a:t>Near-threshold cases (7–12)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39912" y="694811"/>
            <a:ext cx="2032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A63D40"/>
                </a:solidFill>
                <a:latin typeface="Arial"/>
              </a:rPr>
              <a:t>High-stress cases (13–18)</a:t>
            </a:r>
          </a:p>
        </p:txBody>
      </p:sp>
      <p:sp>
        <p:nvSpPr>
          <p:cNvPr id="89" name="Freeform 88"/>
          <p:cNvSpPr/>
          <p:nvPr/>
        </p:nvSpPr>
        <p:spPr>
          <a:xfrm>
            <a:off x="1487557" y="2264039"/>
            <a:ext cx="62218" cy="62217"/>
          </a:xfrm>
          <a:custGeom>
            <a:avLst/>
            <a:gdLst/>
            <a:ahLst/>
            <a:cxnLst/>
            <a:rect l="l" t="t" r="r" b="b"/>
            <a:pathLst>
              <a:path w="62218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8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1660398" y="2572627"/>
            <a:ext cx="0" cy="1018631"/>
          </a:xfrm>
          <a:custGeom>
            <a:avLst/>
            <a:gdLst/>
            <a:ahLst/>
            <a:cxnLst/>
            <a:rect l="l" t="t" r="r" b="b"/>
            <a:pathLst>
              <a:path w="0" h="1018631">
                <a:moveTo>
                  <a:pt x="0" y="1018631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1959997" y="2264039"/>
            <a:ext cx="62218" cy="62217"/>
          </a:xfrm>
          <a:custGeom>
            <a:avLst/>
            <a:gdLst/>
            <a:ahLst/>
            <a:cxnLst/>
            <a:rect l="l" t="t" r="r" b="b"/>
            <a:pathLst>
              <a:path w="62218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8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2132838" y="2514277"/>
            <a:ext cx="0" cy="1055976"/>
          </a:xfrm>
          <a:custGeom>
            <a:avLst/>
            <a:gdLst/>
            <a:ahLst/>
            <a:cxnLst/>
            <a:rect l="l" t="t" r="r" b="b"/>
            <a:pathLst>
              <a:path w="0" h="1055976">
                <a:moveTo>
                  <a:pt x="0" y="1055976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2432437" y="2264039"/>
            <a:ext cx="62218" cy="62217"/>
          </a:xfrm>
          <a:custGeom>
            <a:avLst/>
            <a:gdLst/>
            <a:ahLst/>
            <a:cxnLst/>
            <a:rect l="l" t="t" r="r" b="b"/>
            <a:pathLst>
              <a:path w="62218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8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2605278" y="2787489"/>
            <a:ext cx="0" cy="785513"/>
          </a:xfrm>
          <a:custGeom>
            <a:avLst/>
            <a:gdLst/>
            <a:ahLst/>
            <a:cxnLst/>
            <a:rect l="l" t="t" r="r" b="b"/>
            <a:pathLst>
              <a:path w="0" h="785513">
                <a:moveTo>
                  <a:pt x="0" y="785513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2904877" y="2264039"/>
            <a:ext cx="62218" cy="62217"/>
          </a:xfrm>
          <a:custGeom>
            <a:avLst/>
            <a:gdLst/>
            <a:ahLst/>
            <a:cxnLst/>
            <a:rect l="l" t="t" r="r" b="b"/>
            <a:pathLst>
              <a:path w="62218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8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3077718" y="2288291"/>
            <a:ext cx="0" cy="1040385"/>
          </a:xfrm>
          <a:custGeom>
            <a:avLst/>
            <a:gdLst/>
            <a:ahLst/>
            <a:cxnLst/>
            <a:rect l="l" t="t" r="r" b="b"/>
            <a:pathLst>
              <a:path w="0" h="1040385">
                <a:moveTo>
                  <a:pt x="0" y="1040385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3377317" y="2264039"/>
            <a:ext cx="62218" cy="62217"/>
          </a:xfrm>
          <a:custGeom>
            <a:avLst/>
            <a:gdLst/>
            <a:ahLst/>
            <a:cxnLst/>
            <a:rect l="l" t="t" r="r" b="b"/>
            <a:pathLst>
              <a:path w="62218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8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3550158" y="2625463"/>
            <a:ext cx="0" cy="886135"/>
          </a:xfrm>
          <a:custGeom>
            <a:avLst/>
            <a:gdLst/>
            <a:ahLst/>
            <a:cxnLst/>
            <a:rect l="l" t="t" r="r" b="b"/>
            <a:pathLst>
              <a:path w="0" h="886135">
                <a:moveTo>
                  <a:pt x="0" y="886135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3849757" y="2264039"/>
            <a:ext cx="62218" cy="62217"/>
          </a:xfrm>
          <a:custGeom>
            <a:avLst/>
            <a:gdLst/>
            <a:ahLst/>
            <a:cxnLst/>
            <a:rect l="l" t="t" r="r" b="b"/>
            <a:pathLst>
              <a:path w="62218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8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022598" y="2598613"/>
            <a:ext cx="0" cy="764995"/>
          </a:xfrm>
          <a:custGeom>
            <a:avLst/>
            <a:gdLst/>
            <a:ahLst/>
            <a:cxnLst/>
            <a:rect l="l" t="t" r="r" b="b"/>
            <a:pathLst>
              <a:path w="0" h="764995">
                <a:moveTo>
                  <a:pt x="0" y="764995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4322197" y="2264039"/>
            <a:ext cx="62218" cy="62217"/>
          </a:xfrm>
          <a:custGeom>
            <a:avLst/>
            <a:gdLst/>
            <a:ahLst/>
            <a:cxnLst/>
            <a:rect l="l" t="t" r="r" b="b"/>
            <a:pathLst>
              <a:path w="62218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8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4495038" y="2325478"/>
            <a:ext cx="0" cy="986555"/>
          </a:xfrm>
          <a:custGeom>
            <a:avLst/>
            <a:gdLst/>
            <a:ahLst/>
            <a:cxnLst/>
            <a:rect l="l" t="t" r="r" b="b"/>
            <a:pathLst>
              <a:path w="0" h="986555">
                <a:moveTo>
                  <a:pt x="0" y="986555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4794637" y="2264039"/>
            <a:ext cx="62218" cy="62217"/>
          </a:xfrm>
          <a:custGeom>
            <a:avLst/>
            <a:gdLst/>
            <a:ahLst/>
            <a:cxnLst/>
            <a:rect l="l" t="t" r="r" b="b"/>
            <a:pathLst>
              <a:path w="62218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8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4967478" y="2185441"/>
            <a:ext cx="0" cy="1029648"/>
          </a:xfrm>
          <a:custGeom>
            <a:avLst/>
            <a:gdLst/>
            <a:ahLst/>
            <a:cxnLst/>
            <a:rect l="l" t="t" r="r" b="b"/>
            <a:pathLst>
              <a:path w="0" h="1029648">
                <a:moveTo>
                  <a:pt x="0" y="1029648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5267077" y="2264039"/>
            <a:ext cx="62218" cy="62217"/>
          </a:xfrm>
          <a:custGeom>
            <a:avLst/>
            <a:gdLst/>
            <a:ahLst/>
            <a:cxnLst/>
            <a:rect l="l" t="t" r="r" b="b"/>
            <a:pathLst>
              <a:path w="62218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8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5439918" y="2352708"/>
            <a:ext cx="0" cy="893572"/>
          </a:xfrm>
          <a:custGeom>
            <a:avLst/>
            <a:gdLst/>
            <a:ahLst/>
            <a:cxnLst/>
            <a:rect l="l" t="t" r="r" b="b"/>
            <a:pathLst>
              <a:path w="0" h="893572">
                <a:moveTo>
                  <a:pt x="0" y="893572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5739517" y="2264039"/>
            <a:ext cx="62218" cy="62217"/>
          </a:xfrm>
          <a:custGeom>
            <a:avLst/>
            <a:gdLst/>
            <a:ahLst/>
            <a:cxnLst/>
            <a:rect l="l" t="t" r="r" b="b"/>
            <a:pathLst>
              <a:path w="62218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8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5912358" y="2153012"/>
            <a:ext cx="0" cy="962608"/>
          </a:xfrm>
          <a:custGeom>
            <a:avLst/>
            <a:gdLst/>
            <a:ahLst/>
            <a:cxnLst/>
            <a:rect l="l" t="t" r="r" b="b"/>
            <a:pathLst>
              <a:path w="0" h="962608">
                <a:moveTo>
                  <a:pt x="0" y="962608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6211957" y="2264039"/>
            <a:ext cx="62218" cy="62217"/>
          </a:xfrm>
          <a:custGeom>
            <a:avLst/>
            <a:gdLst/>
            <a:ahLst/>
            <a:cxnLst/>
            <a:rect l="l" t="t" r="r" b="b"/>
            <a:pathLst>
              <a:path w="62218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8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6384798" y="2440120"/>
            <a:ext cx="0" cy="848609"/>
          </a:xfrm>
          <a:custGeom>
            <a:avLst/>
            <a:gdLst/>
            <a:ahLst/>
            <a:cxnLst/>
            <a:rect l="l" t="t" r="r" b="b"/>
            <a:pathLst>
              <a:path w="0" h="848609">
                <a:moveTo>
                  <a:pt x="0" y="848609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6684397" y="2264039"/>
            <a:ext cx="62218" cy="62217"/>
          </a:xfrm>
          <a:custGeom>
            <a:avLst/>
            <a:gdLst/>
            <a:ahLst/>
            <a:cxnLst/>
            <a:rect l="l" t="t" r="r" b="b"/>
            <a:pathLst>
              <a:path w="62218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8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857238" y="2239071"/>
            <a:ext cx="0" cy="805094"/>
          </a:xfrm>
          <a:custGeom>
            <a:avLst/>
            <a:gdLst/>
            <a:ahLst/>
            <a:cxnLst/>
            <a:rect l="l" t="t" r="r" b="b"/>
            <a:pathLst>
              <a:path w="0" h="805094">
                <a:moveTo>
                  <a:pt x="0" y="805094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7156837" y="2264039"/>
            <a:ext cx="62218" cy="62217"/>
          </a:xfrm>
          <a:custGeom>
            <a:avLst/>
            <a:gdLst/>
            <a:ahLst/>
            <a:cxnLst/>
            <a:rect l="l" t="t" r="r" b="b"/>
            <a:pathLst>
              <a:path w="62218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8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7329678" y="2268181"/>
            <a:ext cx="0" cy="817042"/>
          </a:xfrm>
          <a:custGeom>
            <a:avLst/>
            <a:gdLst/>
            <a:ahLst/>
            <a:cxnLst/>
            <a:rect l="l" t="t" r="r" b="b"/>
            <a:pathLst>
              <a:path w="0" h="817042">
                <a:moveTo>
                  <a:pt x="0" y="817042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7629277" y="2264039"/>
            <a:ext cx="62218" cy="62217"/>
          </a:xfrm>
          <a:custGeom>
            <a:avLst/>
            <a:gdLst/>
            <a:ahLst/>
            <a:cxnLst/>
            <a:rect l="l" t="t" r="r" b="b"/>
            <a:pathLst>
              <a:path w="62218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8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7802118" y="1914338"/>
            <a:ext cx="0" cy="1010359"/>
          </a:xfrm>
          <a:custGeom>
            <a:avLst/>
            <a:gdLst/>
            <a:ahLst/>
            <a:cxnLst/>
            <a:rect l="l" t="t" r="r" b="b"/>
            <a:pathLst>
              <a:path w="0" h="1010359">
                <a:moveTo>
                  <a:pt x="0" y="1010359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8101717" y="2264039"/>
            <a:ext cx="62218" cy="62217"/>
          </a:xfrm>
          <a:custGeom>
            <a:avLst/>
            <a:gdLst/>
            <a:ahLst/>
            <a:cxnLst/>
            <a:rect l="l" t="t" r="r" b="b"/>
            <a:pathLst>
              <a:path w="62218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8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8274558" y="2029066"/>
            <a:ext cx="0" cy="1010225"/>
          </a:xfrm>
          <a:custGeom>
            <a:avLst/>
            <a:gdLst/>
            <a:ahLst/>
            <a:cxnLst/>
            <a:rect l="l" t="t" r="r" b="b"/>
            <a:pathLst>
              <a:path w="0" h="1010225">
                <a:moveTo>
                  <a:pt x="0" y="1010225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8574157" y="2264039"/>
            <a:ext cx="62218" cy="62217"/>
          </a:xfrm>
          <a:custGeom>
            <a:avLst/>
            <a:gdLst/>
            <a:ahLst/>
            <a:cxnLst/>
            <a:rect l="l" t="t" r="r" b="b"/>
            <a:pathLst>
              <a:path w="62218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8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8746998" y="1375231"/>
            <a:ext cx="0" cy="836642"/>
          </a:xfrm>
          <a:custGeom>
            <a:avLst/>
            <a:gdLst/>
            <a:ahLst/>
            <a:cxnLst/>
            <a:rect l="l" t="t" r="r" b="b"/>
            <a:pathLst>
              <a:path w="0" h="836642">
                <a:moveTo>
                  <a:pt x="0" y="836642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9046597" y="2264039"/>
            <a:ext cx="62218" cy="62217"/>
          </a:xfrm>
          <a:custGeom>
            <a:avLst/>
            <a:gdLst/>
            <a:ahLst/>
            <a:cxnLst/>
            <a:rect l="l" t="t" r="r" b="b"/>
            <a:pathLst>
              <a:path w="62218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8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9219438" y="2260231"/>
            <a:ext cx="0" cy="808425"/>
          </a:xfrm>
          <a:custGeom>
            <a:avLst/>
            <a:gdLst/>
            <a:ahLst/>
            <a:cxnLst/>
            <a:rect l="l" t="t" r="r" b="b"/>
            <a:pathLst>
              <a:path w="0" h="808425">
                <a:moveTo>
                  <a:pt x="0" y="808425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9519037" y="2264039"/>
            <a:ext cx="62218" cy="62217"/>
          </a:xfrm>
          <a:custGeom>
            <a:avLst/>
            <a:gdLst/>
            <a:ahLst/>
            <a:cxnLst/>
            <a:rect l="l" t="t" r="r" b="b"/>
            <a:pathLst>
              <a:path w="62218" h="62217">
                <a:moveTo>
                  <a:pt x="31109" y="62217"/>
                </a:moveTo>
                <a:lnTo>
                  <a:pt x="53106" y="53106"/>
                </a:lnTo>
                <a:close/>
                <a:lnTo>
                  <a:pt x="62218" y="31109"/>
                </a:lnTo>
                <a:close/>
                <a:lnTo>
                  <a:pt x="53106" y="9112"/>
                </a:lnTo>
                <a:close/>
                <a:lnTo>
                  <a:pt x="31109" y="0"/>
                </a:lnTo>
                <a:close/>
                <a:lnTo>
                  <a:pt x="9112" y="9112"/>
                </a:lnTo>
                <a:close/>
                <a:lnTo>
                  <a:pt x="0" y="31109"/>
                </a:lnTo>
                <a:close/>
                <a:lnTo>
                  <a:pt x="9112" y="53106"/>
                </a:lnTo>
                <a:close/>
                <a:lnTo>
                  <a:pt x="31109" y="62217"/>
                </a:lnTo>
                <a:close/>
                <a:lnTo>
                  <a:pt x="31109" y="62217"/>
                </a:lnTo>
                <a:close/>
              </a:path>
            </a:pathLst>
          </a:custGeom>
          <a:solidFill>
            <a:srgbClr val="7A7A7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9691878" y="1500875"/>
            <a:ext cx="0" cy="956800"/>
          </a:xfrm>
          <a:custGeom>
            <a:avLst/>
            <a:gdLst/>
            <a:ahLst/>
            <a:cxnLst/>
            <a:rect l="l" t="t" r="r" b="b"/>
            <a:pathLst>
              <a:path w="0" h="956800">
                <a:moveTo>
                  <a:pt x="0" y="956800"/>
                </a:moveTo>
                <a:lnTo>
                  <a:pt x="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1625618" y="3047162"/>
            <a:ext cx="69560" cy="69561"/>
          </a:xfrm>
          <a:custGeom>
            <a:avLst/>
            <a:gdLst/>
            <a:ahLst/>
            <a:cxnLst/>
            <a:rect l="l" t="t" r="r" b="b"/>
            <a:pathLst>
              <a:path w="69560" h="69561">
                <a:moveTo>
                  <a:pt x="34780" y="69561"/>
                </a:moveTo>
                <a:lnTo>
                  <a:pt x="59373" y="59374"/>
                </a:lnTo>
                <a:close/>
                <a:lnTo>
                  <a:pt x="69560" y="34781"/>
                </a:lnTo>
                <a:close/>
                <a:lnTo>
                  <a:pt x="59373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1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2098058" y="3007485"/>
            <a:ext cx="69560" cy="69560"/>
          </a:xfrm>
          <a:custGeom>
            <a:avLst/>
            <a:gdLst/>
            <a:ahLst/>
            <a:cxnLst/>
            <a:rect l="l" t="t" r="r" b="b"/>
            <a:pathLst>
              <a:path w="69560" h="69560">
                <a:moveTo>
                  <a:pt x="34780" y="69560"/>
                </a:moveTo>
                <a:lnTo>
                  <a:pt x="59373" y="59374"/>
                </a:lnTo>
                <a:close/>
                <a:lnTo>
                  <a:pt x="69560" y="34780"/>
                </a:lnTo>
                <a:close/>
                <a:lnTo>
                  <a:pt x="59373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4"/>
                </a:lnTo>
                <a:close/>
                <a:lnTo>
                  <a:pt x="34780" y="69560"/>
                </a:lnTo>
                <a:close/>
                <a:lnTo>
                  <a:pt x="34780" y="69560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2570498" y="3145465"/>
            <a:ext cx="69560" cy="69561"/>
          </a:xfrm>
          <a:custGeom>
            <a:avLst/>
            <a:gdLst/>
            <a:ahLst/>
            <a:cxnLst/>
            <a:rect l="l" t="t" r="r" b="b"/>
            <a:pathLst>
              <a:path w="69560" h="69561">
                <a:moveTo>
                  <a:pt x="34780" y="69561"/>
                </a:moveTo>
                <a:lnTo>
                  <a:pt x="59373" y="59374"/>
                </a:lnTo>
                <a:close/>
                <a:lnTo>
                  <a:pt x="69560" y="34780"/>
                </a:lnTo>
                <a:close/>
                <a:lnTo>
                  <a:pt x="59373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3042938" y="2773703"/>
            <a:ext cx="69560" cy="69561"/>
          </a:xfrm>
          <a:custGeom>
            <a:avLst/>
            <a:gdLst/>
            <a:ahLst/>
            <a:cxnLst/>
            <a:rect l="l" t="t" r="r" b="b"/>
            <a:pathLst>
              <a:path w="69560" h="69561">
                <a:moveTo>
                  <a:pt x="34780" y="69561"/>
                </a:moveTo>
                <a:lnTo>
                  <a:pt x="59373" y="59374"/>
                </a:lnTo>
                <a:close/>
                <a:lnTo>
                  <a:pt x="69560" y="34781"/>
                </a:lnTo>
                <a:close/>
                <a:lnTo>
                  <a:pt x="59373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1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3515378" y="3033750"/>
            <a:ext cx="69560" cy="69561"/>
          </a:xfrm>
          <a:custGeom>
            <a:avLst/>
            <a:gdLst/>
            <a:ahLst/>
            <a:cxnLst/>
            <a:rect l="l" t="t" r="r" b="b"/>
            <a:pathLst>
              <a:path w="69560" h="69561">
                <a:moveTo>
                  <a:pt x="34780" y="69561"/>
                </a:moveTo>
                <a:lnTo>
                  <a:pt x="59373" y="59374"/>
                </a:lnTo>
                <a:close/>
                <a:lnTo>
                  <a:pt x="69560" y="34780"/>
                </a:lnTo>
                <a:close/>
                <a:lnTo>
                  <a:pt x="59373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3987818" y="2946330"/>
            <a:ext cx="69560" cy="69561"/>
          </a:xfrm>
          <a:custGeom>
            <a:avLst/>
            <a:gdLst/>
            <a:ahLst/>
            <a:cxnLst/>
            <a:rect l="l" t="t" r="r" b="b"/>
            <a:pathLst>
              <a:path w="69560" h="69561">
                <a:moveTo>
                  <a:pt x="34780" y="69561"/>
                </a:moveTo>
                <a:lnTo>
                  <a:pt x="59373" y="59374"/>
                </a:lnTo>
                <a:close/>
                <a:lnTo>
                  <a:pt x="69560" y="34781"/>
                </a:lnTo>
                <a:close/>
                <a:lnTo>
                  <a:pt x="59373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1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4460258" y="2783975"/>
            <a:ext cx="69560" cy="69561"/>
          </a:xfrm>
          <a:custGeom>
            <a:avLst/>
            <a:gdLst/>
            <a:ahLst/>
            <a:cxnLst/>
            <a:rect l="l" t="t" r="r" b="b"/>
            <a:pathLst>
              <a:path w="69560" h="69561">
                <a:moveTo>
                  <a:pt x="34780" y="69561"/>
                </a:moveTo>
                <a:lnTo>
                  <a:pt x="59373" y="59374"/>
                </a:lnTo>
                <a:close/>
                <a:lnTo>
                  <a:pt x="69560" y="34780"/>
                </a:lnTo>
                <a:close/>
                <a:lnTo>
                  <a:pt x="59373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4932698" y="2665485"/>
            <a:ext cx="69560" cy="69561"/>
          </a:xfrm>
          <a:custGeom>
            <a:avLst/>
            <a:gdLst/>
            <a:ahLst/>
            <a:cxnLst/>
            <a:rect l="l" t="t" r="r" b="b"/>
            <a:pathLst>
              <a:path w="69560" h="69561">
                <a:moveTo>
                  <a:pt x="34780" y="69561"/>
                </a:moveTo>
                <a:lnTo>
                  <a:pt x="59373" y="59374"/>
                </a:lnTo>
                <a:close/>
                <a:lnTo>
                  <a:pt x="69560" y="34780"/>
                </a:lnTo>
                <a:close/>
                <a:lnTo>
                  <a:pt x="59373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5405138" y="2764714"/>
            <a:ext cx="69560" cy="69560"/>
          </a:xfrm>
          <a:custGeom>
            <a:avLst/>
            <a:gdLst/>
            <a:ahLst/>
            <a:cxnLst/>
            <a:rect l="l" t="t" r="r" b="b"/>
            <a:pathLst>
              <a:path w="69560" h="69560">
                <a:moveTo>
                  <a:pt x="34780" y="69560"/>
                </a:moveTo>
                <a:lnTo>
                  <a:pt x="59373" y="59373"/>
                </a:lnTo>
                <a:close/>
                <a:lnTo>
                  <a:pt x="69560" y="34780"/>
                </a:lnTo>
                <a:close/>
                <a:lnTo>
                  <a:pt x="59373" y="10186"/>
                </a:lnTo>
                <a:close/>
                <a:lnTo>
                  <a:pt x="34780" y="0"/>
                </a:lnTo>
                <a:close/>
                <a:lnTo>
                  <a:pt x="10187" y="10186"/>
                </a:lnTo>
                <a:close/>
                <a:lnTo>
                  <a:pt x="0" y="34780"/>
                </a:lnTo>
                <a:close/>
                <a:lnTo>
                  <a:pt x="10187" y="59373"/>
                </a:lnTo>
                <a:close/>
                <a:lnTo>
                  <a:pt x="34780" y="69560"/>
                </a:lnTo>
                <a:close/>
                <a:lnTo>
                  <a:pt x="34780" y="69560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5877578" y="2599536"/>
            <a:ext cx="69560" cy="69560"/>
          </a:xfrm>
          <a:custGeom>
            <a:avLst/>
            <a:gdLst/>
            <a:ahLst/>
            <a:cxnLst/>
            <a:rect l="l" t="t" r="r" b="b"/>
            <a:pathLst>
              <a:path w="69560" h="69560">
                <a:moveTo>
                  <a:pt x="34780" y="69560"/>
                </a:moveTo>
                <a:lnTo>
                  <a:pt x="59373" y="59374"/>
                </a:lnTo>
                <a:close/>
                <a:lnTo>
                  <a:pt x="69560" y="34780"/>
                </a:lnTo>
                <a:close/>
                <a:lnTo>
                  <a:pt x="59373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4"/>
                </a:lnTo>
                <a:close/>
                <a:lnTo>
                  <a:pt x="34780" y="69560"/>
                </a:lnTo>
                <a:close/>
                <a:lnTo>
                  <a:pt x="34780" y="69560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6350018" y="2829644"/>
            <a:ext cx="69560" cy="69561"/>
          </a:xfrm>
          <a:custGeom>
            <a:avLst/>
            <a:gdLst/>
            <a:ahLst/>
            <a:cxnLst/>
            <a:rect l="l" t="t" r="r" b="b"/>
            <a:pathLst>
              <a:path w="69560" h="69561">
                <a:moveTo>
                  <a:pt x="34780" y="69561"/>
                </a:moveTo>
                <a:lnTo>
                  <a:pt x="59373" y="59374"/>
                </a:lnTo>
                <a:close/>
                <a:lnTo>
                  <a:pt x="69560" y="34780"/>
                </a:lnTo>
                <a:close/>
                <a:lnTo>
                  <a:pt x="59373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6822458" y="2606838"/>
            <a:ext cx="69560" cy="69560"/>
          </a:xfrm>
          <a:custGeom>
            <a:avLst/>
            <a:gdLst/>
            <a:ahLst/>
            <a:cxnLst/>
            <a:rect l="l" t="t" r="r" b="b"/>
            <a:pathLst>
              <a:path w="69560" h="69560">
                <a:moveTo>
                  <a:pt x="34780" y="69560"/>
                </a:moveTo>
                <a:lnTo>
                  <a:pt x="59373" y="59374"/>
                </a:lnTo>
                <a:close/>
                <a:lnTo>
                  <a:pt x="69560" y="34780"/>
                </a:lnTo>
                <a:close/>
                <a:lnTo>
                  <a:pt x="59373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4"/>
                </a:lnTo>
                <a:close/>
                <a:lnTo>
                  <a:pt x="34780" y="69560"/>
                </a:lnTo>
                <a:close/>
                <a:lnTo>
                  <a:pt x="34780" y="69560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7294898" y="2641922"/>
            <a:ext cx="69560" cy="69561"/>
          </a:xfrm>
          <a:custGeom>
            <a:avLst/>
            <a:gdLst/>
            <a:ahLst/>
            <a:cxnLst/>
            <a:rect l="l" t="t" r="r" b="b"/>
            <a:pathLst>
              <a:path w="69560" h="69561">
                <a:moveTo>
                  <a:pt x="34780" y="69561"/>
                </a:moveTo>
                <a:lnTo>
                  <a:pt x="59373" y="59374"/>
                </a:lnTo>
                <a:close/>
                <a:lnTo>
                  <a:pt x="69560" y="34780"/>
                </a:lnTo>
                <a:close/>
                <a:lnTo>
                  <a:pt x="59373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7767338" y="2384737"/>
            <a:ext cx="69560" cy="69561"/>
          </a:xfrm>
          <a:custGeom>
            <a:avLst/>
            <a:gdLst/>
            <a:ahLst/>
            <a:cxnLst/>
            <a:rect l="l" t="t" r="r" b="b"/>
            <a:pathLst>
              <a:path w="69560" h="69561">
                <a:moveTo>
                  <a:pt x="34780" y="69561"/>
                </a:moveTo>
                <a:lnTo>
                  <a:pt x="59373" y="59374"/>
                </a:lnTo>
                <a:close/>
                <a:lnTo>
                  <a:pt x="69560" y="34780"/>
                </a:lnTo>
                <a:close/>
                <a:lnTo>
                  <a:pt x="59373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8239778" y="2499398"/>
            <a:ext cx="69560" cy="69561"/>
          </a:xfrm>
          <a:custGeom>
            <a:avLst/>
            <a:gdLst/>
            <a:ahLst/>
            <a:cxnLst/>
            <a:rect l="l" t="t" r="r" b="b"/>
            <a:pathLst>
              <a:path w="69560" h="69561">
                <a:moveTo>
                  <a:pt x="34780" y="69561"/>
                </a:moveTo>
                <a:lnTo>
                  <a:pt x="59373" y="59374"/>
                </a:lnTo>
                <a:close/>
                <a:lnTo>
                  <a:pt x="69560" y="34780"/>
                </a:lnTo>
                <a:close/>
                <a:lnTo>
                  <a:pt x="59373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8712218" y="1758771"/>
            <a:ext cx="69560" cy="69561"/>
          </a:xfrm>
          <a:custGeom>
            <a:avLst/>
            <a:gdLst/>
            <a:ahLst/>
            <a:cxnLst/>
            <a:rect l="l" t="t" r="r" b="b"/>
            <a:pathLst>
              <a:path w="69560" h="69561">
                <a:moveTo>
                  <a:pt x="34780" y="69561"/>
                </a:moveTo>
                <a:lnTo>
                  <a:pt x="59373" y="59374"/>
                </a:lnTo>
                <a:close/>
                <a:lnTo>
                  <a:pt x="69560" y="34781"/>
                </a:lnTo>
                <a:close/>
                <a:lnTo>
                  <a:pt x="59373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1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9184658" y="2629663"/>
            <a:ext cx="69560" cy="69561"/>
          </a:xfrm>
          <a:custGeom>
            <a:avLst/>
            <a:gdLst/>
            <a:ahLst/>
            <a:cxnLst/>
            <a:rect l="l" t="t" r="r" b="b"/>
            <a:pathLst>
              <a:path w="69560" h="69561">
                <a:moveTo>
                  <a:pt x="34780" y="69561"/>
                </a:moveTo>
                <a:lnTo>
                  <a:pt x="59373" y="59374"/>
                </a:lnTo>
                <a:close/>
                <a:lnTo>
                  <a:pt x="69560" y="34780"/>
                </a:lnTo>
                <a:close/>
                <a:lnTo>
                  <a:pt x="59373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4"/>
                </a:lnTo>
                <a:close/>
                <a:lnTo>
                  <a:pt x="34780" y="69561"/>
                </a:lnTo>
                <a:close/>
                <a:lnTo>
                  <a:pt x="34780" y="69561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9657098" y="1944495"/>
            <a:ext cx="69560" cy="69560"/>
          </a:xfrm>
          <a:custGeom>
            <a:avLst/>
            <a:gdLst/>
            <a:ahLst/>
            <a:cxnLst/>
            <a:rect l="l" t="t" r="r" b="b"/>
            <a:pathLst>
              <a:path w="69560" h="69560">
                <a:moveTo>
                  <a:pt x="34780" y="69560"/>
                </a:moveTo>
                <a:lnTo>
                  <a:pt x="59373" y="59373"/>
                </a:lnTo>
                <a:close/>
                <a:lnTo>
                  <a:pt x="69560" y="34780"/>
                </a:lnTo>
                <a:close/>
                <a:lnTo>
                  <a:pt x="59373" y="10187"/>
                </a:lnTo>
                <a:close/>
                <a:lnTo>
                  <a:pt x="34780" y="0"/>
                </a:lnTo>
                <a:close/>
                <a:lnTo>
                  <a:pt x="10187" y="10187"/>
                </a:lnTo>
                <a:close/>
                <a:lnTo>
                  <a:pt x="0" y="34780"/>
                </a:lnTo>
                <a:close/>
                <a:lnTo>
                  <a:pt x="10187" y="59373"/>
                </a:lnTo>
                <a:close/>
                <a:lnTo>
                  <a:pt x="34780" y="69560"/>
                </a:lnTo>
                <a:close/>
                <a:lnTo>
                  <a:pt x="34780" y="69560"/>
                </a:lnTo>
                <a:close/>
              </a:path>
            </a:pathLst>
          </a:custGeom>
          <a:solidFill>
            <a:srgbClr val="1B3A5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1551432" y="327385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2023872" y="312942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2496312" y="350075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2968752" y="316363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3441192" y="353710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3913632" y="343587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4386072" y="299692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4858512" y="305594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5330952" y="294357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5803392" y="290077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6275832" y="303698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6748272" y="288415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7220712" y="279171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7693152" y="252651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8165592" y="266976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8638032" y="155226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9110472" y="282650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9582912" y="174359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433322" y="754832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88900" y="0"/>
                </a:lnTo>
                <a:close/>
                <a:lnTo>
                  <a:pt x="177800" y="0"/>
                </a:lnTo>
                <a:close/>
              </a:path>
            </a:pathLst>
          </a:custGeom>
          <a:noFill/>
          <a:ln w="44450">
            <a:solidFill>
              <a:srgbClr val="B0B0B0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655572" y="603098"/>
            <a:ext cx="1346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Prior predictive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655572" y="697127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90% interval</a:t>
            </a:r>
          </a:p>
        </p:txBody>
      </p:sp>
      <p:sp>
        <p:nvSpPr>
          <p:cNvPr id="164" name="Freeform 163"/>
          <p:cNvSpPr/>
          <p:nvPr/>
        </p:nvSpPr>
        <p:spPr>
          <a:xfrm>
            <a:off x="1490472" y="969532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1"/>
                </a:lnTo>
                <a:close/>
                <a:lnTo>
                  <a:pt x="63500" y="31750"/>
                </a:lnTo>
                <a:close/>
                <a:lnTo>
                  <a:pt x="54201" y="9300"/>
                </a:lnTo>
                <a:close/>
                <a:lnTo>
                  <a:pt x="31750" y="0"/>
                </a:lnTo>
                <a:close/>
                <a:lnTo>
                  <a:pt x="9299" y="9300"/>
                </a:lnTo>
                <a:close/>
                <a:lnTo>
                  <a:pt x="0" y="31750"/>
                </a:lnTo>
                <a:close/>
                <a:lnTo>
                  <a:pt x="9299" y="54201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7A7A7A"/>
          </a:solidFill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655572" y="849549"/>
            <a:ext cx="1346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Prior predictive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655572" y="943577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median</a:t>
            </a:r>
          </a:p>
        </p:txBody>
      </p:sp>
      <p:sp>
        <p:nvSpPr>
          <p:cNvPr id="167" name="Freeform 166"/>
          <p:cNvSpPr/>
          <p:nvPr/>
        </p:nvSpPr>
        <p:spPr>
          <a:xfrm>
            <a:off x="1433322" y="1247733"/>
            <a:ext cx="177800" cy="0"/>
          </a:xfrm>
          <a:custGeom>
            <a:avLst/>
            <a:gdLst/>
            <a:ahLst/>
            <a:cxnLst/>
            <a:rect l="l" t="t" r="r" b="b"/>
            <a:pathLst>
              <a:path w="177800" h="0">
                <a:moveTo>
                  <a:pt x="0" y="0"/>
                </a:moveTo>
                <a:lnTo>
                  <a:pt x="88900" y="0"/>
                </a:lnTo>
                <a:close/>
                <a:lnTo>
                  <a:pt x="177800" y="0"/>
                </a:lnTo>
                <a:close/>
              </a:path>
            </a:pathLst>
          </a:custGeom>
          <a:noFill/>
          <a:ln w="44450">
            <a:solidFill>
              <a:srgbClr val="3B6B9A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655572" y="1095999"/>
            <a:ext cx="1651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Posterior predictive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655572" y="1190027"/>
            <a:ext cx="1041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90% interval</a:t>
            </a:r>
          </a:p>
        </p:txBody>
      </p:sp>
      <p:sp>
        <p:nvSpPr>
          <p:cNvPr id="170" name="Freeform 169"/>
          <p:cNvSpPr/>
          <p:nvPr/>
        </p:nvSpPr>
        <p:spPr>
          <a:xfrm>
            <a:off x="1490472" y="1462433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lnTo>
                  <a:pt x="54201" y="54200"/>
                </a:lnTo>
                <a:close/>
                <a:lnTo>
                  <a:pt x="63500" y="31750"/>
                </a:lnTo>
                <a:close/>
                <a:lnTo>
                  <a:pt x="54201" y="9299"/>
                </a:lnTo>
                <a:close/>
                <a:lnTo>
                  <a:pt x="31750" y="0"/>
                </a:lnTo>
                <a:close/>
                <a:lnTo>
                  <a:pt x="9299" y="9299"/>
                </a:lnTo>
                <a:close/>
                <a:lnTo>
                  <a:pt x="0" y="31750"/>
                </a:lnTo>
                <a:close/>
                <a:lnTo>
                  <a:pt x="9299" y="54200"/>
                </a:lnTo>
                <a:close/>
                <a:lnTo>
                  <a:pt x="31750" y="63500"/>
                </a:lnTo>
                <a:close/>
                <a:lnTo>
                  <a:pt x="31750" y="63500"/>
                </a:lnTo>
                <a:close/>
              </a:path>
            </a:pathLst>
          </a:custGeom>
          <a:solidFill>
            <a:srgbClr val="1B3A5C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655572" y="1342449"/>
            <a:ext cx="1651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Posterior predictive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655572" y="1436478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median</a:t>
            </a:r>
          </a:p>
        </p:txBody>
      </p:sp>
      <p:sp>
        <p:nvSpPr>
          <p:cNvPr id="173" name="Freeform 172"/>
          <p:cNvSpPr/>
          <p:nvPr/>
        </p:nvSpPr>
        <p:spPr>
          <a:xfrm>
            <a:off x="1484122" y="170362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close/>
                <a:lnTo>
                  <a:pt x="76200" y="76200"/>
                </a:lnTo>
                <a:close/>
                <a:lnTo>
                  <a:pt x="38100" y="0"/>
                </a:lnTo>
                <a:close/>
              </a:path>
            </a:pathLst>
          </a:custGeom>
          <a:solidFill>
            <a:srgbClr val="A63D40"/>
          </a:solidFill>
          <a:ln w="12700">
            <a:solidFill>
              <a:srgbClr val="A63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655572" y="1590038"/>
            <a:ext cx="1270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Observed (true)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655572" y="1685109"/>
            <a:ext cx="584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stress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1440" y="64435"/>
            <a:ext cx="2032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468112" y="58805"/>
            <a:ext cx="5689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Posterior predictive stress vs. observed stress across 18 benchmark cases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