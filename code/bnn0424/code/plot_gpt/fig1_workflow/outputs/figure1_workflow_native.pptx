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070080" cy="3657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7008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86538" y="953171"/>
            <a:ext cx="1925726" cy="1890247"/>
          </a:xfrm>
          <a:custGeom>
            <a:avLst/>
            <a:gdLst/>
            <a:ahLst/>
            <a:cxnLst/>
            <a:rect l="l" t="t" r="r" b="b"/>
            <a:pathLst>
              <a:path w="1925726" h="1890247">
                <a:moveTo>
                  <a:pt x="213969" y="1890247"/>
                </a:moveTo>
                <a:lnTo>
                  <a:pt x="1711756" y="1890247"/>
                </a:lnTo>
                <a:close/>
                <a:lnTo>
                  <a:pt x="1805368" y="1886338"/>
                </a:lnTo>
                <a:close/>
                <a:lnTo>
                  <a:pt x="1872234" y="1874611"/>
                </a:lnTo>
                <a:close/>
                <a:lnTo>
                  <a:pt x="1912353" y="1855066"/>
                </a:lnTo>
                <a:close/>
                <a:lnTo>
                  <a:pt x="1922383" y="1842361"/>
                </a:lnTo>
                <a:close/>
                <a:lnTo>
                  <a:pt x="1925726" y="1827702"/>
                </a:lnTo>
                <a:close/>
                <a:lnTo>
                  <a:pt x="1925726" y="62545"/>
                </a:lnTo>
                <a:close/>
                <a:lnTo>
                  <a:pt x="1922383" y="47886"/>
                </a:lnTo>
                <a:close/>
                <a:lnTo>
                  <a:pt x="1912353" y="35181"/>
                </a:lnTo>
                <a:close/>
                <a:lnTo>
                  <a:pt x="1872234" y="15636"/>
                </a:lnTo>
                <a:close/>
                <a:lnTo>
                  <a:pt x="1805368" y="3909"/>
                </a:lnTo>
                <a:close/>
                <a:lnTo>
                  <a:pt x="1711756" y="0"/>
                </a:lnTo>
                <a:close/>
                <a:lnTo>
                  <a:pt x="213969" y="0"/>
                </a:lnTo>
                <a:close/>
                <a:lnTo>
                  <a:pt x="120358" y="3909"/>
                </a:lnTo>
                <a:close/>
                <a:lnTo>
                  <a:pt x="53492" y="15636"/>
                </a:lnTo>
                <a:close/>
                <a:lnTo>
                  <a:pt x="13373" y="35181"/>
                </a:lnTo>
                <a:close/>
                <a:lnTo>
                  <a:pt x="3343" y="47886"/>
                </a:lnTo>
                <a:close/>
                <a:lnTo>
                  <a:pt x="0" y="62545"/>
                </a:lnTo>
                <a:close/>
                <a:lnTo>
                  <a:pt x="0" y="1827702"/>
                </a:lnTo>
                <a:close/>
                <a:lnTo>
                  <a:pt x="3343" y="1842361"/>
                </a:lnTo>
                <a:close/>
                <a:lnTo>
                  <a:pt x="13373" y="1855066"/>
                </a:lnTo>
                <a:close/>
                <a:lnTo>
                  <a:pt x="53492" y="1874611"/>
                </a:lnTo>
                <a:close/>
                <a:lnTo>
                  <a:pt x="120358" y="1886338"/>
                </a:lnTo>
                <a:close/>
                <a:lnTo>
                  <a:pt x="213969" y="1890247"/>
                </a:lnTo>
                <a:close/>
                <a:lnTo>
                  <a:pt x="213969" y="1890247"/>
                </a:lnTo>
                <a:close/>
              </a:path>
            </a:pathLst>
          </a:custGeom>
          <a:solidFill>
            <a:srgbClr val="E8EFF5"/>
          </a:solidFill>
          <a:ln w="1143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147926" y="953171"/>
            <a:ext cx="1925726" cy="1890247"/>
          </a:xfrm>
          <a:custGeom>
            <a:avLst/>
            <a:gdLst/>
            <a:ahLst/>
            <a:cxnLst/>
            <a:rect l="l" t="t" r="r" b="b"/>
            <a:pathLst>
              <a:path w="1925726" h="1890247">
                <a:moveTo>
                  <a:pt x="213969" y="1890247"/>
                </a:moveTo>
                <a:lnTo>
                  <a:pt x="1711756" y="1890247"/>
                </a:lnTo>
                <a:close/>
                <a:lnTo>
                  <a:pt x="1805368" y="1886338"/>
                </a:lnTo>
                <a:close/>
                <a:lnTo>
                  <a:pt x="1872234" y="1874611"/>
                </a:lnTo>
                <a:close/>
                <a:lnTo>
                  <a:pt x="1912353" y="1855066"/>
                </a:lnTo>
                <a:close/>
                <a:lnTo>
                  <a:pt x="1922383" y="1842361"/>
                </a:lnTo>
                <a:close/>
                <a:lnTo>
                  <a:pt x="1925726" y="1827702"/>
                </a:lnTo>
                <a:close/>
                <a:lnTo>
                  <a:pt x="1925726" y="62545"/>
                </a:lnTo>
                <a:close/>
                <a:lnTo>
                  <a:pt x="1922383" y="47886"/>
                </a:lnTo>
                <a:close/>
                <a:lnTo>
                  <a:pt x="1912353" y="35181"/>
                </a:lnTo>
                <a:close/>
                <a:lnTo>
                  <a:pt x="1872234" y="15636"/>
                </a:lnTo>
                <a:close/>
                <a:lnTo>
                  <a:pt x="1805368" y="3909"/>
                </a:lnTo>
                <a:close/>
                <a:lnTo>
                  <a:pt x="1711756" y="0"/>
                </a:lnTo>
                <a:close/>
                <a:lnTo>
                  <a:pt x="213969" y="0"/>
                </a:lnTo>
                <a:close/>
                <a:lnTo>
                  <a:pt x="120358" y="3909"/>
                </a:lnTo>
                <a:close/>
                <a:lnTo>
                  <a:pt x="53492" y="15636"/>
                </a:lnTo>
                <a:close/>
                <a:lnTo>
                  <a:pt x="13373" y="35181"/>
                </a:lnTo>
                <a:close/>
                <a:lnTo>
                  <a:pt x="3343" y="47886"/>
                </a:lnTo>
                <a:close/>
                <a:lnTo>
                  <a:pt x="0" y="62545"/>
                </a:lnTo>
                <a:close/>
                <a:lnTo>
                  <a:pt x="0" y="1827702"/>
                </a:lnTo>
                <a:close/>
                <a:lnTo>
                  <a:pt x="3343" y="1842361"/>
                </a:lnTo>
                <a:close/>
                <a:lnTo>
                  <a:pt x="13373" y="1855066"/>
                </a:lnTo>
                <a:close/>
                <a:lnTo>
                  <a:pt x="53492" y="1874611"/>
                </a:lnTo>
                <a:close/>
                <a:lnTo>
                  <a:pt x="120358" y="1886338"/>
                </a:lnTo>
                <a:close/>
                <a:lnTo>
                  <a:pt x="213969" y="1890247"/>
                </a:lnTo>
                <a:close/>
                <a:lnTo>
                  <a:pt x="213969" y="1890247"/>
                </a:lnTo>
                <a:close/>
              </a:path>
            </a:pathLst>
          </a:custGeom>
          <a:solidFill>
            <a:srgbClr val="E8EFF5"/>
          </a:solidFill>
          <a:ln w="1143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109314" y="953171"/>
            <a:ext cx="1925726" cy="1890247"/>
          </a:xfrm>
          <a:custGeom>
            <a:avLst/>
            <a:gdLst/>
            <a:ahLst/>
            <a:cxnLst/>
            <a:rect l="l" t="t" r="r" b="b"/>
            <a:pathLst>
              <a:path w="1925726" h="1890247">
                <a:moveTo>
                  <a:pt x="213969" y="1890247"/>
                </a:moveTo>
                <a:lnTo>
                  <a:pt x="1711756" y="1890247"/>
                </a:lnTo>
                <a:close/>
                <a:lnTo>
                  <a:pt x="1805368" y="1886338"/>
                </a:lnTo>
                <a:close/>
                <a:lnTo>
                  <a:pt x="1872234" y="1874611"/>
                </a:lnTo>
                <a:close/>
                <a:lnTo>
                  <a:pt x="1912353" y="1855066"/>
                </a:lnTo>
                <a:close/>
                <a:lnTo>
                  <a:pt x="1922383" y="1842361"/>
                </a:lnTo>
                <a:close/>
                <a:lnTo>
                  <a:pt x="1925726" y="1827702"/>
                </a:lnTo>
                <a:close/>
                <a:lnTo>
                  <a:pt x="1925726" y="62545"/>
                </a:lnTo>
                <a:close/>
                <a:lnTo>
                  <a:pt x="1922383" y="47886"/>
                </a:lnTo>
                <a:close/>
                <a:lnTo>
                  <a:pt x="1912353" y="35181"/>
                </a:lnTo>
                <a:close/>
                <a:lnTo>
                  <a:pt x="1872234" y="15636"/>
                </a:lnTo>
                <a:close/>
                <a:lnTo>
                  <a:pt x="1805368" y="3909"/>
                </a:lnTo>
                <a:close/>
                <a:lnTo>
                  <a:pt x="1711756" y="0"/>
                </a:lnTo>
                <a:close/>
                <a:lnTo>
                  <a:pt x="213969" y="0"/>
                </a:lnTo>
                <a:close/>
                <a:lnTo>
                  <a:pt x="120357" y="3909"/>
                </a:lnTo>
                <a:close/>
                <a:lnTo>
                  <a:pt x="53492" y="15636"/>
                </a:lnTo>
                <a:close/>
                <a:lnTo>
                  <a:pt x="13373" y="35181"/>
                </a:lnTo>
                <a:close/>
                <a:lnTo>
                  <a:pt x="3343" y="47886"/>
                </a:lnTo>
                <a:close/>
                <a:lnTo>
                  <a:pt x="0" y="62545"/>
                </a:lnTo>
                <a:close/>
                <a:lnTo>
                  <a:pt x="0" y="1827702"/>
                </a:lnTo>
                <a:close/>
                <a:lnTo>
                  <a:pt x="3343" y="1842361"/>
                </a:lnTo>
                <a:close/>
                <a:lnTo>
                  <a:pt x="13373" y="1855066"/>
                </a:lnTo>
                <a:close/>
                <a:lnTo>
                  <a:pt x="53492" y="1874611"/>
                </a:lnTo>
                <a:close/>
                <a:lnTo>
                  <a:pt x="120357" y="1886338"/>
                </a:lnTo>
                <a:close/>
                <a:lnTo>
                  <a:pt x="213969" y="1890247"/>
                </a:lnTo>
                <a:close/>
                <a:lnTo>
                  <a:pt x="213969" y="1890247"/>
                </a:lnTo>
                <a:close/>
              </a:path>
            </a:pathLst>
          </a:custGeom>
          <a:solidFill>
            <a:srgbClr val="E8EFF5"/>
          </a:solidFill>
          <a:ln w="1143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070702" y="953171"/>
            <a:ext cx="1925726" cy="1890247"/>
          </a:xfrm>
          <a:custGeom>
            <a:avLst/>
            <a:gdLst/>
            <a:ahLst/>
            <a:cxnLst/>
            <a:rect l="l" t="t" r="r" b="b"/>
            <a:pathLst>
              <a:path w="1925726" h="1890247">
                <a:moveTo>
                  <a:pt x="213969" y="1890247"/>
                </a:moveTo>
                <a:lnTo>
                  <a:pt x="1711756" y="1890247"/>
                </a:lnTo>
                <a:close/>
                <a:lnTo>
                  <a:pt x="1805368" y="1886338"/>
                </a:lnTo>
                <a:close/>
                <a:lnTo>
                  <a:pt x="1872234" y="1874611"/>
                </a:lnTo>
                <a:close/>
                <a:lnTo>
                  <a:pt x="1912353" y="1855066"/>
                </a:lnTo>
                <a:close/>
                <a:lnTo>
                  <a:pt x="1922383" y="1842361"/>
                </a:lnTo>
                <a:close/>
                <a:lnTo>
                  <a:pt x="1925726" y="1827702"/>
                </a:lnTo>
                <a:close/>
                <a:lnTo>
                  <a:pt x="1925726" y="62545"/>
                </a:lnTo>
                <a:close/>
                <a:lnTo>
                  <a:pt x="1922383" y="47886"/>
                </a:lnTo>
                <a:close/>
                <a:lnTo>
                  <a:pt x="1912353" y="35181"/>
                </a:lnTo>
                <a:close/>
                <a:lnTo>
                  <a:pt x="1872234" y="15636"/>
                </a:lnTo>
                <a:close/>
                <a:lnTo>
                  <a:pt x="1805368" y="3909"/>
                </a:lnTo>
                <a:close/>
                <a:lnTo>
                  <a:pt x="1711756" y="0"/>
                </a:lnTo>
                <a:close/>
                <a:lnTo>
                  <a:pt x="213969" y="0"/>
                </a:lnTo>
                <a:close/>
                <a:lnTo>
                  <a:pt x="120358" y="3909"/>
                </a:lnTo>
                <a:close/>
                <a:lnTo>
                  <a:pt x="53492" y="15636"/>
                </a:lnTo>
                <a:close/>
                <a:lnTo>
                  <a:pt x="13373" y="35181"/>
                </a:lnTo>
                <a:close/>
                <a:lnTo>
                  <a:pt x="3343" y="47886"/>
                </a:lnTo>
                <a:close/>
                <a:lnTo>
                  <a:pt x="0" y="62545"/>
                </a:lnTo>
                <a:close/>
                <a:lnTo>
                  <a:pt x="0" y="1827702"/>
                </a:lnTo>
                <a:close/>
                <a:lnTo>
                  <a:pt x="3343" y="1842361"/>
                </a:lnTo>
                <a:close/>
                <a:lnTo>
                  <a:pt x="13373" y="1855066"/>
                </a:lnTo>
                <a:close/>
                <a:lnTo>
                  <a:pt x="53492" y="1874611"/>
                </a:lnTo>
                <a:close/>
                <a:lnTo>
                  <a:pt x="120358" y="1886338"/>
                </a:lnTo>
                <a:close/>
                <a:lnTo>
                  <a:pt x="213969" y="1890247"/>
                </a:lnTo>
                <a:close/>
                <a:lnTo>
                  <a:pt x="213969" y="1890247"/>
                </a:lnTo>
                <a:close/>
              </a:path>
            </a:pathLst>
          </a:custGeom>
          <a:solidFill>
            <a:srgbClr val="E8EFF5"/>
          </a:solidFill>
          <a:ln w="1143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8032090" y="953171"/>
            <a:ext cx="1925726" cy="1890247"/>
          </a:xfrm>
          <a:custGeom>
            <a:avLst/>
            <a:gdLst/>
            <a:ahLst/>
            <a:cxnLst/>
            <a:rect l="l" t="t" r="r" b="b"/>
            <a:pathLst>
              <a:path w="1925726" h="1890247">
                <a:moveTo>
                  <a:pt x="213969" y="1890247"/>
                </a:moveTo>
                <a:lnTo>
                  <a:pt x="1711756" y="1890247"/>
                </a:lnTo>
                <a:close/>
                <a:lnTo>
                  <a:pt x="1805368" y="1886338"/>
                </a:lnTo>
                <a:close/>
                <a:lnTo>
                  <a:pt x="1872234" y="1874611"/>
                </a:lnTo>
                <a:close/>
                <a:lnTo>
                  <a:pt x="1912353" y="1855066"/>
                </a:lnTo>
                <a:close/>
                <a:lnTo>
                  <a:pt x="1922383" y="1842361"/>
                </a:lnTo>
                <a:close/>
                <a:lnTo>
                  <a:pt x="1925726" y="1827702"/>
                </a:lnTo>
                <a:close/>
                <a:lnTo>
                  <a:pt x="1925726" y="62545"/>
                </a:lnTo>
                <a:close/>
                <a:lnTo>
                  <a:pt x="1922383" y="47886"/>
                </a:lnTo>
                <a:close/>
                <a:lnTo>
                  <a:pt x="1912353" y="35181"/>
                </a:lnTo>
                <a:close/>
                <a:lnTo>
                  <a:pt x="1872234" y="15636"/>
                </a:lnTo>
                <a:close/>
                <a:lnTo>
                  <a:pt x="1805368" y="3909"/>
                </a:lnTo>
                <a:close/>
                <a:lnTo>
                  <a:pt x="1711756" y="0"/>
                </a:lnTo>
                <a:close/>
                <a:lnTo>
                  <a:pt x="213969" y="0"/>
                </a:lnTo>
                <a:close/>
                <a:lnTo>
                  <a:pt x="120358" y="3909"/>
                </a:lnTo>
                <a:close/>
                <a:lnTo>
                  <a:pt x="53492" y="15636"/>
                </a:lnTo>
                <a:close/>
                <a:lnTo>
                  <a:pt x="13373" y="35181"/>
                </a:lnTo>
                <a:close/>
                <a:lnTo>
                  <a:pt x="3343" y="47886"/>
                </a:lnTo>
                <a:close/>
                <a:lnTo>
                  <a:pt x="0" y="62545"/>
                </a:lnTo>
                <a:close/>
                <a:lnTo>
                  <a:pt x="0" y="1827702"/>
                </a:lnTo>
                <a:close/>
                <a:lnTo>
                  <a:pt x="3343" y="1842361"/>
                </a:lnTo>
                <a:close/>
                <a:lnTo>
                  <a:pt x="13373" y="1855066"/>
                </a:lnTo>
                <a:close/>
                <a:lnTo>
                  <a:pt x="53492" y="1874611"/>
                </a:lnTo>
                <a:close/>
                <a:lnTo>
                  <a:pt x="120358" y="1886338"/>
                </a:lnTo>
                <a:close/>
                <a:lnTo>
                  <a:pt x="213969" y="1890247"/>
                </a:lnTo>
                <a:close/>
                <a:lnTo>
                  <a:pt x="213969" y="1890247"/>
                </a:lnTo>
                <a:close/>
              </a:path>
            </a:pathLst>
          </a:custGeom>
          <a:solidFill>
            <a:srgbClr val="E8EFF5"/>
          </a:solidFill>
          <a:ln w="1143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993478" y="953171"/>
            <a:ext cx="1925726" cy="1890247"/>
          </a:xfrm>
          <a:custGeom>
            <a:avLst/>
            <a:gdLst/>
            <a:ahLst/>
            <a:cxnLst/>
            <a:rect l="l" t="t" r="r" b="b"/>
            <a:pathLst>
              <a:path w="1925726" h="1890247">
                <a:moveTo>
                  <a:pt x="213969" y="1890247"/>
                </a:moveTo>
                <a:lnTo>
                  <a:pt x="1711756" y="1890247"/>
                </a:lnTo>
                <a:close/>
                <a:lnTo>
                  <a:pt x="1805368" y="1886338"/>
                </a:lnTo>
                <a:close/>
                <a:lnTo>
                  <a:pt x="1872234" y="1874611"/>
                </a:lnTo>
                <a:close/>
                <a:lnTo>
                  <a:pt x="1912353" y="1855066"/>
                </a:lnTo>
                <a:close/>
                <a:lnTo>
                  <a:pt x="1922383" y="1842361"/>
                </a:lnTo>
                <a:close/>
                <a:lnTo>
                  <a:pt x="1925726" y="1827702"/>
                </a:lnTo>
                <a:close/>
                <a:lnTo>
                  <a:pt x="1925726" y="62545"/>
                </a:lnTo>
                <a:close/>
                <a:lnTo>
                  <a:pt x="1922383" y="47886"/>
                </a:lnTo>
                <a:close/>
                <a:lnTo>
                  <a:pt x="1912353" y="35181"/>
                </a:lnTo>
                <a:close/>
                <a:lnTo>
                  <a:pt x="1872234" y="15636"/>
                </a:lnTo>
                <a:close/>
                <a:lnTo>
                  <a:pt x="1805368" y="3909"/>
                </a:lnTo>
                <a:close/>
                <a:lnTo>
                  <a:pt x="1711756" y="0"/>
                </a:lnTo>
                <a:close/>
                <a:lnTo>
                  <a:pt x="213969" y="0"/>
                </a:lnTo>
                <a:close/>
                <a:lnTo>
                  <a:pt x="120358" y="3909"/>
                </a:lnTo>
                <a:close/>
                <a:lnTo>
                  <a:pt x="53492" y="15636"/>
                </a:lnTo>
                <a:close/>
                <a:lnTo>
                  <a:pt x="13373" y="35181"/>
                </a:lnTo>
                <a:close/>
                <a:lnTo>
                  <a:pt x="3343" y="47886"/>
                </a:lnTo>
                <a:close/>
                <a:lnTo>
                  <a:pt x="0" y="62545"/>
                </a:lnTo>
                <a:close/>
                <a:lnTo>
                  <a:pt x="0" y="1827702"/>
                </a:lnTo>
                <a:close/>
                <a:lnTo>
                  <a:pt x="3343" y="1842361"/>
                </a:lnTo>
                <a:close/>
                <a:lnTo>
                  <a:pt x="13373" y="1855066"/>
                </a:lnTo>
                <a:close/>
                <a:lnTo>
                  <a:pt x="53492" y="1874611"/>
                </a:lnTo>
                <a:close/>
                <a:lnTo>
                  <a:pt x="120358" y="1886338"/>
                </a:lnTo>
                <a:close/>
                <a:lnTo>
                  <a:pt x="213969" y="1890247"/>
                </a:lnTo>
                <a:close/>
                <a:lnTo>
                  <a:pt x="213969" y="1890247"/>
                </a:lnTo>
                <a:close/>
              </a:path>
            </a:pathLst>
          </a:custGeom>
          <a:solidFill>
            <a:srgbClr val="E8EFF5"/>
          </a:solidFill>
          <a:ln w="1143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2055269" y="1898294"/>
            <a:ext cx="132624" cy="0"/>
          </a:xfrm>
          <a:custGeom>
            <a:avLst/>
            <a:gdLst/>
            <a:ahLst/>
            <a:cxnLst/>
            <a:rect l="l" t="t" r="r" b="b"/>
            <a:pathLst>
              <a:path w="132624" h="0">
                <a:moveTo>
                  <a:pt x="0" y="0"/>
                </a:moveTo>
                <a:lnTo>
                  <a:pt x="132624" y="0"/>
                </a:lnTo>
                <a:close/>
              </a:path>
            </a:pathLst>
          </a:custGeom>
          <a:noFill/>
          <a:ln w="1524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2126933" y="1867814"/>
            <a:ext cx="60960" cy="60960"/>
          </a:xfrm>
          <a:custGeom>
            <a:avLst/>
            <a:gdLst/>
            <a:ahLst/>
            <a:cxnLst/>
            <a:rect l="l" t="t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close/>
                <a:lnTo>
                  <a:pt x="0" y="6096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524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4016657" y="1898294"/>
            <a:ext cx="132624" cy="0"/>
          </a:xfrm>
          <a:custGeom>
            <a:avLst/>
            <a:gdLst/>
            <a:ahLst/>
            <a:cxnLst/>
            <a:rect l="l" t="t" r="r" b="b"/>
            <a:pathLst>
              <a:path w="132624" h="0">
                <a:moveTo>
                  <a:pt x="0" y="0"/>
                </a:moveTo>
                <a:lnTo>
                  <a:pt x="132624" y="0"/>
                </a:lnTo>
                <a:close/>
              </a:path>
            </a:pathLst>
          </a:custGeom>
          <a:noFill/>
          <a:ln w="1524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088321" y="1867814"/>
            <a:ext cx="60960" cy="60960"/>
          </a:xfrm>
          <a:custGeom>
            <a:avLst/>
            <a:gdLst/>
            <a:ahLst/>
            <a:cxnLst/>
            <a:rect l="l" t="t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close/>
                <a:lnTo>
                  <a:pt x="0" y="6096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524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5978045" y="1898294"/>
            <a:ext cx="132624" cy="0"/>
          </a:xfrm>
          <a:custGeom>
            <a:avLst/>
            <a:gdLst/>
            <a:ahLst/>
            <a:cxnLst/>
            <a:rect l="l" t="t" r="r" b="b"/>
            <a:pathLst>
              <a:path w="132624" h="0">
                <a:moveTo>
                  <a:pt x="0" y="0"/>
                </a:moveTo>
                <a:lnTo>
                  <a:pt x="132624" y="0"/>
                </a:lnTo>
                <a:close/>
              </a:path>
            </a:pathLst>
          </a:custGeom>
          <a:noFill/>
          <a:ln w="1524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6049709" y="1867814"/>
            <a:ext cx="60960" cy="60960"/>
          </a:xfrm>
          <a:custGeom>
            <a:avLst/>
            <a:gdLst/>
            <a:ahLst/>
            <a:cxnLst/>
            <a:rect l="l" t="t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close/>
                <a:lnTo>
                  <a:pt x="0" y="6096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524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7939433" y="1898294"/>
            <a:ext cx="132624" cy="0"/>
          </a:xfrm>
          <a:custGeom>
            <a:avLst/>
            <a:gdLst/>
            <a:ahLst/>
            <a:cxnLst/>
            <a:rect l="l" t="t" r="r" b="b"/>
            <a:pathLst>
              <a:path w="132624" h="0">
                <a:moveTo>
                  <a:pt x="0" y="0"/>
                </a:moveTo>
                <a:lnTo>
                  <a:pt x="132624" y="0"/>
                </a:lnTo>
                <a:close/>
              </a:path>
            </a:pathLst>
          </a:custGeom>
          <a:noFill/>
          <a:ln w="1524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8011097" y="1867814"/>
            <a:ext cx="60960" cy="60960"/>
          </a:xfrm>
          <a:custGeom>
            <a:avLst/>
            <a:gdLst/>
            <a:ahLst/>
            <a:cxnLst/>
            <a:rect l="l" t="t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close/>
                <a:lnTo>
                  <a:pt x="0" y="6096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524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9900821" y="1898294"/>
            <a:ext cx="132624" cy="0"/>
          </a:xfrm>
          <a:custGeom>
            <a:avLst/>
            <a:gdLst/>
            <a:ahLst/>
            <a:cxnLst/>
            <a:rect l="l" t="t" r="r" b="b"/>
            <a:pathLst>
              <a:path w="132624" h="0">
                <a:moveTo>
                  <a:pt x="0" y="0"/>
                </a:moveTo>
                <a:lnTo>
                  <a:pt x="132624" y="0"/>
                </a:lnTo>
                <a:close/>
              </a:path>
            </a:pathLst>
          </a:custGeom>
          <a:noFill/>
          <a:ln w="1524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9972485" y="1867814"/>
            <a:ext cx="60960" cy="60960"/>
          </a:xfrm>
          <a:custGeom>
            <a:avLst/>
            <a:gdLst/>
            <a:ahLst/>
            <a:cxnLst/>
            <a:rect l="l" t="t" r="r" b="b"/>
            <a:pathLst>
              <a:path w="60960" h="60960">
                <a:moveTo>
                  <a:pt x="0" y="0"/>
                </a:moveTo>
                <a:lnTo>
                  <a:pt x="60960" y="30480"/>
                </a:lnTo>
                <a:close/>
                <a:lnTo>
                  <a:pt x="0" y="6096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524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397" y="1130366"/>
            <a:ext cx="1346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3B6B9A"/>
                </a:solidFill>
                <a:latin typeface="Arial"/>
              </a:rPr>
              <a:t>Uncertain inputs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206" y="1438503"/>
            <a:ext cx="2184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8 SS316 material parameters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206" y="1682428"/>
            <a:ext cx="1574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E slope / intercept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206" y="1926354"/>
            <a:ext cx="2413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Thermal expansion base / slope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206" y="2170279"/>
            <a:ext cx="2413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Conductivity reference / slope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206" y="2413121"/>
            <a:ext cx="1270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Poisson's ratio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9785" y="1131759"/>
            <a:ext cx="1727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3B6B9A"/>
                </a:solidFill>
                <a:latin typeface="Arial"/>
              </a:rPr>
              <a:t>Coupled HF simulation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2594" y="1438558"/>
            <a:ext cx="1270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OpenMC + FEniCS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2594" y="1681345"/>
            <a:ext cx="1193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Uncoupled pass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2594" y="1926354"/>
            <a:ext cx="1651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Coupled steady state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2594" y="2170279"/>
            <a:ext cx="2260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Temperature / stress / k_eff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1173" y="1130366"/>
            <a:ext cx="2032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3B6B9A"/>
                </a:solidFill>
                <a:latin typeface="Arial"/>
              </a:rPr>
              <a:t>Bayesian neural surrogate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33982" y="1438503"/>
            <a:ext cx="2108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Constraint-regularized BNN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3982" y="1681345"/>
            <a:ext cx="2641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Posterior predictive distribution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33982" y="1925270"/>
            <a:ext cx="2336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Predictive mean + uncertainty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33982" y="2169195"/>
            <a:ext cx="2260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Multi-output surrogate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2561" y="1130366"/>
            <a:ext cx="1574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3B6B9A"/>
                </a:solidFill>
                <a:latin typeface="Arial"/>
              </a:rPr>
              <a:t>Forward propagation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5370" y="1438503"/>
            <a:ext cx="1879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Monte Carlo propagation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5370" y="1681345"/>
            <a:ext cx="1803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Response distributions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5370" y="1926354"/>
            <a:ext cx="1803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Coupling-induced shift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95370" y="2170279"/>
            <a:ext cx="2565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Stress / k_eff / thermal outputs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3949" y="1131759"/>
            <a:ext cx="1879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3B6B9A"/>
                </a:solidFill>
                <a:latin typeface="Arial"/>
              </a:rPr>
              <a:t>Sensitivity attribution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56758" y="1438503"/>
            <a:ext cx="2260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Sobol variance decomposition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56758" y="1682428"/>
            <a:ext cx="2108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Dominant-factor separation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56758" y="1926354"/>
            <a:ext cx="1955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Stress vs k_eff pathways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56758" y="2169195"/>
            <a:ext cx="2641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S1 / ST with confidence intervals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85337" y="1130366"/>
            <a:ext cx="1727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3B6B9A"/>
                </a:solidFill>
                <a:latin typeface="Arial"/>
              </a:rPr>
              <a:t>Posterior calibration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18146" y="1438558"/>
            <a:ext cx="2565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Observation-conditioned updating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18146" y="1682428"/>
            <a:ext cx="1955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Prior to posterior shift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18146" y="1925270"/>
            <a:ext cx="2032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Joint posterior structure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18146" y="2169195"/>
            <a:ext cx="2413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Posterior predictive agreement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" y="3114691"/>
            <a:ext cx="16129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7A7A7A"/>
                </a:solidFill>
                <a:latin typeface="Arial"/>
              </a:rPr>
              <a:t>The constraint-regularized Bayesian surrogate serves as a unified posterior predictive layer enabling forward uncertainty propagation, variance-based attribution, and observation-conditioned posterior updating.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9184" y="3323174"/>
            <a:ext cx="8661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7A7A7A"/>
                </a:solidFill>
                <a:latin typeface="Arial"/>
              </a:rPr>
              <a:t>'Uncoupled pass' denotes the first-pass response; 'coupled steady state' denotes the converged coupled response.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