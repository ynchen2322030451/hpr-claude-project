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Figure 1 | Probabilistic analysis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A7A7A"/>
                </a:solidFill>
                <a:latin typeface="Arial"/>
              </a:rPr>
              <a:t>Coupled thermo-mechanical HPR uncertainty-to-risk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863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Uncertain inputs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8 SS316 material parameters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E slope / intercept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Thermal expansion base / slope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Conductivity reference / slope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Poisson’s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10815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Coupled HF simulation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OpenMC + FEniCS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Uncoupled pass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Coupled steady state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Temperature / stress / k_eff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2767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Bayesian neural surrogate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Constraint-regularized BNN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Posterior predictive distribution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Predictive mean + uncertainty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Multi-output surrogate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4719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Forward propagation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Monte Carlo propagation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Response distributions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Coupling-induced shift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Stress / k_eff / thermal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6671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Sensitivity attribution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Sobol variance decomposition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Dominant-factor separation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Stress vs k_eff pathways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S1 / ST with confidence intervals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8623" y="1417320"/>
            <a:ext cx="1664208" cy="2468880"/>
          </a:xfrm>
          <a:prstGeom prst="roundRect">
            <a:avLst/>
          </a:prstGeom>
          <a:solidFill>
            <a:srgbClr val="E8EFF5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54864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3B6B9A"/>
                </a:solidFill>
                <a:latin typeface="Arial"/>
              </a:rPr>
              <a:t>Posterior calibration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Observation-conditioned updating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Prior to posterior shift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Joint posterior structure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4A4A4A"/>
                </a:solidFill>
                <a:latin typeface="Arial"/>
              </a:rPr>
              <a:t>•  Posterior predictive agreement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1359" y="2651760"/>
            <a:ext cx="201168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93311" y="2651760"/>
            <a:ext cx="201168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95263" y="2651760"/>
            <a:ext cx="201168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97215" y="2651760"/>
            <a:ext cx="201168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9167" y="2651760"/>
            <a:ext cx="201168" cy="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206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7A7A7A"/>
                </a:solidFill>
                <a:latin typeface="Arial"/>
              </a:rPr>
              <a:t>The constraint-regularized Bayesian surrogate serves as a unified posterior predictive layer enabling forward uncertainty propagation, variance-based attribution, and observation-conditioned posterior updating.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950">
                <a:solidFill>
                  <a:srgbClr val="7A7A7A"/>
                </a:solidFill>
                <a:latin typeface="Arial"/>
              </a:rPr>
              <a:t>‘Uncoupled pass’ denotes the first-pass response; ‘coupled steady state’ denotes the converged coupled response.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63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