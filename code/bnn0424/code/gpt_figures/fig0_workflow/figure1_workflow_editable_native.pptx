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01168"/>
            <a:ext cx="27432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Uncertain SS316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material-property inputs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228600" y="621792"/>
            <a:ext cx="274320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parameters with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 priors (10% CoV)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246888" y="1207008"/>
            <a:ext cx="2706624" cy="5166360"/>
          </a:xfrm>
          <a:prstGeom prst="rect">
            <a:avLst/>
          </a:prstGeom>
          <a:solidFill>
            <a:srgbClr val="FBFDFB"/>
          </a:solidFill>
          <a:ln w="10795">
            <a:solidFill>
              <a:srgbClr val="B4C7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26464"/>
            <a:ext cx="1325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" y="1746504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810512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874520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938528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2002536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2066544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130552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" y="2194560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" y="2258568"/>
            <a:ext cx="155448" cy="27432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746504"/>
            <a:ext cx="192024" cy="0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2322576"/>
            <a:ext cx="192024" cy="0"/>
          </a:xfrm>
          <a:prstGeom prst="line">
            <a:avLst/>
          </a:prstGeom>
          <a:noFill/>
          <a:ln w="10160">
            <a:solidFill>
              <a:srgbClr val="1D6B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1773936"/>
            <a:ext cx="164592" cy="786384"/>
          </a:xfrm>
          <a:prstGeom prst="leftBrace">
            <a:avLst/>
          </a:prstGeom>
          <a:solidFill>
            <a:srgbClr val="FFFFFF">
              <a:alpha val="0"/>
            </a:srgbClr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1792224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E_slope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" y="2048256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E_intercept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ν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65960" y="2414930"/>
            <a:ext cx="868680" cy="0"/>
          </a:xfrm>
          <a:prstGeom prst="line">
            <a:avLst/>
          </a:prstGeom>
          <a:noFill/>
          <a:ln w="7620">
            <a:solidFill>
              <a:srgbClr val="1D6B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2415566"/>
            <a:ext cx="24819" cy="-421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90779" y="2411355"/>
            <a:ext cx="24819" cy="-642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15599" y="2404927"/>
            <a:ext cx="24819" cy="-949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40418" y="2395435"/>
            <a:ext cx="24819" cy="-1355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65238" y="2381882"/>
            <a:ext cx="24819" cy="-1869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90057" y="2363186"/>
            <a:ext cx="24819" cy="-2489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14877" y="2338291"/>
            <a:ext cx="24819" cy="-3197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39696" y="2306322"/>
            <a:ext cx="24819" cy="-39539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64515" y="2266782"/>
            <a:ext cx="24819" cy="-47014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89335" y="2219769"/>
            <a:ext cx="24819" cy="-53616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14154" y="2166153"/>
            <a:ext cx="24819" cy="-5845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38974" y="2107703"/>
            <a:ext cx="24819" cy="-60617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3793" y="2047085"/>
            <a:ext cx="24819" cy="-5935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8613" y="1987733"/>
            <a:ext cx="24819" cy="-5417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13432" y="1933555"/>
            <a:ext cx="24819" cy="-45024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8251" y="1888531"/>
            <a:ext cx="24819" cy="-3229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63071" y="1856232"/>
            <a:ext cx="24819" cy="-1687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87890" y="1839357"/>
            <a:ext cx="24819" cy="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12710" y="1839357"/>
            <a:ext cx="24819" cy="1687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437529" y="1856232"/>
            <a:ext cx="24819" cy="3229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62349" y="1888531"/>
            <a:ext cx="24819" cy="45024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87168" y="1933555"/>
            <a:ext cx="24819" cy="5417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11987" y="1987733"/>
            <a:ext cx="24819" cy="5935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36807" y="2047085"/>
            <a:ext cx="24819" cy="60617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61626" y="2107703"/>
            <a:ext cx="24819" cy="5845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86446" y="2166153"/>
            <a:ext cx="24819" cy="53616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11265" y="2219769"/>
            <a:ext cx="24819" cy="47014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36085" y="2266782"/>
            <a:ext cx="24819" cy="39539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60904" y="2306322"/>
            <a:ext cx="24819" cy="3197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85723" y="2338291"/>
            <a:ext cx="24819" cy="2489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10543" y="2363186"/>
            <a:ext cx="24819" cy="18695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35362" y="2381882"/>
            <a:ext cx="24819" cy="1355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60182" y="2395435"/>
            <a:ext cx="24819" cy="9493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85001" y="2404927"/>
            <a:ext cx="24819" cy="6428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09821" y="2411355"/>
            <a:ext cx="24819" cy="4210"/>
          </a:xfrm>
          <a:prstGeom prst="line">
            <a:avLst/>
          </a:prstGeom>
          <a:noFill/>
          <a:ln w="13970">
            <a:solidFill>
              <a:srgbClr val="1D6B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00300" y="2407798"/>
            <a:ext cx="0" cy="-542056"/>
          </a:xfrm>
          <a:prstGeom prst="line">
            <a:avLst/>
          </a:prstGeom>
          <a:noFill/>
          <a:ln w="8890">
            <a:solidFill>
              <a:srgbClr val="1D6B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38328" y="2752344"/>
            <a:ext cx="2468880" cy="0"/>
          </a:xfrm>
          <a:prstGeom prst="line">
            <a:avLst/>
          </a:prstGeom>
          <a:noFill/>
          <a:ln w="6350">
            <a:solidFill>
              <a:srgbClr val="1D6B3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2960" y="3035808"/>
            <a:ext cx="1325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expansion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66928" y="3931920"/>
            <a:ext cx="0" cy="-512064"/>
          </a:xfrm>
          <a:prstGeom prst="line">
            <a:avLst/>
          </a:prstGeom>
          <a:noFill/>
          <a:ln w="15240">
            <a:solidFill>
              <a:srgbClr val="D95F0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02920" y="3840480"/>
            <a:ext cx="128016" cy="1280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D95F0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0392" y="3383280"/>
            <a:ext cx="164592" cy="786384"/>
          </a:xfrm>
          <a:prstGeom prst="leftBrace">
            <a:avLst/>
          </a:prstGeom>
          <a:solidFill>
            <a:srgbClr val="FFFFFF">
              <a:alpha val="0"/>
            </a:srgbClr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51560" y="3401568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α_base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51560" y="3657600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α_slope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965960" y="4024274"/>
            <a:ext cx="868680" cy="0"/>
          </a:xfrm>
          <a:prstGeom prst="line">
            <a:avLst/>
          </a:prstGeom>
          <a:noFill/>
          <a:ln w="7620">
            <a:solidFill>
              <a:srgbClr val="D95F0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965960" y="4024910"/>
            <a:ext cx="24819" cy="-421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990779" y="4020699"/>
            <a:ext cx="24819" cy="-642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015599" y="4014271"/>
            <a:ext cx="24819" cy="-949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040418" y="4004779"/>
            <a:ext cx="24819" cy="-1355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65238" y="3991226"/>
            <a:ext cx="24819" cy="-1869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90057" y="3972530"/>
            <a:ext cx="24819" cy="-2489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114877" y="3947635"/>
            <a:ext cx="24819" cy="-3197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39696" y="3915666"/>
            <a:ext cx="24819" cy="-39539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64515" y="3876126"/>
            <a:ext cx="24819" cy="-47014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189335" y="3829113"/>
            <a:ext cx="24819" cy="-53616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14154" y="3775497"/>
            <a:ext cx="24819" cy="-5845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38974" y="3717047"/>
            <a:ext cx="24819" cy="-60617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263793" y="3656429"/>
            <a:ext cx="24819" cy="-5935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8613" y="3597077"/>
            <a:ext cx="24819" cy="-5417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13432" y="3542899"/>
            <a:ext cx="24819" cy="-45024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338251" y="3497875"/>
            <a:ext cx="24819" cy="-3229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363071" y="3465576"/>
            <a:ext cx="24819" cy="-1687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387890" y="3448701"/>
            <a:ext cx="24819" cy="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412710" y="3448701"/>
            <a:ext cx="24819" cy="1687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437529" y="3465576"/>
            <a:ext cx="24819" cy="3229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62349" y="3497875"/>
            <a:ext cx="24819" cy="45024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487168" y="3542899"/>
            <a:ext cx="24819" cy="5417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511987" y="3597077"/>
            <a:ext cx="24819" cy="5935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536807" y="3656429"/>
            <a:ext cx="24819" cy="60617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2561626" y="3717047"/>
            <a:ext cx="24819" cy="5845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2586446" y="3775497"/>
            <a:ext cx="24819" cy="53616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11265" y="3829113"/>
            <a:ext cx="24819" cy="47014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636085" y="3876126"/>
            <a:ext cx="24819" cy="39539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660904" y="3915666"/>
            <a:ext cx="24819" cy="3197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685723" y="3947635"/>
            <a:ext cx="24819" cy="2489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710543" y="3972530"/>
            <a:ext cx="24819" cy="18695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35362" y="3991226"/>
            <a:ext cx="24819" cy="1355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760182" y="4004779"/>
            <a:ext cx="24819" cy="9493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785001" y="4014271"/>
            <a:ext cx="24819" cy="6428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2809821" y="4020699"/>
            <a:ext cx="24819" cy="4210"/>
          </a:xfrm>
          <a:prstGeom prst="line">
            <a:avLst/>
          </a:prstGeom>
          <a:noFill/>
          <a:ln w="13970">
            <a:solidFill>
              <a:srgbClr val="D95F0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400300" y="4017142"/>
            <a:ext cx="0" cy="-542056"/>
          </a:xfrm>
          <a:prstGeom prst="line">
            <a:avLst/>
          </a:prstGeom>
          <a:noFill/>
          <a:ln w="8890">
            <a:solidFill>
              <a:srgbClr val="D95F02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38328" y="4361688"/>
            <a:ext cx="2468880" cy="0"/>
          </a:xfrm>
          <a:prstGeom prst="line">
            <a:avLst/>
          </a:prstGeom>
          <a:noFill/>
          <a:ln w="6350">
            <a:solidFill>
              <a:srgbClr val="D95F0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822960" y="4590288"/>
            <a:ext cx="1325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A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transport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29768" y="5001768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39496" y="5001768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49224" y="5001768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429768" y="5148072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9496" y="5148072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9224" y="5148072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9768" y="5294376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9496" y="5294376"/>
            <a:ext cx="45720" cy="45720"/>
          </a:xfrm>
          <a:prstGeom prst="ellipse">
            <a:avLst/>
          </a:prstGeom>
          <a:solidFill>
            <a:srgbClr val="6A3D9A"/>
          </a:solidFill>
          <a:ln w="3810">
            <a:solidFill>
              <a:srgbClr val="6A3D9A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50392" y="4937760"/>
            <a:ext cx="164592" cy="786384"/>
          </a:xfrm>
          <a:prstGeom prst="leftBrace">
            <a:avLst/>
          </a:prstGeom>
          <a:solidFill>
            <a:srgbClr val="FFFFFF">
              <a:alpha val="0"/>
            </a:srgbClr>
          </a:solidFill>
          <a:ln w="10160">
            <a:solidFill>
              <a:srgbClr val="1F2937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51560" y="4956048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T_ref^SS316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051560" y="5212080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k_ref^SS316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051560" y="5468112"/>
            <a:ext cx="9144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α_SS316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1965960" y="5578754"/>
            <a:ext cx="868680" cy="0"/>
          </a:xfrm>
          <a:prstGeom prst="line">
            <a:avLst/>
          </a:prstGeom>
          <a:noFill/>
          <a:ln w="7620">
            <a:solidFill>
              <a:srgbClr val="6A3D9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965960" y="5579390"/>
            <a:ext cx="24819" cy="-421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990779" y="5575179"/>
            <a:ext cx="24819" cy="-642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015599" y="5568751"/>
            <a:ext cx="24819" cy="-949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2040418" y="5559259"/>
            <a:ext cx="24819" cy="-1355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2065238" y="5545706"/>
            <a:ext cx="24819" cy="-1869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090057" y="5527010"/>
            <a:ext cx="24819" cy="-2489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114877" y="5502115"/>
            <a:ext cx="24819" cy="-3197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2139696" y="5470146"/>
            <a:ext cx="24819" cy="-39539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164515" y="5430606"/>
            <a:ext cx="24819" cy="-47014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189335" y="5383593"/>
            <a:ext cx="24819" cy="-53616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214154" y="5329977"/>
            <a:ext cx="24819" cy="-5845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238974" y="5271527"/>
            <a:ext cx="24819" cy="-60617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263793" y="5210909"/>
            <a:ext cx="24819" cy="-5935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288613" y="5151557"/>
            <a:ext cx="24819" cy="-5417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313432" y="5097379"/>
            <a:ext cx="24819" cy="-45024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338251" y="5052355"/>
            <a:ext cx="24819" cy="-3229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363071" y="5020056"/>
            <a:ext cx="24819" cy="-1687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387890" y="5003181"/>
            <a:ext cx="24819" cy="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412710" y="5003181"/>
            <a:ext cx="24819" cy="1687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437529" y="5020056"/>
            <a:ext cx="24819" cy="3229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462349" y="5052355"/>
            <a:ext cx="24819" cy="45024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487168" y="5097379"/>
            <a:ext cx="24819" cy="5417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511987" y="5151557"/>
            <a:ext cx="24819" cy="5935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36807" y="5210909"/>
            <a:ext cx="24819" cy="60617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561626" y="5271527"/>
            <a:ext cx="24819" cy="5845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586446" y="5329977"/>
            <a:ext cx="24819" cy="53616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11265" y="5383593"/>
            <a:ext cx="24819" cy="47014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636085" y="5430606"/>
            <a:ext cx="24819" cy="39539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660904" y="5470146"/>
            <a:ext cx="24819" cy="3197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685723" y="5502115"/>
            <a:ext cx="24819" cy="2489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710543" y="5527010"/>
            <a:ext cx="24819" cy="18695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735362" y="5545706"/>
            <a:ext cx="24819" cy="1355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60182" y="5559259"/>
            <a:ext cx="24819" cy="9493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2785001" y="5568751"/>
            <a:ext cx="24819" cy="6428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809821" y="5575179"/>
            <a:ext cx="24819" cy="4210"/>
          </a:xfrm>
          <a:prstGeom prst="line">
            <a:avLst/>
          </a:prstGeom>
          <a:noFill/>
          <a:ln w="13970">
            <a:solidFill>
              <a:srgbClr val="6A3D9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400300" y="5571622"/>
            <a:ext cx="0" cy="-542056"/>
          </a:xfrm>
          <a:prstGeom prst="line">
            <a:avLst/>
          </a:prstGeom>
          <a:noFill/>
          <a:ln w="8890">
            <a:solidFill>
              <a:srgbClr val="6A3D9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74904" y="6492240"/>
            <a:ext cx="2450592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9AA9C2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457200" y="6565392"/>
            <a:ext cx="2286000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parameters are treated as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priors, not constants.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3246120" y="201168"/>
            <a:ext cx="370332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Coupled high-fidelity simulation</a:t>
            </a:r>
            <a:endParaRPr lang="en-US" sz="1300" dirty="0"/>
          </a:p>
        </p:txBody>
      </p:sp>
      <p:sp>
        <p:nvSpPr>
          <p:cNvPr id="156" name="Text 154"/>
          <p:cNvSpPr/>
          <p:nvPr/>
        </p:nvSpPr>
        <p:spPr>
          <a:xfrm>
            <a:off x="3246120" y="502920"/>
            <a:ext cx="370332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OpenMC neutronics + FEniCS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thermo-mechanics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3291840" y="1115568"/>
            <a:ext cx="3611880" cy="2176272"/>
          </a:xfrm>
          <a:prstGeom prst="rect">
            <a:avLst/>
          </a:prstGeom>
          <a:solidFill>
            <a:srgbClr val="FFFDF9"/>
          </a:solidFill>
          <a:ln w="10160">
            <a:solidFill>
              <a:srgbClr val="DE9E5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291840" y="3401568"/>
            <a:ext cx="3611880" cy="2468880"/>
          </a:xfrm>
          <a:prstGeom prst="rect">
            <a:avLst/>
          </a:prstGeom>
          <a:solidFill>
            <a:srgbClr val="FFFDF9"/>
          </a:solidFill>
          <a:ln w="10160">
            <a:solidFill>
              <a:srgbClr val="DE9E5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291840" y="5998464"/>
            <a:ext cx="3611880" cy="786384"/>
          </a:xfrm>
          <a:prstGeom prst="rect">
            <a:avLst/>
          </a:prstGeom>
          <a:solidFill>
            <a:srgbClr val="FFF9EF"/>
          </a:solidFill>
          <a:ln w="10160">
            <a:solidFill>
              <a:srgbClr val="DE9E52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3291840" y="1225296"/>
            <a:ext cx="3611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Uncoupled pass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3291840" y="3511296"/>
            <a:ext cx="361188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Coupled steady response</a:t>
            </a:r>
            <a:endParaRPr lang="en-US" sz="1000" dirty="0"/>
          </a:p>
        </p:txBody>
      </p:sp>
      <p:sp>
        <p:nvSpPr>
          <p:cNvPr id="162" name="Text 160"/>
          <p:cNvSpPr/>
          <p:nvPr/>
        </p:nvSpPr>
        <p:spPr>
          <a:xfrm>
            <a:off x="352044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(neutronics)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5257800" y="1536192"/>
            <a:ext cx="1097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FEniCS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(thermo-mechanics)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3598817" y="182880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722914" y="18288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3847011" y="18288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971109" y="18288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4095206" y="182880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660866" y="197358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3784963" y="197358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3909060" y="197358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033157" y="197358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4157254" y="197358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474720" y="211836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598817" y="211836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3722914" y="211836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847011" y="2118360"/>
            <a:ext cx="86558" cy="86558"/>
          </a:xfrm>
          <a:prstGeom prst="hexagon">
            <a:avLst/>
          </a:prstGeom>
          <a:solidFill>
            <a:srgbClr val="F28E2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971109" y="211836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095206" y="211836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4219303" y="211836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536769" y="226314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660866" y="226314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784963" y="226314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909060" y="2263140"/>
            <a:ext cx="86558" cy="86558"/>
          </a:xfrm>
          <a:prstGeom prst="hexagon">
            <a:avLst/>
          </a:prstGeom>
          <a:solidFill>
            <a:srgbClr val="F28E2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033157" y="226314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157254" y="226314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281351" y="226314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3598817" y="240792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22914" y="240792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847011" y="2407920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971109" y="2407920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095206" y="240792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660866" y="255270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3784963" y="25527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909060" y="25527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033157" y="2552700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157254" y="2552700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846320" y="1901952"/>
            <a:ext cx="758952" cy="758952"/>
          </a:xfrm>
          <a:prstGeom prst="hexagon">
            <a:avLst/>
          </a:prstGeom>
          <a:solidFill>
            <a:srgbClr val="1E4FA3">
              <a:alpha val="90000"/>
            </a:srgbClr>
          </a:solidFill>
          <a:ln w="6350">
            <a:solidFill>
              <a:srgbClr val="1E4FA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891857" y="1947489"/>
            <a:ext cx="667878" cy="667878"/>
          </a:xfrm>
          <a:prstGeom prst="hexagon">
            <a:avLst/>
          </a:prstGeom>
          <a:solidFill>
            <a:srgbClr val="3B82F6">
              <a:alpha val="9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937394" y="1993026"/>
            <a:ext cx="576804" cy="576804"/>
          </a:xfrm>
          <a:prstGeom prst="hexagon">
            <a:avLst/>
          </a:prstGeom>
          <a:solidFill>
            <a:srgbClr val="7EC8A8">
              <a:alpha val="90000"/>
            </a:srgbClr>
          </a:solidFill>
          <a:ln w="6350">
            <a:solidFill>
              <a:srgbClr val="7EC8A8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82931" y="2038563"/>
            <a:ext cx="485729" cy="485729"/>
          </a:xfrm>
          <a:prstGeom prst="hexagon">
            <a:avLst/>
          </a:prstGeom>
          <a:solidFill>
            <a:srgbClr val="F5D76E">
              <a:alpha val="90000"/>
            </a:srgbClr>
          </a:solidFill>
          <a:ln w="6350">
            <a:solidFill>
              <a:srgbClr val="F5D76E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028468" y="2084100"/>
            <a:ext cx="394655" cy="394655"/>
          </a:xfrm>
          <a:prstGeom prst="hexagon">
            <a:avLst/>
          </a:prstGeom>
          <a:solidFill>
            <a:srgbClr val="F59E0B">
              <a:alpha val="96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074006" y="2129638"/>
            <a:ext cx="303581" cy="303581"/>
          </a:xfrm>
          <a:prstGeom prst="hexagon">
            <a:avLst/>
          </a:prstGeom>
          <a:solidFill>
            <a:srgbClr val="E74C3C">
              <a:alpha val="96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989320" y="1901952"/>
            <a:ext cx="758952" cy="758952"/>
          </a:xfrm>
          <a:prstGeom prst="hexagon">
            <a:avLst/>
          </a:prstGeom>
          <a:solidFill>
            <a:srgbClr val="1E4FA3">
              <a:alpha val="90000"/>
            </a:srgbClr>
          </a:solidFill>
          <a:ln w="6350">
            <a:solidFill>
              <a:srgbClr val="1E4FA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034857" y="1947489"/>
            <a:ext cx="667878" cy="667878"/>
          </a:xfrm>
          <a:prstGeom prst="hexagon">
            <a:avLst/>
          </a:prstGeom>
          <a:solidFill>
            <a:srgbClr val="3B82F6">
              <a:alpha val="9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6080394" y="1993026"/>
            <a:ext cx="576804" cy="576804"/>
          </a:xfrm>
          <a:prstGeom prst="hexagon">
            <a:avLst/>
          </a:prstGeom>
          <a:solidFill>
            <a:srgbClr val="7EC8A8">
              <a:alpha val="90000"/>
            </a:srgbClr>
          </a:solidFill>
          <a:ln w="6350">
            <a:solidFill>
              <a:srgbClr val="7EC8A8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6125931" y="2038563"/>
            <a:ext cx="485729" cy="485729"/>
          </a:xfrm>
          <a:prstGeom prst="hexagon">
            <a:avLst/>
          </a:prstGeom>
          <a:solidFill>
            <a:srgbClr val="F5D76E">
              <a:alpha val="90000"/>
            </a:srgbClr>
          </a:solidFill>
          <a:ln w="6350">
            <a:solidFill>
              <a:srgbClr val="F5D76E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6171468" y="2084100"/>
            <a:ext cx="394655" cy="394655"/>
          </a:xfrm>
          <a:prstGeom prst="hexagon">
            <a:avLst/>
          </a:prstGeom>
          <a:solidFill>
            <a:srgbClr val="F59E0B">
              <a:alpha val="96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6217006" y="2129638"/>
            <a:ext cx="303581" cy="303581"/>
          </a:xfrm>
          <a:prstGeom prst="hexagon">
            <a:avLst/>
          </a:prstGeom>
          <a:solidFill>
            <a:srgbClr val="E74C3C">
              <a:alpha val="96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254953" y="2167585"/>
            <a:ext cx="204917" cy="-129022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459870" y="2038563"/>
            <a:ext cx="113843" cy="204917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573713" y="2243480"/>
            <a:ext cx="-166969" cy="227686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434840" y="2267712"/>
            <a:ext cx="274320" cy="0"/>
          </a:xfrm>
          <a:prstGeom prst="line">
            <a:avLst/>
          </a:prstGeom>
          <a:noFill/>
          <a:ln w="1270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14" name="Shape 212"/>
          <p:cNvSpPr/>
          <p:nvPr/>
        </p:nvSpPr>
        <p:spPr>
          <a:xfrm>
            <a:off x="5687568" y="2267712"/>
            <a:ext cx="237744" cy="0"/>
          </a:xfrm>
          <a:prstGeom prst="line">
            <a:avLst/>
          </a:prstGeom>
          <a:noFill/>
          <a:ln w="1270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15" name="Text 213"/>
          <p:cNvSpPr/>
          <p:nvPr/>
        </p:nvSpPr>
        <p:spPr>
          <a:xfrm>
            <a:off x="4754880" y="192024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660" dirty="0"/>
          </a:p>
        </p:txBody>
      </p:sp>
      <p:sp>
        <p:nvSpPr>
          <p:cNvPr id="216" name="Text 214"/>
          <p:cNvSpPr/>
          <p:nvPr/>
        </p:nvSpPr>
        <p:spPr>
          <a:xfrm>
            <a:off x="5870448" y="192024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Preliminary stress</a:t>
            </a:r>
            <a:endParaRPr lang="en-US" sz="660" dirty="0"/>
          </a:p>
        </p:txBody>
      </p:sp>
      <p:sp>
        <p:nvSpPr>
          <p:cNvPr id="217" name="Text 215"/>
          <p:cNvSpPr/>
          <p:nvPr/>
        </p:nvSpPr>
        <p:spPr>
          <a:xfrm>
            <a:off x="3410712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OpenMC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(updated power)</a:t>
            </a:r>
            <a:endParaRPr lang="en-US" sz="700" dirty="0"/>
          </a:p>
        </p:txBody>
      </p:sp>
      <p:sp>
        <p:nvSpPr>
          <p:cNvPr id="218" name="Text 216"/>
          <p:cNvSpPr/>
          <p:nvPr/>
        </p:nvSpPr>
        <p:spPr>
          <a:xfrm>
            <a:off x="525780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FEniCS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(thermo-mechanics)</a:t>
            </a:r>
            <a:endParaRPr lang="en-US" sz="700" dirty="0"/>
          </a:p>
        </p:txBody>
      </p:sp>
      <p:sp>
        <p:nvSpPr>
          <p:cNvPr id="219" name="Shape 217"/>
          <p:cNvSpPr/>
          <p:nvPr/>
        </p:nvSpPr>
        <p:spPr>
          <a:xfrm>
            <a:off x="3598817" y="41788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722914" y="41788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3847011" y="417880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3971109" y="41788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095206" y="41788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3660866" y="432358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3784963" y="432358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909060" y="432358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4033157" y="432358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157254" y="432358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3474720" y="446836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598817" y="446836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722914" y="4468368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3847011" y="4468368"/>
            <a:ext cx="86558" cy="86558"/>
          </a:xfrm>
          <a:prstGeom prst="hexagon">
            <a:avLst/>
          </a:prstGeom>
          <a:solidFill>
            <a:srgbClr val="F28E2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3971109" y="4468368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095206" y="446836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4219303" y="446836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3536769" y="461314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3660866" y="461314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784963" y="4613148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3909060" y="4613148"/>
            <a:ext cx="86558" cy="86558"/>
          </a:xfrm>
          <a:prstGeom prst="hexagon">
            <a:avLst/>
          </a:prstGeom>
          <a:solidFill>
            <a:srgbClr val="F28E2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4033157" y="4613148"/>
            <a:ext cx="86558" cy="86558"/>
          </a:xfrm>
          <a:prstGeom prst="hexagon">
            <a:avLst/>
          </a:prstGeom>
          <a:solidFill>
            <a:srgbClr val="F4D44D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157254" y="461314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281351" y="461314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598817" y="475792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3722914" y="475792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3847011" y="475792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3971109" y="4757928"/>
            <a:ext cx="86558" cy="86558"/>
          </a:xfrm>
          <a:prstGeom prst="hexagon">
            <a:avLst/>
          </a:prstGeom>
          <a:solidFill>
            <a:srgbClr val="82C96B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4095206" y="475792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3660866" y="49027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3784963" y="49027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909060" y="4902708"/>
            <a:ext cx="86558" cy="86558"/>
          </a:xfrm>
          <a:prstGeom prst="hexagon">
            <a:avLst/>
          </a:prstGeom>
          <a:solidFill>
            <a:srgbClr val="3DA5D9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4033157" y="49027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4157254" y="4902708"/>
            <a:ext cx="86558" cy="86558"/>
          </a:xfrm>
          <a:prstGeom prst="hexagon">
            <a:avLst/>
          </a:prstGeom>
          <a:solidFill>
            <a:srgbClr val="2070C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846320" y="4251960"/>
            <a:ext cx="758952" cy="758952"/>
          </a:xfrm>
          <a:prstGeom prst="hexagon">
            <a:avLst/>
          </a:prstGeom>
          <a:solidFill>
            <a:srgbClr val="1E4FA3">
              <a:alpha val="90000"/>
            </a:srgbClr>
          </a:solidFill>
          <a:ln w="6350">
            <a:solidFill>
              <a:srgbClr val="1E4FA3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891857" y="4297497"/>
            <a:ext cx="667878" cy="667878"/>
          </a:xfrm>
          <a:prstGeom prst="hexagon">
            <a:avLst/>
          </a:prstGeom>
          <a:solidFill>
            <a:srgbClr val="3B82F6">
              <a:alpha val="9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937394" y="4343034"/>
            <a:ext cx="576804" cy="576804"/>
          </a:xfrm>
          <a:prstGeom prst="hexagon">
            <a:avLst/>
          </a:prstGeom>
          <a:solidFill>
            <a:srgbClr val="7EC8A8">
              <a:alpha val="90000"/>
            </a:srgbClr>
          </a:solidFill>
          <a:ln w="6350">
            <a:solidFill>
              <a:srgbClr val="7EC8A8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4982931" y="4388571"/>
            <a:ext cx="485729" cy="485729"/>
          </a:xfrm>
          <a:prstGeom prst="hexagon">
            <a:avLst/>
          </a:prstGeom>
          <a:solidFill>
            <a:srgbClr val="F5D76E">
              <a:alpha val="90000"/>
            </a:srgbClr>
          </a:solidFill>
          <a:ln w="6350">
            <a:solidFill>
              <a:srgbClr val="F5D76E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028468" y="4434108"/>
            <a:ext cx="394655" cy="394655"/>
          </a:xfrm>
          <a:prstGeom prst="hexagon">
            <a:avLst/>
          </a:prstGeom>
          <a:solidFill>
            <a:srgbClr val="F59E0B">
              <a:alpha val="96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074006" y="4479646"/>
            <a:ext cx="303581" cy="303581"/>
          </a:xfrm>
          <a:prstGeom prst="hexagon">
            <a:avLst/>
          </a:prstGeom>
          <a:solidFill>
            <a:srgbClr val="E74C3C">
              <a:alpha val="96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5989320" y="4251960"/>
            <a:ext cx="758952" cy="758952"/>
          </a:xfrm>
          <a:prstGeom prst="hexagon">
            <a:avLst/>
          </a:prstGeom>
          <a:solidFill>
            <a:srgbClr val="1E4FA3">
              <a:alpha val="90000"/>
            </a:srgbClr>
          </a:solidFill>
          <a:ln w="6350">
            <a:solidFill>
              <a:srgbClr val="1E4FA3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034857" y="4297497"/>
            <a:ext cx="667878" cy="667878"/>
          </a:xfrm>
          <a:prstGeom prst="hexagon">
            <a:avLst/>
          </a:prstGeom>
          <a:solidFill>
            <a:srgbClr val="3B82F6">
              <a:alpha val="9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6080394" y="4343034"/>
            <a:ext cx="576804" cy="576804"/>
          </a:xfrm>
          <a:prstGeom prst="hexagon">
            <a:avLst/>
          </a:prstGeom>
          <a:solidFill>
            <a:srgbClr val="7EC8A8">
              <a:alpha val="90000"/>
            </a:srgbClr>
          </a:solidFill>
          <a:ln w="6350">
            <a:solidFill>
              <a:srgbClr val="7EC8A8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6125931" y="4388571"/>
            <a:ext cx="485729" cy="485729"/>
          </a:xfrm>
          <a:prstGeom prst="hexagon">
            <a:avLst/>
          </a:prstGeom>
          <a:solidFill>
            <a:srgbClr val="F5D76E">
              <a:alpha val="90000"/>
            </a:srgbClr>
          </a:solidFill>
          <a:ln w="6350">
            <a:solidFill>
              <a:srgbClr val="F5D76E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6171468" y="4434108"/>
            <a:ext cx="394655" cy="394655"/>
          </a:xfrm>
          <a:prstGeom prst="hexagon">
            <a:avLst/>
          </a:prstGeom>
          <a:solidFill>
            <a:srgbClr val="F59E0B">
              <a:alpha val="96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6217006" y="4479646"/>
            <a:ext cx="303581" cy="303581"/>
          </a:xfrm>
          <a:prstGeom prst="hexagon">
            <a:avLst/>
          </a:prstGeom>
          <a:solidFill>
            <a:srgbClr val="E74C3C">
              <a:alpha val="96000"/>
            </a:srgbClr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6254953" y="4517593"/>
            <a:ext cx="204917" cy="-129022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6459870" y="4388571"/>
            <a:ext cx="113843" cy="204917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6573713" y="4593488"/>
            <a:ext cx="-166969" cy="227686"/>
          </a:xfrm>
          <a:prstGeom prst="line">
            <a:avLst/>
          </a:prstGeom>
          <a:noFill/>
          <a:ln w="8890">
            <a:solidFill>
              <a:srgbClr val="8C3A3A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4434840" y="4617720"/>
            <a:ext cx="274320" cy="0"/>
          </a:xfrm>
          <a:prstGeom prst="line">
            <a:avLst/>
          </a:prstGeom>
          <a:noFill/>
          <a:ln w="1270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69" name="Shape 267"/>
          <p:cNvSpPr/>
          <p:nvPr/>
        </p:nvSpPr>
        <p:spPr>
          <a:xfrm>
            <a:off x="5687568" y="4617720"/>
            <a:ext cx="237744" cy="0"/>
          </a:xfrm>
          <a:prstGeom prst="line">
            <a:avLst/>
          </a:prstGeom>
          <a:noFill/>
          <a:ln w="1270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70" name="Text 268"/>
          <p:cNvSpPr/>
          <p:nvPr/>
        </p:nvSpPr>
        <p:spPr>
          <a:xfrm>
            <a:off x="4754880" y="4206240"/>
            <a:ext cx="822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660" dirty="0"/>
          </a:p>
        </p:txBody>
      </p:sp>
      <p:sp>
        <p:nvSpPr>
          <p:cNvPr id="271" name="Text 269"/>
          <p:cNvSpPr/>
          <p:nvPr/>
        </p:nvSpPr>
        <p:spPr>
          <a:xfrm>
            <a:off x="5879592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Mises stress</a:t>
            </a:r>
            <a:endParaRPr lang="en-US" sz="660" dirty="0"/>
          </a:p>
        </p:txBody>
      </p:sp>
      <p:sp>
        <p:nvSpPr>
          <p:cNvPr id="272" name="Shape 270"/>
          <p:cNvSpPr/>
          <p:nvPr/>
        </p:nvSpPr>
        <p:spPr>
          <a:xfrm>
            <a:off x="5961888" y="5394960"/>
            <a:ext cx="-1709928" cy="0"/>
          </a:xfrm>
          <a:prstGeom prst="line">
            <a:avLst/>
          </a:prstGeom>
          <a:noFill/>
          <a:ln w="1016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73" name="Text 271"/>
          <p:cNvSpPr/>
          <p:nvPr/>
        </p:nvSpPr>
        <p:spPr>
          <a:xfrm>
            <a:off x="4480560" y="5394960"/>
            <a:ext cx="1600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/ deformation update</a:t>
            </a:r>
            <a:endParaRPr lang="en-US" sz="670" dirty="0"/>
          </a:p>
        </p:txBody>
      </p:sp>
      <p:sp>
        <p:nvSpPr>
          <p:cNvPr id="274" name="Shape 272"/>
          <p:cNvSpPr/>
          <p:nvPr/>
        </p:nvSpPr>
        <p:spPr>
          <a:xfrm>
            <a:off x="3429000" y="6135624"/>
            <a:ext cx="384048" cy="118872"/>
          </a:xfrm>
          <a:prstGeom prst="ellipse">
            <a:avLst/>
          </a:prstGeom>
          <a:solidFill>
            <a:srgbClr val="426989"/>
          </a:solidFill>
          <a:ln w="6350">
            <a:solidFill>
              <a:srgbClr val="426989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429000" y="6190488"/>
            <a:ext cx="384048" cy="329184"/>
          </a:xfrm>
          <a:prstGeom prst="rect">
            <a:avLst/>
          </a:prstGeom>
          <a:solidFill>
            <a:srgbClr val="426989"/>
          </a:solidFill>
          <a:ln w="6350">
            <a:solidFill>
              <a:srgbClr val="426989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429000" y="6473952"/>
            <a:ext cx="384048" cy="118872"/>
          </a:xfrm>
          <a:prstGeom prst="ellipse">
            <a:avLst/>
          </a:prstGeom>
          <a:solidFill>
            <a:srgbClr val="426989"/>
          </a:solidFill>
          <a:ln w="6350">
            <a:solidFill>
              <a:srgbClr val="426989"/>
            </a:solidFill>
            <a:prstDash val="solid"/>
          </a:ln>
        </p:spPr>
      </p:sp>
      <p:sp>
        <p:nvSpPr>
          <p:cNvPr id="277" name="Text 275"/>
          <p:cNvSpPr/>
          <p:nvPr/>
        </p:nvSpPr>
        <p:spPr>
          <a:xfrm>
            <a:off x="3931920" y="6144768"/>
            <a:ext cx="164592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dataset:</a:t>
            </a:r>
            <a:endParaRPr lang="en-US" sz="820" dirty="0"/>
          </a:p>
          <a:p>
            <a:pPr algn="l" indent="0" marL="0">
              <a:buNone/>
            </a:pPr>
            <a:r>
              <a:rPr lang="en-US" sz="8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3,341 filtered HF samples</a:t>
            </a:r>
            <a:endParaRPr lang="en-US" sz="820" dirty="0"/>
          </a:p>
        </p:txBody>
      </p:sp>
      <p:sp>
        <p:nvSpPr>
          <p:cNvPr id="278" name="Text 276"/>
          <p:cNvSpPr/>
          <p:nvPr/>
        </p:nvSpPr>
        <p:spPr>
          <a:xfrm>
            <a:off x="3931920" y="6510528"/>
            <a:ext cx="164592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3,418 generated before filtering</a:t>
            </a:r>
            <a:endParaRPr lang="en-US" sz="670" dirty="0"/>
          </a:p>
        </p:txBody>
      </p:sp>
      <p:sp>
        <p:nvSpPr>
          <p:cNvPr id="279" name="Text 277"/>
          <p:cNvSpPr/>
          <p:nvPr/>
        </p:nvSpPr>
        <p:spPr>
          <a:xfrm>
            <a:off x="5715000" y="6144768"/>
            <a:ext cx="100584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2,339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501</a:t>
            </a:r>
            <a:endParaRPr lang="en-US" sz="700" dirty="0"/>
          </a:p>
          <a:p>
            <a:pPr algn="l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Test: 501</a:t>
            </a:r>
            <a:endParaRPr lang="en-US" sz="700" dirty="0"/>
          </a:p>
        </p:txBody>
      </p:sp>
      <p:sp>
        <p:nvSpPr>
          <p:cNvPr id="280" name="Shape 278"/>
          <p:cNvSpPr/>
          <p:nvPr/>
        </p:nvSpPr>
        <p:spPr>
          <a:xfrm>
            <a:off x="3017520" y="3794760"/>
            <a:ext cx="155448" cy="0"/>
          </a:xfrm>
          <a:prstGeom prst="line">
            <a:avLst/>
          </a:prstGeom>
          <a:noFill/>
          <a:ln w="2286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81" name="Shape 279"/>
          <p:cNvSpPr/>
          <p:nvPr/>
        </p:nvSpPr>
        <p:spPr>
          <a:xfrm>
            <a:off x="6976872" y="3794760"/>
            <a:ext cx="246888" cy="0"/>
          </a:xfrm>
          <a:prstGeom prst="line">
            <a:avLst/>
          </a:prstGeom>
          <a:noFill/>
          <a:ln w="2286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282" name="Text 280"/>
          <p:cNvSpPr/>
          <p:nvPr/>
        </p:nvSpPr>
        <p:spPr>
          <a:xfrm>
            <a:off x="7315200" y="201168"/>
            <a:ext cx="352044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Bayesian neural surrogate</a:t>
            </a:r>
            <a:endParaRPr lang="en-US" sz="1300" dirty="0"/>
          </a:p>
        </p:txBody>
      </p:sp>
      <p:sp>
        <p:nvSpPr>
          <p:cNvPr id="283" name="Text 281"/>
          <p:cNvSpPr/>
          <p:nvPr/>
        </p:nvSpPr>
        <p:spPr>
          <a:xfrm>
            <a:off x="7315200" y="502920"/>
            <a:ext cx="35204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posterior predictive layer</a:t>
            </a:r>
            <a:endParaRPr lang="en-US" sz="1000" dirty="0"/>
          </a:p>
        </p:txBody>
      </p:sp>
      <p:sp>
        <p:nvSpPr>
          <p:cNvPr id="284" name="Shape 282"/>
          <p:cNvSpPr/>
          <p:nvPr/>
        </p:nvSpPr>
        <p:spPr>
          <a:xfrm>
            <a:off x="7388352" y="987552"/>
            <a:ext cx="3374136" cy="5806440"/>
          </a:xfrm>
          <a:prstGeom prst="rect">
            <a:avLst/>
          </a:prstGeom>
          <a:solidFill>
            <a:srgbClr val="F7FBFF"/>
          </a:solidFill>
          <a:ln w="20320">
            <a:solidFill>
              <a:srgbClr val="2F64B3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7351776" y="950976"/>
            <a:ext cx="3447288" cy="5879592"/>
          </a:xfrm>
          <a:prstGeom prst="rect">
            <a:avLst/>
          </a:prstGeom>
          <a:solidFill>
            <a:srgbClr val="FFFFFF"/>
          </a:solidFill>
          <a:ln w="5080">
            <a:solidFill>
              <a:srgbClr val="D7DEE8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7388352" y="987552"/>
            <a:ext cx="3374136" cy="5806440"/>
          </a:xfrm>
          <a:prstGeom prst="rect">
            <a:avLst/>
          </a:prstGeom>
          <a:solidFill>
            <a:srgbClr val="F7FBFF"/>
          </a:solidFill>
          <a:ln w="20320">
            <a:solidFill>
              <a:srgbClr val="2F64B3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7635240" y="1225296"/>
            <a:ext cx="288036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Physics-regularized Bayesian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900" dirty="0"/>
          </a:p>
        </p:txBody>
      </p:sp>
      <p:sp>
        <p:nvSpPr>
          <p:cNvPr id="288" name="Shape 286"/>
          <p:cNvSpPr/>
          <p:nvPr/>
        </p:nvSpPr>
        <p:spPr>
          <a:xfrm>
            <a:off x="7818120" y="2108606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7818120" y="2108606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818120" y="2108606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818120" y="2108606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818120" y="2108606"/>
            <a:ext cx="850941" cy="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818120" y="2108606"/>
            <a:ext cx="850941" cy="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818120" y="2108606"/>
            <a:ext cx="850941" cy="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818120" y="2435047"/>
            <a:ext cx="850941" cy="-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818120" y="2435047"/>
            <a:ext cx="850941" cy="-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7818120" y="2435047"/>
            <a:ext cx="850941" cy="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7818120" y="2435047"/>
            <a:ext cx="850941" cy="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7818120" y="2435047"/>
            <a:ext cx="850941" cy="544068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7818120" y="2435047"/>
            <a:ext cx="850941" cy="761695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7818120" y="2435047"/>
            <a:ext cx="850941" cy="97932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7818120" y="2761488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7818120" y="2761488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818120" y="2761488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7818120" y="2761488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7818120" y="2761488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818120" y="2761488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818120" y="2761488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818120" y="3087929"/>
            <a:ext cx="850941" cy="-97932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818120" y="3087929"/>
            <a:ext cx="850941" cy="-761695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7818120" y="3087929"/>
            <a:ext cx="850941" cy="-544068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818120" y="3087929"/>
            <a:ext cx="850941" cy="-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818120" y="3087929"/>
            <a:ext cx="850941" cy="-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7818120" y="3087929"/>
            <a:ext cx="850941" cy="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818120" y="3087929"/>
            <a:ext cx="850941" cy="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818120" y="3414370"/>
            <a:ext cx="850941" cy="-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7818120" y="3414370"/>
            <a:ext cx="850941" cy="-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7818120" y="3414370"/>
            <a:ext cx="850941" cy="-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19" name="Shape 317"/>
          <p:cNvSpPr/>
          <p:nvPr/>
        </p:nvSpPr>
        <p:spPr>
          <a:xfrm>
            <a:off x="7818120" y="3414370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7818120" y="3414370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7818120" y="3414370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7818120" y="3414370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8669061" y="2108606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8669061" y="2108606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8669061" y="2108606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8669061" y="2108606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8669061" y="2108606"/>
            <a:ext cx="850941" cy="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8669061" y="2108606"/>
            <a:ext cx="850941" cy="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8669061" y="2108606"/>
            <a:ext cx="850941" cy="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8669061" y="2326234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8669061" y="2326234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669061" y="2326234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669061" y="2326234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669061" y="2326234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669061" y="2326234"/>
            <a:ext cx="850941" cy="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669061" y="2326234"/>
            <a:ext cx="850941" cy="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669061" y="2543861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8669061" y="2543861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8669061" y="2543861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>
            <a:off x="8669061" y="2543861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>
            <a:off x="8669061" y="2543861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8669061" y="2543861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8669061" y="2543861"/>
            <a:ext cx="850941" cy="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669061" y="2761488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8669061" y="2761488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8669061" y="2761488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8669061" y="2761488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669061" y="2761488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8669061" y="2761488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8669061" y="2761488"/>
            <a:ext cx="850941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8669061" y="2979115"/>
            <a:ext cx="850941" cy="-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8669061" y="2979115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8669061" y="2979115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8669061" y="2979115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8669061" y="2979115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8669061" y="2979115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8669061" y="2979115"/>
            <a:ext cx="850941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8669061" y="3196742"/>
            <a:ext cx="850941" cy="-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8669061" y="3196742"/>
            <a:ext cx="850941" cy="-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8669061" y="3196742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8669061" y="3196742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2" name="Shape 360"/>
          <p:cNvSpPr/>
          <p:nvPr/>
        </p:nvSpPr>
        <p:spPr>
          <a:xfrm>
            <a:off x="8669061" y="3196742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3" name="Shape 361"/>
          <p:cNvSpPr/>
          <p:nvPr/>
        </p:nvSpPr>
        <p:spPr>
          <a:xfrm>
            <a:off x="8669061" y="3196742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8669061" y="3196742"/>
            <a:ext cx="850941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8669061" y="3414370"/>
            <a:ext cx="850941" cy="-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8669061" y="3414370"/>
            <a:ext cx="850941" cy="-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8669061" y="3414370"/>
            <a:ext cx="850941" cy="-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8669061" y="3414370"/>
            <a:ext cx="850941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8669061" y="3414370"/>
            <a:ext cx="850941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8669061" y="3414370"/>
            <a:ext cx="850941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8669061" y="3414370"/>
            <a:ext cx="850941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9520001" y="2108606"/>
            <a:ext cx="876727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9520001" y="2108606"/>
            <a:ext cx="876727" cy="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9520001" y="2108606"/>
            <a:ext cx="876727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9520001" y="2108606"/>
            <a:ext cx="876727" cy="97932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9520001" y="2108606"/>
            <a:ext cx="876727" cy="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9520001" y="2326234"/>
            <a:ext cx="876727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9520001" y="2326234"/>
            <a:ext cx="876727" cy="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9520001" y="2326234"/>
            <a:ext cx="876727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9520001" y="2326234"/>
            <a:ext cx="876727" cy="761695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9520001" y="2326234"/>
            <a:ext cx="876727" cy="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9520001" y="2543861"/>
            <a:ext cx="876727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9520001" y="2543861"/>
            <a:ext cx="876727" cy="-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4" name="Shape 382"/>
          <p:cNvSpPr/>
          <p:nvPr/>
        </p:nvSpPr>
        <p:spPr>
          <a:xfrm>
            <a:off x="9520001" y="2543861"/>
            <a:ext cx="876727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5" name="Shape 383"/>
          <p:cNvSpPr/>
          <p:nvPr/>
        </p:nvSpPr>
        <p:spPr>
          <a:xfrm>
            <a:off x="9520001" y="2543861"/>
            <a:ext cx="876727" cy="544068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9520001" y="2543861"/>
            <a:ext cx="876727" cy="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9520001" y="2761488"/>
            <a:ext cx="876727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9520001" y="2761488"/>
            <a:ext cx="876727" cy="-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9520001" y="2761488"/>
            <a:ext cx="876727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9520001" y="2761488"/>
            <a:ext cx="876727" cy="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9520001" y="2761488"/>
            <a:ext cx="876727" cy="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9520001" y="2979115"/>
            <a:ext cx="876727" cy="-870509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9520001" y="2979115"/>
            <a:ext cx="876727" cy="-544068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9520001" y="2979115"/>
            <a:ext cx="876727" cy="-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9520001" y="2979115"/>
            <a:ext cx="876727" cy="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9520001" y="2979115"/>
            <a:ext cx="876727" cy="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9520001" y="3196742"/>
            <a:ext cx="876727" cy="-1088136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9520001" y="3196742"/>
            <a:ext cx="876727" cy="-761695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9520001" y="3196742"/>
            <a:ext cx="876727" cy="-43525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9520001" y="3196742"/>
            <a:ext cx="876727" cy="-108814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9520001" y="3196742"/>
            <a:ext cx="876727" cy="217627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9520001" y="3414370"/>
            <a:ext cx="876727" cy="-1305763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9520001" y="3414370"/>
            <a:ext cx="876727" cy="-97932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9520001" y="3414370"/>
            <a:ext cx="876727" cy="-652882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9520001" y="3414370"/>
            <a:ext cx="876727" cy="-326441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6" name="Shape 404"/>
          <p:cNvSpPr/>
          <p:nvPr/>
        </p:nvSpPr>
        <p:spPr>
          <a:xfrm>
            <a:off x="9520001" y="3414370"/>
            <a:ext cx="876727" cy="0"/>
          </a:xfrm>
          <a:prstGeom prst="line">
            <a:avLst/>
          </a:prstGeom>
          <a:noFill/>
          <a:ln w="3175">
            <a:solidFill>
              <a:srgbClr val="B8C0CC"/>
            </a:solidFill>
            <a:prstDash val="solid"/>
          </a:ln>
        </p:spPr>
      </p:sp>
      <p:sp>
        <p:nvSpPr>
          <p:cNvPr id="407" name="Shape 405"/>
          <p:cNvSpPr/>
          <p:nvPr/>
        </p:nvSpPr>
        <p:spPr>
          <a:xfrm>
            <a:off x="7754112" y="2044598"/>
            <a:ext cx="128016" cy="128016"/>
          </a:xfrm>
          <a:prstGeom prst="ellipse">
            <a:avLst/>
          </a:prstGeom>
          <a:solidFill>
            <a:srgbClr val="8CB7E8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08" name="Shape 406"/>
          <p:cNvSpPr/>
          <p:nvPr/>
        </p:nvSpPr>
        <p:spPr>
          <a:xfrm>
            <a:off x="7754112" y="2371039"/>
            <a:ext cx="128016" cy="128016"/>
          </a:xfrm>
          <a:prstGeom prst="ellipse">
            <a:avLst/>
          </a:prstGeom>
          <a:solidFill>
            <a:srgbClr val="8CB7E8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7754112" y="2697480"/>
            <a:ext cx="128016" cy="128016"/>
          </a:xfrm>
          <a:prstGeom prst="ellipse">
            <a:avLst/>
          </a:prstGeom>
          <a:solidFill>
            <a:srgbClr val="8CB7E8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0" name="Shape 408"/>
          <p:cNvSpPr/>
          <p:nvPr/>
        </p:nvSpPr>
        <p:spPr>
          <a:xfrm>
            <a:off x="7754112" y="3023921"/>
            <a:ext cx="128016" cy="128016"/>
          </a:xfrm>
          <a:prstGeom prst="ellipse">
            <a:avLst/>
          </a:prstGeom>
          <a:solidFill>
            <a:srgbClr val="8CB7E8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1" name="Text 409"/>
          <p:cNvSpPr/>
          <p:nvPr/>
        </p:nvSpPr>
        <p:spPr>
          <a:xfrm>
            <a:off x="7735824" y="3069641"/>
            <a:ext cx="164592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600" dirty="0"/>
          </a:p>
        </p:txBody>
      </p:sp>
      <p:sp>
        <p:nvSpPr>
          <p:cNvPr id="412" name="Shape 410"/>
          <p:cNvSpPr/>
          <p:nvPr/>
        </p:nvSpPr>
        <p:spPr>
          <a:xfrm>
            <a:off x="7754112" y="3350362"/>
            <a:ext cx="128016" cy="128016"/>
          </a:xfrm>
          <a:prstGeom prst="ellipse">
            <a:avLst/>
          </a:prstGeom>
          <a:solidFill>
            <a:srgbClr val="8CB7E8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3" name="Shape 411"/>
          <p:cNvSpPr/>
          <p:nvPr/>
        </p:nvSpPr>
        <p:spPr>
          <a:xfrm>
            <a:off x="8605053" y="2044598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4" name="Shape 412"/>
          <p:cNvSpPr/>
          <p:nvPr/>
        </p:nvSpPr>
        <p:spPr>
          <a:xfrm>
            <a:off x="8605053" y="2262226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5" name="Shape 413"/>
          <p:cNvSpPr/>
          <p:nvPr/>
        </p:nvSpPr>
        <p:spPr>
          <a:xfrm>
            <a:off x="8605053" y="2479853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6" name="Shape 414"/>
          <p:cNvSpPr/>
          <p:nvPr/>
        </p:nvSpPr>
        <p:spPr>
          <a:xfrm>
            <a:off x="8605053" y="2697480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7" name="Shape 415"/>
          <p:cNvSpPr/>
          <p:nvPr/>
        </p:nvSpPr>
        <p:spPr>
          <a:xfrm>
            <a:off x="8605053" y="2915107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8" name="Shape 416"/>
          <p:cNvSpPr/>
          <p:nvPr/>
        </p:nvSpPr>
        <p:spPr>
          <a:xfrm>
            <a:off x="8605053" y="3132734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605053" y="3350362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0" name="Shape 418"/>
          <p:cNvSpPr/>
          <p:nvPr/>
        </p:nvSpPr>
        <p:spPr>
          <a:xfrm>
            <a:off x="9455993" y="2044598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1" name="Shape 419"/>
          <p:cNvSpPr/>
          <p:nvPr/>
        </p:nvSpPr>
        <p:spPr>
          <a:xfrm>
            <a:off x="9455993" y="2262226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2" name="Shape 420"/>
          <p:cNvSpPr/>
          <p:nvPr/>
        </p:nvSpPr>
        <p:spPr>
          <a:xfrm>
            <a:off x="9455993" y="2479853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3" name="Shape 421"/>
          <p:cNvSpPr/>
          <p:nvPr/>
        </p:nvSpPr>
        <p:spPr>
          <a:xfrm>
            <a:off x="9455993" y="2697480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4" name="Shape 422"/>
          <p:cNvSpPr/>
          <p:nvPr/>
        </p:nvSpPr>
        <p:spPr>
          <a:xfrm>
            <a:off x="9455993" y="2915107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5" name="Shape 423"/>
          <p:cNvSpPr/>
          <p:nvPr/>
        </p:nvSpPr>
        <p:spPr>
          <a:xfrm>
            <a:off x="9455993" y="3132734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6" name="Shape 424"/>
          <p:cNvSpPr/>
          <p:nvPr/>
        </p:nvSpPr>
        <p:spPr>
          <a:xfrm>
            <a:off x="9455993" y="3350362"/>
            <a:ext cx="128016" cy="128016"/>
          </a:xfrm>
          <a:prstGeom prst="ellipse">
            <a:avLst/>
          </a:prstGeom>
          <a:solidFill>
            <a:srgbClr val="AFC8EF"/>
          </a:solidFill>
          <a:ln w="8890">
            <a:solidFill>
              <a:srgbClr val="5A7DB2"/>
            </a:solidFill>
            <a:prstDash val="solid"/>
          </a:ln>
        </p:spPr>
      </p:sp>
      <p:sp>
        <p:nvSpPr>
          <p:cNvPr id="427" name="Shape 425"/>
          <p:cNvSpPr/>
          <p:nvPr/>
        </p:nvSpPr>
        <p:spPr>
          <a:xfrm>
            <a:off x="10332720" y="2044598"/>
            <a:ext cx="128016" cy="128016"/>
          </a:xfrm>
          <a:prstGeom prst="ellipse">
            <a:avLst/>
          </a:prstGeom>
          <a:solidFill>
            <a:srgbClr val="F28E62"/>
          </a:solidFill>
          <a:ln w="8890">
            <a:solidFill>
              <a:srgbClr val="C65A20"/>
            </a:solidFill>
            <a:prstDash val="solid"/>
          </a:ln>
        </p:spPr>
      </p:sp>
      <p:sp>
        <p:nvSpPr>
          <p:cNvPr id="428" name="Shape 426"/>
          <p:cNvSpPr/>
          <p:nvPr/>
        </p:nvSpPr>
        <p:spPr>
          <a:xfrm>
            <a:off x="10332720" y="2371039"/>
            <a:ext cx="128016" cy="128016"/>
          </a:xfrm>
          <a:prstGeom prst="ellipse">
            <a:avLst/>
          </a:prstGeom>
          <a:solidFill>
            <a:srgbClr val="F28E62"/>
          </a:solidFill>
          <a:ln w="8890">
            <a:solidFill>
              <a:srgbClr val="C65A20"/>
            </a:solidFill>
            <a:prstDash val="solid"/>
          </a:ln>
        </p:spPr>
      </p:sp>
      <p:sp>
        <p:nvSpPr>
          <p:cNvPr id="429" name="Shape 427"/>
          <p:cNvSpPr/>
          <p:nvPr/>
        </p:nvSpPr>
        <p:spPr>
          <a:xfrm>
            <a:off x="10332720" y="2697480"/>
            <a:ext cx="128016" cy="128016"/>
          </a:xfrm>
          <a:prstGeom prst="ellipse">
            <a:avLst/>
          </a:prstGeom>
          <a:solidFill>
            <a:srgbClr val="F28E62"/>
          </a:solidFill>
          <a:ln w="8890">
            <a:solidFill>
              <a:srgbClr val="C65A20"/>
            </a:solidFill>
            <a:prstDash val="solid"/>
          </a:ln>
        </p:spPr>
      </p:sp>
      <p:sp>
        <p:nvSpPr>
          <p:cNvPr id="430" name="Text 428"/>
          <p:cNvSpPr/>
          <p:nvPr/>
        </p:nvSpPr>
        <p:spPr>
          <a:xfrm>
            <a:off x="10314432" y="2743200"/>
            <a:ext cx="164592" cy="822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</a:t>
            </a:r>
            <a:endParaRPr lang="en-US" sz="600" dirty="0"/>
          </a:p>
        </p:txBody>
      </p:sp>
      <p:sp>
        <p:nvSpPr>
          <p:cNvPr id="431" name="Shape 429"/>
          <p:cNvSpPr/>
          <p:nvPr/>
        </p:nvSpPr>
        <p:spPr>
          <a:xfrm>
            <a:off x="10332720" y="3023921"/>
            <a:ext cx="128016" cy="128016"/>
          </a:xfrm>
          <a:prstGeom prst="ellipse">
            <a:avLst/>
          </a:prstGeom>
          <a:solidFill>
            <a:srgbClr val="F28E62"/>
          </a:solidFill>
          <a:ln w="8890">
            <a:solidFill>
              <a:srgbClr val="C65A20"/>
            </a:solidFill>
            <a:prstDash val="solid"/>
          </a:ln>
        </p:spPr>
      </p:sp>
      <p:sp>
        <p:nvSpPr>
          <p:cNvPr id="432" name="Shape 430"/>
          <p:cNvSpPr/>
          <p:nvPr/>
        </p:nvSpPr>
        <p:spPr>
          <a:xfrm>
            <a:off x="10332720" y="3350362"/>
            <a:ext cx="128016" cy="128016"/>
          </a:xfrm>
          <a:prstGeom prst="ellipse">
            <a:avLst/>
          </a:prstGeom>
          <a:solidFill>
            <a:srgbClr val="F28E62"/>
          </a:solidFill>
          <a:ln w="8890">
            <a:solidFill>
              <a:srgbClr val="C65A20"/>
            </a:solidFill>
            <a:prstDash val="solid"/>
          </a:ln>
        </p:spPr>
      </p:sp>
      <p:sp>
        <p:nvSpPr>
          <p:cNvPr id="433" name="Text 431"/>
          <p:cNvSpPr/>
          <p:nvPr/>
        </p:nvSpPr>
        <p:spPr>
          <a:xfrm>
            <a:off x="7735824" y="1755648"/>
            <a:ext cx="59436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inputs</a:t>
            </a:r>
            <a:endParaRPr lang="en-US" sz="700" dirty="0"/>
          </a:p>
        </p:txBody>
      </p:sp>
      <p:sp>
        <p:nvSpPr>
          <p:cNvPr id="434" name="Text 432"/>
          <p:cNvSpPr/>
          <p:nvPr/>
        </p:nvSpPr>
        <p:spPr>
          <a:xfrm>
            <a:off x="8553480" y="351129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700" dirty="0"/>
          </a:p>
        </p:txBody>
      </p:sp>
      <p:sp>
        <p:nvSpPr>
          <p:cNvPr id="435" name="Text 433"/>
          <p:cNvSpPr/>
          <p:nvPr/>
        </p:nvSpPr>
        <p:spPr>
          <a:xfrm>
            <a:off x="9404421" y="3511296"/>
            <a:ext cx="3657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254</a:t>
            </a:r>
            <a:endParaRPr lang="en-US" sz="700" dirty="0"/>
          </a:p>
        </p:txBody>
      </p:sp>
      <p:sp>
        <p:nvSpPr>
          <p:cNvPr id="436" name="Text 434"/>
          <p:cNvSpPr/>
          <p:nvPr/>
        </p:nvSpPr>
        <p:spPr>
          <a:xfrm>
            <a:off x="10113264" y="1755648"/>
            <a:ext cx="7315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scalar outputs</a:t>
            </a:r>
            <a:endParaRPr lang="en-US" sz="700" dirty="0"/>
          </a:p>
        </p:txBody>
      </p:sp>
      <p:sp>
        <p:nvSpPr>
          <p:cNvPr id="437" name="Shape 435"/>
          <p:cNvSpPr/>
          <p:nvPr/>
        </p:nvSpPr>
        <p:spPr>
          <a:xfrm>
            <a:off x="9075420" y="3639312"/>
            <a:ext cx="0" cy="329184"/>
          </a:xfrm>
          <a:prstGeom prst="line">
            <a:avLst/>
          </a:prstGeom>
          <a:noFill/>
          <a:ln w="25400">
            <a:solidFill>
              <a:srgbClr val="2F64B3"/>
            </a:solidFill>
            <a:prstDash val="solid"/>
            <a:tailEnd type="triangle"/>
          </a:ln>
        </p:spPr>
      </p:sp>
      <p:sp>
        <p:nvSpPr>
          <p:cNvPr id="438" name="Text 436"/>
          <p:cNvSpPr/>
          <p:nvPr/>
        </p:nvSpPr>
        <p:spPr>
          <a:xfrm>
            <a:off x="7607808" y="4133088"/>
            <a:ext cx="2935224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predictive distribution</a:t>
            </a:r>
            <a:endParaRPr lang="en-US" sz="900" dirty="0"/>
          </a:p>
        </p:txBody>
      </p:sp>
      <p:sp>
        <p:nvSpPr>
          <p:cNvPr id="439" name="Text 437"/>
          <p:cNvSpPr/>
          <p:nvPr/>
        </p:nvSpPr>
        <p:spPr>
          <a:xfrm>
            <a:off x="7607808" y="4361688"/>
            <a:ext cx="29352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p(y | x, D)</a:t>
            </a:r>
            <a:endParaRPr lang="en-US" sz="1300" dirty="0"/>
          </a:p>
        </p:txBody>
      </p:sp>
      <p:sp>
        <p:nvSpPr>
          <p:cNvPr id="440" name="Shape 438"/>
          <p:cNvSpPr/>
          <p:nvPr/>
        </p:nvSpPr>
        <p:spPr>
          <a:xfrm>
            <a:off x="7726680" y="5521695"/>
            <a:ext cx="224790" cy="198574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1" name="Shape 439"/>
          <p:cNvSpPr/>
          <p:nvPr/>
        </p:nvSpPr>
        <p:spPr>
          <a:xfrm>
            <a:off x="7895272" y="5550599"/>
            <a:ext cx="224790" cy="201128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2" name="Shape 440"/>
          <p:cNvSpPr/>
          <p:nvPr/>
        </p:nvSpPr>
        <p:spPr>
          <a:xfrm>
            <a:off x="8063865" y="5527894"/>
            <a:ext cx="224790" cy="207965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3" name="Shape 441"/>
          <p:cNvSpPr/>
          <p:nvPr/>
        </p:nvSpPr>
        <p:spPr>
          <a:xfrm>
            <a:off x="8232457" y="5443651"/>
            <a:ext cx="224790" cy="223171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4" name="Shape 442"/>
          <p:cNvSpPr/>
          <p:nvPr/>
        </p:nvSpPr>
        <p:spPr>
          <a:xfrm>
            <a:off x="8401050" y="5328980"/>
            <a:ext cx="224790" cy="251010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5" name="Shape 443"/>
          <p:cNvSpPr/>
          <p:nvPr/>
        </p:nvSpPr>
        <p:spPr>
          <a:xfrm>
            <a:off x="8569643" y="5229274"/>
            <a:ext cx="224790" cy="292247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6" name="Shape 444"/>
          <p:cNvSpPr/>
          <p:nvPr/>
        </p:nvSpPr>
        <p:spPr>
          <a:xfrm>
            <a:off x="8738235" y="5169939"/>
            <a:ext cx="224790" cy="339999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7" name="Shape 445"/>
          <p:cNvSpPr/>
          <p:nvPr/>
        </p:nvSpPr>
        <p:spPr>
          <a:xfrm>
            <a:off x="8906828" y="5144801"/>
            <a:ext cx="224790" cy="379538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8" name="Shape 446"/>
          <p:cNvSpPr/>
          <p:nvPr/>
        </p:nvSpPr>
        <p:spPr>
          <a:xfrm>
            <a:off x="9075420" y="5134288"/>
            <a:ext cx="224790" cy="395021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49" name="Shape 447"/>
          <p:cNvSpPr/>
          <p:nvPr/>
        </p:nvSpPr>
        <p:spPr>
          <a:xfrm>
            <a:off x="9244013" y="5132710"/>
            <a:ext cx="224790" cy="379538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0" name="Shape 448"/>
          <p:cNvSpPr/>
          <p:nvPr/>
        </p:nvSpPr>
        <p:spPr>
          <a:xfrm>
            <a:off x="9412605" y="5156874"/>
            <a:ext cx="224790" cy="339999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1" name="Shape 449"/>
          <p:cNvSpPr/>
          <p:nvPr/>
        </p:nvSpPr>
        <p:spPr>
          <a:xfrm>
            <a:off x="9581197" y="5227246"/>
            <a:ext cx="224790" cy="292247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2" name="Shape 450"/>
          <p:cNvSpPr/>
          <p:nvPr/>
        </p:nvSpPr>
        <p:spPr>
          <a:xfrm>
            <a:off x="9749790" y="5339854"/>
            <a:ext cx="224790" cy="251010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3" name="Shape 451"/>
          <p:cNvSpPr/>
          <p:nvPr/>
        </p:nvSpPr>
        <p:spPr>
          <a:xfrm>
            <a:off x="9918382" y="5457430"/>
            <a:ext cx="224790" cy="223171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4" name="Shape 452"/>
          <p:cNvSpPr/>
          <p:nvPr/>
        </p:nvSpPr>
        <p:spPr>
          <a:xfrm>
            <a:off x="10086975" y="5531909"/>
            <a:ext cx="224790" cy="207965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5" name="Shape 453"/>
          <p:cNvSpPr/>
          <p:nvPr/>
        </p:nvSpPr>
        <p:spPr>
          <a:xfrm>
            <a:off x="10255568" y="5541159"/>
            <a:ext cx="224790" cy="201128"/>
          </a:xfrm>
          <a:prstGeom prst="ellipse">
            <a:avLst/>
          </a:prstGeom>
          <a:solidFill>
            <a:srgbClr val="BBD4FF">
              <a:alpha val="58000"/>
            </a:srgbClr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456" name="Shape 454"/>
          <p:cNvSpPr/>
          <p:nvPr/>
        </p:nvSpPr>
        <p:spPr>
          <a:xfrm>
            <a:off x="7726680" y="5612783"/>
            <a:ext cx="69166" cy="1073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57" name="Shape 455"/>
          <p:cNvSpPr/>
          <p:nvPr/>
        </p:nvSpPr>
        <p:spPr>
          <a:xfrm>
            <a:off x="7795846" y="5623513"/>
            <a:ext cx="69166" cy="5578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58" name="Shape 456"/>
          <p:cNvSpPr/>
          <p:nvPr/>
        </p:nvSpPr>
        <p:spPr>
          <a:xfrm>
            <a:off x="7865012" y="5629091"/>
            <a:ext cx="69166" cy="-244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59" name="Shape 457"/>
          <p:cNvSpPr/>
          <p:nvPr/>
        </p:nvSpPr>
        <p:spPr>
          <a:xfrm>
            <a:off x="7934178" y="5626644"/>
            <a:ext cx="69166" cy="-12114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0" name="Shape 458"/>
          <p:cNvSpPr/>
          <p:nvPr/>
        </p:nvSpPr>
        <p:spPr>
          <a:xfrm>
            <a:off x="8003345" y="5614530"/>
            <a:ext cx="69166" cy="-21465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1" name="Shape 459"/>
          <p:cNvSpPr/>
          <p:nvPr/>
        </p:nvSpPr>
        <p:spPr>
          <a:xfrm>
            <a:off x="8072511" y="5593065"/>
            <a:ext cx="69166" cy="-28249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2" name="Shape 460"/>
          <p:cNvSpPr/>
          <p:nvPr/>
        </p:nvSpPr>
        <p:spPr>
          <a:xfrm>
            <a:off x="8141677" y="5564817"/>
            <a:ext cx="69166" cy="-3067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3" name="Shape 461"/>
          <p:cNvSpPr/>
          <p:nvPr/>
        </p:nvSpPr>
        <p:spPr>
          <a:xfrm>
            <a:off x="8210843" y="5534147"/>
            <a:ext cx="69166" cy="-2818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4" name="Shape 462"/>
          <p:cNvSpPr/>
          <p:nvPr/>
        </p:nvSpPr>
        <p:spPr>
          <a:xfrm>
            <a:off x="8280009" y="5505960"/>
            <a:ext cx="69166" cy="-21895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5" name="Shape 463"/>
          <p:cNvSpPr/>
          <p:nvPr/>
        </p:nvSpPr>
        <p:spPr>
          <a:xfrm>
            <a:off x="8349175" y="5484065"/>
            <a:ext cx="69166" cy="-1419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6" name="Shape 464"/>
          <p:cNvSpPr/>
          <p:nvPr/>
        </p:nvSpPr>
        <p:spPr>
          <a:xfrm>
            <a:off x="8418342" y="5469868"/>
            <a:ext cx="69166" cy="-7856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7" name="Shape 465"/>
          <p:cNvSpPr/>
          <p:nvPr/>
        </p:nvSpPr>
        <p:spPr>
          <a:xfrm>
            <a:off x="8487508" y="5462011"/>
            <a:ext cx="69166" cy="-493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8" name="Shape 466"/>
          <p:cNvSpPr/>
          <p:nvPr/>
        </p:nvSpPr>
        <p:spPr>
          <a:xfrm>
            <a:off x="8556674" y="5457078"/>
            <a:ext cx="69166" cy="-6141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69" name="Shape 467"/>
          <p:cNvSpPr/>
          <p:nvPr/>
        </p:nvSpPr>
        <p:spPr>
          <a:xfrm>
            <a:off x="8625840" y="5450937"/>
            <a:ext cx="69166" cy="-10849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0" name="Shape 468"/>
          <p:cNvSpPr/>
          <p:nvPr/>
        </p:nvSpPr>
        <p:spPr>
          <a:xfrm>
            <a:off x="8695006" y="5440088"/>
            <a:ext cx="69166" cy="-1756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1" name="Shape 469"/>
          <p:cNvSpPr/>
          <p:nvPr/>
        </p:nvSpPr>
        <p:spPr>
          <a:xfrm>
            <a:off x="8764172" y="5422521"/>
            <a:ext cx="69166" cy="-2453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2" name="Shape 470"/>
          <p:cNvSpPr/>
          <p:nvPr/>
        </p:nvSpPr>
        <p:spPr>
          <a:xfrm>
            <a:off x="8833338" y="5397987"/>
            <a:ext cx="69166" cy="-30134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3" name="Shape 471"/>
          <p:cNvSpPr/>
          <p:nvPr/>
        </p:nvSpPr>
        <p:spPr>
          <a:xfrm>
            <a:off x="8902505" y="5367853"/>
            <a:ext cx="69166" cy="-33109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4" name="Shape 472"/>
          <p:cNvSpPr/>
          <p:nvPr/>
        </p:nvSpPr>
        <p:spPr>
          <a:xfrm>
            <a:off x="8971671" y="5334744"/>
            <a:ext cx="69166" cy="-3263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5" name="Shape 473"/>
          <p:cNvSpPr/>
          <p:nvPr/>
        </p:nvSpPr>
        <p:spPr>
          <a:xfrm>
            <a:off x="9040837" y="5302114"/>
            <a:ext cx="69166" cy="-2836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6" name="Shape 474"/>
          <p:cNvSpPr/>
          <p:nvPr/>
        </p:nvSpPr>
        <p:spPr>
          <a:xfrm>
            <a:off x="9110003" y="5273751"/>
            <a:ext cx="69166" cy="-20516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7" name="Shape 475"/>
          <p:cNvSpPr/>
          <p:nvPr/>
        </p:nvSpPr>
        <p:spPr>
          <a:xfrm>
            <a:off x="9179169" y="5253235"/>
            <a:ext cx="69166" cy="-9828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8" name="Shape 476"/>
          <p:cNvSpPr/>
          <p:nvPr/>
        </p:nvSpPr>
        <p:spPr>
          <a:xfrm>
            <a:off x="9248335" y="5243408"/>
            <a:ext cx="69166" cy="2545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79" name="Shape 477"/>
          <p:cNvSpPr/>
          <p:nvPr/>
        </p:nvSpPr>
        <p:spPr>
          <a:xfrm>
            <a:off x="9317502" y="5245953"/>
            <a:ext cx="69166" cy="1523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0" name="Shape 478"/>
          <p:cNvSpPr/>
          <p:nvPr/>
        </p:nvSpPr>
        <p:spPr>
          <a:xfrm>
            <a:off x="9386668" y="5261190"/>
            <a:ext cx="69166" cy="2692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1" name="Shape 479"/>
          <p:cNvSpPr/>
          <p:nvPr/>
        </p:nvSpPr>
        <p:spPr>
          <a:xfrm>
            <a:off x="9455834" y="5288112"/>
            <a:ext cx="69166" cy="36538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2" name="Shape 480"/>
          <p:cNvSpPr/>
          <p:nvPr/>
        </p:nvSpPr>
        <p:spPr>
          <a:xfrm>
            <a:off x="9525000" y="5324651"/>
            <a:ext cx="69166" cy="43401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3" name="Shape 481"/>
          <p:cNvSpPr/>
          <p:nvPr/>
        </p:nvSpPr>
        <p:spPr>
          <a:xfrm>
            <a:off x="9594166" y="5368052"/>
            <a:ext cx="69166" cy="4722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4" name="Shape 482"/>
          <p:cNvSpPr/>
          <p:nvPr/>
        </p:nvSpPr>
        <p:spPr>
          <a:xfrm>
            <a:off x="9663332" y="5415275"/>
            <a:ext cx="69166" cy="4804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5" name="Shape 483"/>
          <p:cNvSpPr/>
          <p:nvPr/>
        </p:nvSpPr>
        <p:spPr>
          <a:xfrm>
            <a:off x="9732498" y="5463315"/>
            <a:ext cx="69166" cy="46103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6" name="Shape 484"/>
          <p:cNvSpPr/>
          <p:nvPr/>
        </p:nvSpPr>
        <p:spPr>
          <a:xfrm>
            <a:off x="9801665" y="5509418"/>
            <a:ext cx="69166" cy="4177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7" name="Shape 485"/>
          <p:cNvSpPr/>
          <p:nvPr/>
        </p:nvSpPr>
        <p:spPr>
          <a:xfrm>
            <a:off x="9870831" y="5551195"/>
            <a:ext cx="69166" cy="35496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8" name="Shape 486"/>
          <p:cNvSpPr/>
          <p:nvPr/>
        </p:nvSpPr>
        <p:spPr>
          <a:xfrm>
            <a:off x="9939997" y="5586692"/>
            <a:ext cx="69166" cy="27748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89" name="Shape 487"/>
          <p:cNvSpPr/>
          <p:nvPr/>
        </p:nvSpPr>
        <p:spPr>
          <a:xfrm>
            <a:off x="10009163" y="5614440"/>
            <a:ext cx="69166" cy="19097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0" name="Shape 488"/>
          <p:cNvSpPr/>
          <p:nvPr/>
        </p:nvSpPr>
        <p:spPr>
          <a:xfrm>
            <a:off x="10078329" y="5633537"/>
            <a:ext cx="69166" cy="10192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1" name="Shape 489"/>
          <p:cNvSpPr/>
          <p:nvPr/>
        </p:nvSpPr>
        <p:spPr>
          <a:xfrm>
            <a:off x="10147495" y="5643729"/>
            <a:ext cx="69166" cy="176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2" name="Shape 490"/>
          <p:cNvSpPr/>
          <p:nvPr/>
        </p:nvSpPr>
        <p:spPr>
          <a:xfrm>
            <a:off x="10216662" y="5645489"/>
            <a:ext cx="69166" cy="-5458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3" name="Shape 491"/>
          <p:cNvSpPr/>
          <p:nvPr/>
        </p:nvSpPr>
        <p:spPr>
          <a:xfrm>
            <a:off x="10285828" y="5640031"/>
            <a:ext cx="69166" cy="-10794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4" name="Shape 492"/>
          <p:cNvSpPr/>
          <p:nvPr/>
        </p:nvSpPr>
        <p:spPr>
          <a:xfrm>
            <a:off x="10354994" y="5629237"/>
            <a:ext cx="69166" cy="-13755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495" name="Shape 493"/>
          <p:cNvSpPr/>
          <p:nvPr/>
        </p:nvSpPr>
        <p:spPr>
          <a:xfrm>
            <a:off x="7726680" y="5912510"/>
            <a:ext cx="2643530" cy="0"/>
          </a:xfrm>
          <a:prstGeom prst="line">
            <a:avLst/>
          </a:prstGeom>
          <a:noFill/>
          <a:ln w="1016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96" name="Shape 494"/>
          <p:cNvSpPr/>
          <p:nvPr/>
        </p:nvSpPr>
        <p:spPr>
          <a:xfrm>
            <a:off x="7726680" y="5912510"/>
            <a:ext cx="0" cy="-1123340"/>
          </a:xfrm>
          <a:prstGeom prst="line">
            <a:avLst/>
          </a:prstGeom>
          <a:noFill/>
          <a:ln w="1016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497" name="Shape 495"/>
          <p:cNvSpPr/>
          <p:nvPr/>
        </p:nvSpPr>
        <p:spPr>
          <a:xfrm>
            <a:off x="9129370" y="5912510"/>
            <a:ext cx="0" cy="-888797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</p:sp>
      <p:sp>
        <p:nvSpPr>
          <p:cNvPr id="498" name="Text 496"/>
          <p:cNvSpPr/>
          <p:nvPr/>
        </p:nvSpPr>
        <p:spPr>
          <a:xfrm>
            <a:off x="8589874" y="5912510"/>
            <a:ext cx="107899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space</a:t>
            </a:r>
            <a:endParaRPr lang="en-US" sz="680" dirty="0"/>
          </a:p>
        </p:txBody>
      </p:sp>
      <p:sp>
        <p:nvSpPr>
          <p:cNvPr id="499" name="Text 497"/>
          <p:cNvSpPr/>
          <p:nvPr/>
        </p:nvSpPr>
        <p:spPr>
          <a:xfrm>
            <a:off x="9560966" y="5048402"/>
            <a:ext cx="755294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mean</a:t>
            </a:r>
            <a:endParaRPr lang="en-US" sz="640" dirty="0"/>
          </a:p>
        </p:txBody>
      </p:sp>
      <p:sp>
        <p:nvSpPr>
          <p:cNvPr id="500" name="Shape 498"/>
          <p:cNvSpPr/>
          <p:nvPr/>
        </p:nvSpPr>
        <p:spPr>
          <a:xfrm>
            <a:off x="9453067" y="5147158"/>
            <a:ext cx="188824" cy="0"/>
          </a:xfrm>
          <a:prstGeom prst="line">
            <a:avLst/>
          </a:prstGeom>
          <a:noFill/>
          <a:ln w="17145">
            <a:solidFill>
              <a:srgbClr val="1F3B73"/>
            </a:solidFill>
            <a:prstDash val="solid"/>
          </a:ln>
        </p:spPr>
      </p:sp>
      <p:sp>
        <p:nvSpPr>
          <p:cNvPr id="501" name="Shape 499"/>
          <p:cNvSpPr/>
          <p:nvPr/>
        </p:nvSpPr>
        <p:spPr>
          <a:xfrm>
            <a:off x="9453067" y="5258257"/>
            <a:ext cx="188824" cy="67894"/>
          </a:xfrm>
          <a:prstGeom prst="rect">
            <a:avLst/>
          </a:prstGeom>
          <a:solidFill>
            <a:srgbClr val="BBD4FF"/>
          </a:solidFill>
          <a:ln w="2540">
            <a:solidFill>
              <a:srgbClr val="BBD4FF"/>
            </a:solidFill>
            <a:prstDash val="solid"/>
          </a:ln>
        </p:spPr>
      </p:sp>
      <p:sp>
        <p:nvSpPr>
          <p:cNvPr id="502" name="Text 500"/>
          <p:cNvSpPr/>
          <p:nvPr/>
        </p:nvSpPr>
        <p:spPr>
          <a:xfrm>
            <a:off x="9668866" y="5196535"/>
            <a:ext cx="755294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predictive interval</a:t>
            </a:r>
            <a:endParaRPr lang="en-US" sz="620" dirty="0"/>
          </a:p>
        </p:txBody>
      </p:sp>
      <p:sp>
        <p:nvSpPr>
          <p:cNvPr id="503" name="Shape 501"/>
          <p:cNvSpPr/>
          <p:nvPr/>
        </p:nvSpPr>
        <p:spPr>
          <a:xfrm>
            <a:off x="7543800" y="6446520"/>
            <a:ext cx="3063240" cy="457200"/>
          </a:xfrm>
          <a:prstGeom prst="rect">
            <a:avLst/>
          </a:prstGeom>
          <a:solidFill>
            <a:srgbClr val="EEF5FF"/>
          </a:solidFill>
          <a:ln w="10160">
            <a:solidFill>
              <a:srgbClr val="9BC0EF"/>
            </a:solidFill>
            <a:prstDash val="solid"/>
          </a:ln>
        </p:spPr>
      </p:sp>
      <p:sp>
        <p:nvSpPr>
          <p:cNvPr id="504" name="Text 502"/>
          <p:cNvSpPr/>
          <p:nvPr/>
        </p:nvSpPr>
        <p:spPr>
          <a:xfrm>
            <a:off x="7607808" y="6519672"/>
            <a:ext cx="2935224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once; used without modification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all downstream analyses.</a:t>
            </a:r>
            <a:endParaRPr lang="en-US" sz="750" dirty="0"/>
          </a:p>
        </p:txBody>
      </p:sp>
      <p:sp>
        <p:nvSpPr>
          <p:cNvPr id="505" name="Text 503"/>
          <p:cNvSpPr/>
          <p:nvPr/>
        </p:nvSpPr>
        <p:spPr>
          <a:xfrm>
            <a:off x="11201400" y="201168"/>
            <a:ext cx="32004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 Downstream analyses</a:t>
            </a:r>
            <a:endParaRPr lang="en-US" sz="1300" dirty="0"/>
          </a:p>
        </p:txBody>
      </p:sp>
      <p:sp>
        <p:nvSpPr>
          <p:cNvPr id="506" name="Text 504"/>
          <p:cNvSpPr/>
          <p:nvPr/>
        </p:nvSpPr>
        <p:spPr>
          <a:xfrm>
            <a:off x="11201400" y="502920"/>
            <a:ext cx="32004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coherent applications</a:t>
            </a:r>
            <a:endParaRPr lang="en-US" sz="950" dirty="0"/>
          </a:p>
        </p:txBody>
      </p:sp>
      <p:sp>
        <p:nvSpPr>
          <p:cNvPr id="507" name="Shape 505"/>
          <p:cNvSpPr/>
          <p:nvPr/>
        </p:nvSpPr>
        <p:spPr>
          <a:xfrm>
            <a:off x="11247120" y="987552"/>
            <a:ext cx="3108960" cy="1783080"/>
          </a:xfrm>
          <a:prstGeom prst="rect">
            <a:avLst/>
          </a:prstGeom>
          <a:solidFill>
            <a:srgbClr val="F1FBFA"/>
          </a:solidFill>
          <a:ln w="11430">
            <a:solidFill>
              <a:srgbClr val="137E7C"/>
            </a:solidFill>
            <a:prstDash val="solid"/>
          </a:ln>
        </p:spPr>
      </p:sp>
      <p:sp>
        <p:nvSpPr>
          <p:cNvPr id="508" name="Shape 506"/>
          <p:cNvSpPr/>
          <p:nvPr/>
        </p:nvSpPr>
        <p:spPr>
          <a:xfrm>
            <a:off x="11384280" y="1133856"/>
            <a:ext cx="274320" cy="274320"/>
          </a:xfrm>
          <a:prstGeom prst="ellipse">
            <a:avLst/>
          </a:prstGeom>
          <a:solidFill>
            <a:srgbClr val="137E7C"/>
          </a:solidFill>
          <a:ln w="7620">
            <a:solidFill>
              <a:srgbClr val="137E7C"/>
            </a:solidFill>
            <a:prstDash val="solid"/>
          </a:ln>
        </p:spPr>
      </p:sp>
      <p:sp>
        <p:nvSpPr>
          <p:cNvPr id="509" name="Text 507"/>
          <p:cNvSpPr/>
          <p:nvPr/>
        </p:nvSpPr>
        <p:spPr>
          <a:xfrm>
            <a:off x="11384280" y="1161288"/>
            <a:ext cx="274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10" name="Text 508"/>
          <p:cNvSpPr/>
          <p:nvPr/>
        </p:nvSpPr>
        <p:spPr>
          <a:xfrm>
            <a:off x="11731752" y="1133856"/>
            <a:ext cx="2468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137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uncertainty propagation</a:t>
            </a:r>
            <a:endParaRPr lang="en-US" sz="860" dirty="0"/>
          </a:p>
        </p:txBody>
      </p:sp>
      <p:sp>
        <p:nvSpPr>
          <p:cNvPr id="511" name="Text 509"/>
          <p:cNvSpPr/>
          <p:nvPr/>
        </p:nvSpPr>
        <p:spPr>
          <a:xfrm>
            <a:off x="11704320" y="1499616"/>
            <a:ext cx="2514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 Carlo propagation through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predictive samples</a:t>
            </a:r>
            <a:endParaRPr lang="en-US" sz="720" dirty="0"/>
          </a:p>
        </p:txBody>
      </p:sp>
      <p:sp>
        <p:nvSpPr>
          <p:cNvPr id="512" name="Shape 510"/>
          <p:cNvSpPr/>
          <p:nvPr/>
        </p:nvSpPr>
        <p:spPr>
          <a:xfrm>
            <a:off x="11521440" y="2489454"/>
            <a:ext cx="731520" cy="0"/>
          </a:xfrm>
          <a:prstGeom prst="line">
            <a:avLst/>
          </a:prstGeom>
          <a:noFill/>
          <a:ln w="7620">
            <a:solidFill>
              <a:srgbClr val="102D63"/>
            </a:solidFill>
            <a:prstDash val="solid"/>
          </a:ln>
        </p:spPr>
      </p:sp>
      <p:sp>
        <p:nvSpPr>
          <p:cNvPr id="513" name="Shape 511"/>
          <p:cNvSpPr/>
          <p:nvPr/>
        </p:nvSpPr>
        <p:spPr>
          <a:xfrm>
            <a:off x="11521440" y="2489902"/>
            <a:ext cx="20901" cy="-2969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4" name="Shape 512"/>
          <p:cNvSpPr/>
          <p:nvPr/>
        </p:nvSpPr>
        <p:spPr>
          <a:xfrm>
            <a:off x="11542341" y="2486933"/>
            <a:ext cx="20901" cy="-453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5" name="Shape 513"/>
          <p:cNvSpPr/>
          <p:nvPr/>
        </p:nvSpPr>
        <p:spPr>
          <a:xfrm>
            <a:off x="11563241" y="2482400"/>
            <a:ext cx="20901" cy="-6694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6" name="Shape 514"/>
          <p:cNvSpPr/>
          <p:nvPr/>
        </p:nvSpPr>
        <p:spPr>
          <a:xfrm>
            <a:off x="11584142" y="2475707"/>
            <a:ext cx="20901" cy="-9557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7" name="Shape 515"/>
          <p:cNvSpPr/>
          <p:nvPr/>
        </p:nvSpPr>
        <p:spPr>
          <a:xfrm>
            <a:off x="11605042" y="2466150"/>
            <a:ext cx="20901" cy="-13182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8" name="Shape 516"/>
          <p:cNvSpPr/>
          <p:nvPr/>
        </p:nvSpPr>
        <p:spPr>
          <a:xfrm>
            <a:off x="11625943" y="2452968"/>
            <a:ext cx="20901" cy="-17554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19" name="Shape 517"/>
          <p:cNvSpPr/>
          <p:nvPr/>
        </p:nvSpPr>
        <p:spPr>
          <a:xfrm>
            <a:off x="11646843" y="2435414"/>
            <a:ext cx="20901" cy="-2254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0" name="Shape 518"/>
          <p:cNvSpPr/>
          <p:nvPr/>
        </p:nvSpPr>
        <p:spPr>
          <a:xfrm>
            <a:off x="11667744" y="2412871"/>
            <a:ext cx="20901" cy="-27880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1" name="Shape 519"/>
          <p:cNvSpPr/>
          <p:nvPr/>
        </p:nvSpPr>
        <p:spPr>
          <a:xfrm>
            <a:off x="11688645" y="2384991"/>
            <a:ext cx="20901" cy="-33151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2" name="Shape 520"/>
          <p:cNvSpPr/>
          <p:nvPr/>
        </p:nvSpPr>
        <p:spPr>
          <a:xfrm>
            <a:off x="11709545" y="2351840"/>
            <a:ext cx="20901" cy="-37806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3" name="Shape 521"/>
          <p:cNvSpPr/>
          <p:nvPr/>
        </p:nvSpPr>
        <p:spPr>
          <a:xfrm>
            <a:off x="11730446" y="2314034"/>
            <a:ext cx="20901" cy="-41215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4" name="Shape 522"/>
          <p:cNvSpPr/>
          <p:nvPr/>
        </p:nvSpPr>
        <p:spPr>
          <a:xfrm>
            <a:off x="11751346" y="2272819"/>
            <a:ext cx="20901" cy="-4274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5" name="Shape 523"/>
          <p:cNvSpPr/>
          <p:nvPr/>
        </p:nvSpPr>
        <p:spPr>
          <a:xfrm>
            <a:off x="11772247" y="2230076"/>
            <a:ext cx="20901" cy="-41851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6" name="Shape 524"/>
          <p:cNvSpPr/>
          <p:nvPr/>
        </p:nvSpPr>
        <p:spPr>
          <a:xfrm>
            <a:off x="11793147" y="2188225"/>
            <a:ext cx="20901" cy="-38202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7" name="Shape 525"/>
          <p:cNvSpPr/>
          <p:nvPr/>
        </p:nvSpPr>
        <p:spPr>
          <a:xfrm>
            <a:off x="11814048" y="2150022"/>
            <a:ext cx="20901" cy="-31748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8" name="Shape 526"/>
          <p:cNvSpPr/>
          <p:nvPr/>
        </p:nvSpPr>
        <p:spPr>
          <a:xfrm>
            <a:off x="11834949" y="2118275"/>
            <a:ext cx="20901" cy="-22775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29" name="Shape 527"/>
          <p:cNvSpPr/>
          <p:nvPr/>
        </p:nvSpPr>
        <p:spPr>
          <a:xfrm>
            <a:off x="11855849" y="2095500"/>
            <a:ext cx="20901" cy="-11899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0" name="Shape 528"/>
          <p:cNvSpPr/>
          <p:nvPr/>
        </p:nvSpPr>
        <p:spPr>
          <a:xfrm>
            <a:off x="11876750" y="2083601"/>
            <a:ext cx="20901" cy="0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1" name="Shape 529"/>
          <p:cNvSpPr/>
          <p:nvPr/>
        </p:nvSpPr>
        <p:spPr>
          <a:xfrm>
            <a:off x="11897650" y="2083601"/>
            <a:ext cx="20901" cy="11899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2" name="Shape 530"/>
          <p:cNvSpPr/>
          <p:nvPr/>
        </p:nvSpPr>
        <p:spPr>
          <a:xfrm>
            <a:off x="11918551" y="2095500"/>
            <a:ext cx="20901" cy="22775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3" name="Shape 531"/>
          <p:cNvSpPr/>
          <p:nvPr/>
        </p:nvSpPr>
        <p:spPr>
          <a:xfrm>
            <a:off x="11939451" y="2118275"/>
            <a:ext cx="20901" cy="31748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4" name="Shape 532"/>
          <p:cNvSpPr/>
          <p:nvPr/>
        </p:nvSpPr>
        <p:spPr>
          <a:xfrm>
            <a:off x="11960352" y="2150022"/>
            <a:ext cx="20901" cy="38202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5" name="Shape 533"/>
          <p:cNvSpPr/>
          <p:nvPr/>
        </p:nvSpPr>
        <p:spPr>
          <a:xfrm>
            <a:off x="11981253" y="2188225"/>
            <a:ext cx="20901" cy="41851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6" name="Shape 534"/>
          <p:cNvSpPr/>
          <p:nvPr/>
        </p:nvSpPr>
        <p:spPr>
          <a:xfrm>
            <a:off x="12002153" y="2230076"/>
            <a:ext cx="20901" cy="4274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7" name="Shape 535"/>
          <p:cNvSpPr/>
          <p:nvPr/>
        </p:nvSpPr>
        <p:spPr>
          <a:xfrm>
            <a:off x="12023054" y="2272819"/>
            <a:ext cx="20901" cy="41215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8" name="Shape 536"/>
          <p:cNvSpPr/>
          <p:nvPr/>
        </p:nvSpPr>
        <p:spPr>
          <a:xfrm>
            <a:off x="12043954" y="2314034"/>
            <a:ext cx="20901" cy="37806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39" name="Shape 537"/>
          <p:cNvSpPr/>
          <p:nvPr/>
        </p:nvSpPr>
        <p:spPr>
          <a:xfrm>
            <a:off x="12064855" y="2351840"/>
            <a:ext cx="20901" cy="33151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0" name="Shape 538"/>
          <p:cNvSpPr/>
          <p:nvPr/>
        </p:nvSpPr>
        <p:spPr>
          <a:xfrm>
            <a:off x="12085755" y="2384991"/>
            <a:ext cx="20901" cy="27880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1" name="Shape 539"/>
          <p:cNvSpPr/>
          <p:nvPr/>
        </p:nvSpPr>
        <p:spPr>
          <a:xfrm>
            <a:off x="12106656" y="2412871"/>
            <a:ext cx="20901" cy="2254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2" name="Shape 540"/>
          <p:cNvSpPr/>
          <p:nvPr/>
        </p:nvSpPr>
        <p:spPr>
          <a:xfrm>
            <a:off x="12127557" y="2435414"/>
            <a:ext cx="20901" cy="17554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3" name="Shape 541"/>
          <p:cNvSpPr/>
          <p:nvPr/>
        </p:nvSpPr>
        <p:spPr>
          <a:xfrm>
            <a:off x="12148457" y="2452968"/>
            <a:ext cx="20901" cy="13182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4" name="Shape 542"/>
          <p:cNvSpPr/>
          <p:nvPr/>
        </p:nvSpPr>
        <p:spPr>
          <a:xfrm>
            <a:off x="12169358" y="2466150"/>
            <a:ext cx="20901" cy="9557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5" name="Shape 543"/>
          <p:cNvSpPr/>
          <p:nvPr/>
        </p:nvSpPr>
        <p:spPr>
          <a:xfrm>
            <a:off x="12190258" y="2475707"/>
            <a:ext cx="20901" cy="6694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6" name="Shape 544"/>
          <p:cNvSpPr/>
          <p:nvPr/>
        </p:nvSpPr>
        <p:spPr>
          <a:xfrm>
            <a:off x="12211159" y="2482400"/>
            <a:ext cx="20901" cy="4533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7" name="Shape 545"/>
          <p:cNvSpPr/>
          <p:nvPr/>
        </p:nvSpPr>
        <p:spPr>
          <a:xfrm>
            <a:off x="12232059" y="2486933"/>
            <a:ext cx="20901" cy="2969"/>
          </a:xfrm>
          <a:prstGeom prst="line">
            <a:avLst/>
          </a:prstGeom>
          <a:noFill/>
          <a:ln w="13970">
            <a:solidFill>
              <a:srgbClr val="102D63"/>
            </a:solidFill>
            <a:prstDash val="solid"/>
          </a:ln>
        </p:spPr>
      </p:sp>
      <p:sp>
        <p:nvSpPr>
          <p:cNvPr id="548" name="Shape 546"/>
          <p:cNvSpPr/>
          <p:nvPr/>
        </p:nvSpPr>
        <p:spPr>
          <a:xfrm>
            <a:off x="11887200" y="2484425"/>
            <a:ext cx="0" cy="-382219"/>
          </a:xfrm>
          <a:prstGeom prst="line">
            <a:avLst/>
          </a:prstGeom>
          <a:noFill/>
          <a:ln w="8890">
            <a:solidFill>
              <a:srgbClr val="102D63"/>
            </a:solidFill>
            <a:prstDash val="solid"/>
          </a:ln>
        </p:spPr>
      </p:sp>
      <p:sp>
        <p:nvSpPr>
          <p:cNvPr id="549" name="Shape 547"/>
          <p:cNvSpPr/>
          <p:nvPr/>
        </p:nvSpPr>
        <p:spPr>
          <a:xfrm>
            <a:off x="12618720" y="2249424"/>
            <a:ext cx="301752" cy="0"/>
          </a:xfrm>
          <a:prstGeom prst="line">
            <a:avLst/>
          </a:prstGeom>
          <a:noFill/>
          <a:ln w="1524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550" name="Shape 548"/>
          <p:cNvSpPr/>
          <p:nvPr/>
        </p:nvSpPr>
        <p:spPr>
          <a:xfrm>
            <a:off x="13194792" y="2571750"/>
            <a:ext cx="1005840" cy="0"/>
          </a:xfrm>
          <a:prstGeom prst="line">
            <a:avLst/>
          </a:prstGeom>
          <a:noFill/>
          <a:ln w="7620">
            <a:solidFill>
              <a:srgbClr val="137E7C"/>
            </a:solidFill>
            <a:prstDash val="solid"/>
          </a:ln>
        </p:spPr>
      </p:sp>
      <p:sp>
        <p:nvSpPr>
          <p:cNvPr id="551" name="Shape 549"/>
          <p:cNvSpPr/>
          <p:nvPr/>
        </p:nvSpPr>
        <p:spPr>
          <a:xfrm>
            <a:off x="13194792" y="2572361"/>
            <a:ext cx="28738" cy="-404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2" name="Shape 550"/>
          <p:cNvSpPr/>
          <p:nvPr/>
        </p:nvSpPr>
        <p:spPr>
          <a:xfrm>
            <a:off x="13223530" y="2568312"/>
            <a:ext cx="28738" cy="-6181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3" name="Shape 551"/>
          <p:cNvSpPr/>
          <p:nvPr/>
        </p:nvSpPr>
        <p:spPr>
          <a:xfrm>
            <a:off x="13252269" y="2562132"/>
            <a:ext cx="28738" cy="-912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4" name="Shape 552"/>
          <p:cNvSpPr/>
          <p:nvPr/>
        </p:nvSpPr>
        <p:spPr>
          <a:xfrm>
            <a:off x="13281007" y="2553004"/>
            <a:ext cx="28738" cy="-1303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5" name="Shape 553"/>
          <p:cNvSpPr/>
          <p:nvPr/>
        </p:nvSpPr>
        <p:spPr>
          <a:xfrm>
            <a:off x="13309745" y="2539972"/>
            <a:ext cx="28738" cy="-1797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6" name="Shape 554"/>
          <p:cNvSpPr/>
          <p:nvPr/>
        </p:nvSpPr>
        <p:spPr>
          <a:xfrm>
            <a:off x="13338483" y="2521996"/>
            <a:ext cx="28738" cy="-2393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7" name="Shape 555"/>
          <p:cNvSpPr/>
          <p:nvPr/>
        </p:nvSpPr>
        <p:spPr>
          <a:xfrm>
            <a:off x="13367222" y="2498059"/>
            <a:ext cx="28738" cy="-30740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8" name="Shape 556"/>
          <p:cNvSpPr/>
          <p:nvPr/>
        </p:nvSpPr>
        <p:spPr>
          <a:xfrm>
            <a:off x="13395960" y="2467318"/>
            <a:ext cx="28738" cy="-38019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59" name="Shape 557"/>
          <p:cNvSpPr/>
          <p:nvPr/>
        </p:nvSpPr>
        <p:spPr>
          <a:xfrm>
            <a:off x="13424698" y="2429300"/>
            <a:ext cx="28738" cy="-45205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0" name="Shape 558"/>
          <p:cNvSpPr/>
          <p:nvPr/>
        </p:nvSpPr>
        <p:spPr>
          <a:xfrm>
            <a:off x="13453437" y="2384094"/>
            <a:ext cx="28738" cy="-51553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1" name="Shape 559"/>
          <p:cNvSpPr/>
          <p:nvPr/>
        </p:nvSpPr>
        <p:spPr>
          <a:xfrm>
            <a:off x="13482175" y="2332541"/>
            <a:ext cx="28738" cy="-5620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2" name="Shape 560"/>
          <p:cNvSpPr/>
          <p:nvPr/>
        </p:nvSpPr>
        <p:spPr>
          <a:xfrm>
            <a:off x="13510913" y="2276339"/>
            <a:ext cx="28738" cy="-5828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3" name="Shape 561"/>
          <p:cNvSpPr/>
          <p:nvPr/>
        </p:nvSpPr>
        <p:spPr>
          <a:xfrm>
            <a:off x="13539651" y="2218053"/>
            <a:ext cx="28738" cy="-57070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4" name="Shape 562"/>
          <p:cNvSpPr/>
          <p:nvPr/>
        </p:nvSpPr>
        <p:spPr>
          <a:xfrm>
            <a:off x="13568390" y="2160983"/>
            <a:ext cx="28738" cy="-52094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5" name="Shape 563"/>
          <p:cNvSpPr/>
          <p:nvPr/>
        </p:nvSpPr>
        <p:spPr>
          <a:xfrm>
            <a:off x="13597128" y="2108889"/>
            <a:ext cx="28738" cy="-4329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6" name="Shape 564"/>
          <p:cNvSpPr/>
          <p:nvPr/>
        </p:nvSpPr>
        <p:spPr>
          <a:xfrm>
            <a:off x="13625866" y="2065596"/>
            <a:ext cx="28738" cy="-3105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7" name="Shape 565"/>
          <p:cNvSpPr/>
          <p:nvPr/>
        </p:nvSpPr>
        <p:spPr>
          <a:xfrm>
            <a:off x="13654605" y="2034540"/>
            <a:ext cx="28738" cy="-1622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8" name="Shape 566"/>
          <p:cNvSpPr/>
          <p:nvPr/>
        </p:nvSpPr>
        <p:spPr>
          <a:xfrm>
            <a:off x="13683343" y="2018314"/>
            <a:ext cx="28738" cy="0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69" name="Shape 567"/>
          <p:cNvSpPr/>
          <p:nvPr/>
        </p:nvSpPr>
        <p:spPr>
          <a:xfrm>
            <a:off x="13712081" y="2018314"/>
            <a:ext cx="28738" cy="1622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0" name="Shape 568"/>
          <p:cNvSpPr/>
          <p:nvPr/>
        </p:nvSpPr>
        <p:spPr>
          <a:xfrm>
            <a:off x="13740819" y="2034540"/>
            <a:ext cx="28738" cy="3105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1" name="Shape 569"/>
          <p:cNvSpPr/>
          <p:nvPr/>
        </p:nvSpPr>
        <p:spPr>
          <a:xfrm>
            <a:off x="13769558" y="2065596"/>
            <a:ext cx="28738" cy="4329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2" name="Shape 570"/>
          <p:cNvSpPr/>
          <p:nvPr/>
        </p:nvSpPr>
        <p:spPr>
          <a:xfrm>
            <a:off x="13798296" y="2108889"/>
            <a:ext cx="28738" cy="52094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3" name="Shape 571"/>
          <p:cNvSpPr/>
          <p:nvPr/>
        </p:nvSpPr>
        <p:spPr>
          <a:xfrm>
            <a:off x="13827034" y="2160983"/>
            <a:ext cx="28738" cy="57070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4" name="Shape 572"/>
          <p:cNvSpPr/>
          <p:nvPr/>
        </p:nvSpPr>
        <p:spPr>
          <a:xfrm>
            <a:off x="13855773" y="2218053"/>
            <a:ext cx="28738" cy="5828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5" name="Shape 573"/>
          <p:cNvSpPr/>
          <p:nvPr/>
        </p:nvSpPr>
        <p:spPr>
          <a:xfrm>
            <a:off x="13884511" y="2276339"/>
            <a:ext cx="28738" cy="5620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6" name="Shape 574"/>
          <p:cNvSpPr/>
          <p:nvPr/>
        </p:nvSpPr>
        <p:spPr>
          <a:xfrm>
            <a:off x="13913249" y="2332541"/>
            <a:ext cx="28738" cy="51553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7" name="Shape 575"/>
          <p:cNvSpPr/>
          <p:nvPr/>
        </p:nvSpPr>
        <p:spPr>
          <a:xfrm>
            <a:off x="13941987" y="2384094"/>
            <a:ext cx="28738" cy="45205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8" name="Shape 576"/>
          <p:cNvSpPr/>
          <p:nvPr/>
        </p:nvSpPr>
        <p:spPr>
          <a:xfrm>
            <a:off x="13970726" y="2429300"/>
            <a:ext cx="28738" cy="38019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79" name="Shape 577"/>
          <p:cNvSpPr/>
          <p:nvPr/>
        </p:nvSpPr>
        <p:spPr>
          <a:xfrm>
            <a:off x="13999464" y="2467318"/>
            <a:ext cx="28738" cy="30740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0" name="Shape 578"/>
          <p:cNvSpPr/>
          <p:nvPr/>
        </p:nvSpPr>
        <p:spPr>
          <a:xfrm>
            <a:off x="14028202" y="2498059"/>
            <a:ext cx="28738" cy="2393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1" name="Shape 579"/>
          <p:cNvSpPr/>
          <p:nvPr/>
        </p:nvSpPr>
        <p:spPr>
          <a:xfrm>
            <a:off x="14056941" y="2521996"/>
            <a:ext cx="28738" cy="17976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2" name="Shape 580"/>
          <p:cNvSpPr/>
          <p:nvPr/>
        </p:nvSpPr>
        <p:spPr>
          <a:xfrm>
            <a:off x="14085679" y="2539972"/>
            <a:ext cx="28738" cy="13032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3" name="Shape 581"/>
          <p:cNvSpPr/>
          <p:nvPr/>
        </p:nvSpPr>
        <p:spPr>
          <a:xfrm>
            <a:off x="14114417" y="2553004"/>
            <a:ext cx="28738" cy="912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4" name="Shape 582"/>
          <p:cNvSpPr/>
          <p:nvPr/>
        </p:nvSpPr>
        <p:spPr>
          <a:xfrm>
            <a:off x="14143155" y="2562132"/>
            <a:ext cx="28738" cy="6181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5" name="Shape 583"/>
          <p:cNvSpPr/>
          <p:nvPr/>
        </p:nvSpPr>
        <p:spPr>
          <a:xfrm>
            <a:off x="14171894" y="2568312"/>
            <a:ext cx="28738" cy="4048"/>
          </a:xfrm>
          <a:prstGeom prst="line">
            <a:avLst/>
          </a:prstGeom>
          <a:noFill/>
          <a:ln w="13970">
            <a:solidFill>
              <a:srgbClr val="137E7C"/>
            </a:solidFill>
            <a:prstDash val="solid"/>
          </a:ln>
        </p:spPr>
      </p:sp>
      <p:sp>
        <p:nvSpPr>
          <p:cNvPr id="586" name="Shape 584"/>
          <p:cNvSpPr/>
          <p:nvPr/>
        </p:nvSpPr>
        <p:spPr>
          <a:xfrm>
            <a:off x="13697712" y="2564892"/>
            <a:ext cx="0" cy="-521208"/>
          </a:xfrm>
          <a:prstGeom prst="line">
            <a:avLst/>
          </a:prstGeom>
          <a:noFill/>
          <a:ln w="8890">
            <a:solidFill>
              <a:srgbClr val="137E7C"/>
            </a:solidFill>
            <a:prstDash val="solid"/>
          </a:ln>
        </p:spPr>
      </p:sp>
      <p:sp>
        <p:nvSpPr>
          <p:cNvPr id="587" name="Text 585"/>
          <p:cNvSpPr/>
          <p:nvPr/>
        </p:nvSpPr>
        <p:spPr>
          <a:xfrm>
            <a:off x="11512296" y="2496312"/>
            <a:ext cx="73152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</a:t>
            </a:r>
            <a:endParaRPr lang="en-US" sz="610" dirty="0"/>
          </a:p>
          <a:p>
            <a:pPr algn="ctr"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610" dirty="0"/>
          </a:p>
        </p:txBody>
      </p:sp>
      <p:sp>
        <p:nvSpPr>
          <p:cNvPr id="588" name="Text 586"/>
          <p:cNvSpPr/>
          <p:nvPr/>
        </p:nvSpPr>
        <p:spPr>
          <a:xfrm>
            <a:off x="13075920" y="2468880"/>
            <a:ext cx="1097280" cy="23774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distribution</a:t>
            </a:r>
            <a:endParaRPr lang="en-US" sz="610" dirty="0"/>
          </a:p>
          <a:p>
            <a:pPr algn="ctr"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(uncertainty quantified)</a:t>
            </a:r>
            <a:endParaRPr lang="en-US" sz="610" dirty="0"/>
          </a:p>
        </p:txBody>
      </p:sp>
      <p:sp>
        <p:nvSpPr>
          <p:cNvPr id="589" name="Shape 587"/>
          <p:cNvSpPr/>
          <p:nvPr/>
        </p:nvSpPr>
        <p:spPr>
          <a:xfrm>
            <a:off x="11247120" y="3017520"/>
            <a:ext cx="3108960" cy="1783080"/>
          </a:xfrm>
          <a:prstGeom prst="rect">
            <a:avLst/>
          </a:prstGeom>
          <a:solidFill>
            <a:srgbClr val="F8F3FF"/>
          </a:solidFill>
          <a:ln w="11430">
            <a:solidFill>
              <a:srgbClr val="6A3D9A"/>
            </a:solidFill>
            <a:prstDash val="solid"/>
          </a:ln>
        </p:spPr>
      </p:sp>
      <p:sp>
        <p:nvSpPr>
          <p:cNvPr id="590" name="Shape 588"/>
          <p:cNvSpPr/>
          <p:nvPr/>
        </p:nvSpPr>
        <p:spPr>
          <a:xfrm>
            <a:off x="11384280" y="3163824"/>
            <a:ext cx="274320" cy="274320"/>
          </a:xfrm>
          <a:prstGeom prst="ellipse">
            <a:avLst/>
          </a:prstGeom>
          <a:solidFill>
            <a:srgbClr val="6A3D9A"/>
          </a:solidFill>
          <a:ln w="7620">
            <a:solidFill>
              <a:srgbClr val="6A3D9A"/>
            </a:solidFill>
            <a:prstDash val="solid"/>
          </a:ln>
        </p:spPr>
      </p:sp>
      <p:sp>
        <p:nvSpPr>
          <p:cNvPr id="591" name="Text 589"/>
          <p:cNvSpPr/>
          <p:nvPr/>
        </p:nvSpPr>
        <p:spPr>
          <a:xfrm>
            <a:off x="11384280" y="3191256"/>
            <a:ext cx="274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92" name="Text 590"/>
          <p:cNvSpPr/>
          <p:nvPr/>
        </p:nvSpPr>
        <p:spPr>
          <a:xfrm>
            <a:off x="11731752" y="3163824"/>
            <a:ext cx="2468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6A3D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Variance-based sensitivity attribution</a:t>
            </a:r>
            <a:endParaRPr lang="en-US" sz="860" dirty="0"/>
          </a:p>
        </p:txBody>
      </p:sp>
      <p:sp>
        <p:nvSpPr>
          <p:cNvPr id="593" name="Text 591"/>
          <p:cNvSpPr/>
          <p:nvPr/>
        </p:nvSpPr>
        <p:spPr>
          <a:xfrm>
            <a:off x="11704320" y="3529584"/>
            <a:ext cx="2514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Sobol S1 and ST indices</a:t>
            </a:r>
            <a:endParaRPr lang="en-US" sz="720" dirty="0"/>
          </a:p>
        </p:txBody>
      </p:sp>
      <p:sp>
        <p:nvSpPr>
          <p:cNvPr id="594" name="Shape 592"/>
          <p:cNvSpPr/>
          <p:nvPr/>
        </p:nvSpPr>
        <p:spPr>
          <a:xfrm>
            <a:off x="11622024" y="4572000"/>
            <a:ext cx="1508760" cy="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</p:sp>
      <p:sp>
        <p:nvSpPr>
          <p:cNvPr id="595" name="Shape 593"/>
          <p:cNvSpPr/>
          <p:nvPr/>
        </p:nvSpPr>
        <p:spPr>
          <a:xfrm>
            <a:off x="11622024" y="4572000"/>
            <a:ext cx="0" cy="-685800"/>
          </a:xfrm>
          <a:prstGeom prst="line">
            <a:avLst/>
          </a:prstGeom>
          <a:noFill/>
          <a:ln w="7620">
            <a:solidFill>
              <a:srgbClr val="1F2937"/>
            </a:solidFill>
            <a:prstDash val="solid"/>
          </a:ln>
        </p:spPr>
      </p:sp>
      <p:sp>
        <p:nvSpPr>
          <p:cNvPr id="596" name="Shape 594"/>
          <p:cNvSpPr/>
          <p:nvPr/>
        </p:nvSpPr>
        <p:spPr>
          <a:xfrm>
            <a:off x="11803075" y="4037076"/>
            <a:ext cx="52807" cy="534924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597" name="Shape 595"/>
          <p:cNvSpPr/>
          <p:nvPr/>
        </p:nvSpPr>
        <p:spPr>
          <a:xfrm>
            <a:off x="11867952" y="4117315"/>
            <a:ext cx="52807" cy="454685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598" name="Shape 596"/>
          <p:cNvSpPr/>
          <p:nvPr/>
        </p:nvSpPr>
        <p:spPr>
          <a:xfrm>
            <a:off x="11999214" y="4174236"/>
            <a:ext cx="52807" cy="397764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599" name="Shape 597"/>
          <p:cNvSpPr/>
          <p:nvPr/>
        </p:nvSpPr>
        <p:spPr>
          <a:xfrm>
            <a:off x="12064091" y="4233901"/>
            <a:ext cx="52807" cy="338099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600" name="Shape 598"/>
          <p:cNvSpPr/>
          <p:nvPr/>
        </p:nvSpPr>
        <p:spPr>
          <a:xfrm>
            <a:off x="12195353" y="4475988"/>
            <a:ext cx="52807" cy="96012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601" name="Shape 599"/>
          <p:cNvSpPr/>
          <p:nvPr/>
        </p:nvSpPr>
        <p:spPr>
          <a:xfrm>
            <a:off x="12260229" y="4490390"/>
            <a:ext cx="52807" cy="81610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602" name="Shape 600"/>
          <p:cNvSpPr/>
          <p:nvPr/>
        </p:nvSpPr>
        <p:spPr>
          <a:xfrm>
            <a:off x="12391492" y="4366260"/>
            <a:ext cx="52807" cy="205740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603" name="Shape 601"/>
          <p:cNvSpPr/>
          <p:nvPr/>
        </p:nvSpPr>
        <p:spPr>
          <a:xfrm>
            <a:off x="12456368" y="4397121"/>
            <a:ext cx="52807" cy="174879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604" name="Shape 602"/>
          <p:cNvSpPr/>
          <p:nvPr/>
        </p:nvSpPr>
        <p:spPr>
          <a:xfrm>
            <a:off x="12587630" y="4448556"/>
            <a:ext cx="52807" cy="123444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605" name="Shape 603"/>
          <p:cNvSpPr/>
          <p:nvPr/>
        </p:nvSpPr>
        <p:spPr>
          <a:xfrm>
            <a:off x="12652507" y="4467073"/>
            <a:ext cx="52807" cy="104927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606" name="Shape 604"/>
          <p:cNvSpPr/>
          <p:nvPr/>
        </p:nvSpPr>
        <p:spPr>
          <a:xfrm>
            <a:off x="12783769" y="4517136"/>
            <a:ext cx="52807" cy="54864"/>
          </a:xfrm>
          <a:prstGeom prst="rect">
            <a:avLst/>
          </a:prstGeom>
          <a:solidFill>
            <a:srgbClr val="6A3D9A"/>
          </a:solidFill>
          <a:ln w="12700">
            <a:solidFill>
              <a:srgbClr val="6A3D9A"/>
            </a:solidFill>
            <a:prstDash val="solid"/>
          </a:ln>
        </p:spPr>
      </p:sp>
      <p:sp>
        <p:nvSpPr>
          <p:cNvPr id="607" name="Shape 605"/>
          <p:cNvSpPr/>
          <p:nvPr/>
        </p:nvSpPr>
        <p:spPr>
          <a:xfrm>
            <a:off x="12848646" y="4525366"/>
            <a:ext cx="52807" cy="46634"/>
          </a:xfrm>
          <a:prstGeom prst="rect">
            <a:avLst/>
          </a:prstGeom>
          <a:solidFill>
            <a:srgbClr val="607D9E"/>
          </a:solidFill>
          <a:ln w="12700">
            <a:solidFill>
              <a:srgbClr val="607D9E"/>
            </a:solidFill>
            <a:prstDash val="solid"/>
          </a:ln>
        </p:spPr>
      </p:sp>
      <p:sp>
        <p:nvSpPr>
          <p:cNvPr id="608" name="Text 606"/>
          <p:cNvSpPr/>
          <p:nvPr/>
        </p:nvSpPr>
        <p:spPr>
          <a:xfrm>
            <a:off x="11457432" y="4096512"/>
            <a:ext cx="137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6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Sobol index</a:t>
            </a:r>
            <a:endParaRPr lang="en-US" sz="560" dirty="0"/>
          </a:p>
        </p:txBody>
      </p:sp>
      <p:sp>
        <p:nvSpPr>
          <p:cNvPr id="609" name="Text 607"/>
          <p:cNvSpPr/>
          <p:nvPr/>
        </p:nvSpPr>
        <p:spPr>
          <a:xfrm>
            <a:off x="11932920" y="4572000"/>
            <a:ext cx="91440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parameters</a:t>
            </a:r>
            <a:endParaRPr lang="en-US" sz="580" dirty="0"/>
          </a:p>
        </p:txBody>
      </p:sp>
      <p:sp>
        <p:nvSpPr>
          <p:cNvPr id="610" name="Shape 608"/>
          <p:cNvSpPr/>
          <p:nvPr/>
        </p:nvSpPr>
        <p:spPr>
          <a:xfrm>
            <a:off x="13286232" y="4005072"/>
            <a:ext cx="109728" cy="109728"/>
          </a:xfrm>
          <a:prstGeom prst="rect">
            <a:avLst/>
          </a:prstGeom>
          <a:solidFill>
            <a:srgbClr val="6A3D9A"/>
          </a:solidFill>
          <a:ln w="1270">
            <a:solidFill>
              <a:srgbClr val="6A3D9A"/>
            </a:solidFill>
            <a:prstDash val="solid"/>
          </a:ln>
        </p:spPr>
      </p:sp>
      <p:sp>
        <p:nvSpPr>
          <p:cNvPr id="611" name="Text 609"/>
          <p:cNvSpPr/>
          <p:nvPr/>
        </p:nvSpPr>
        <p:spPr>
          <a:xfrm>
            <a:off x="13441680" y="3968496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(first-order)</a:t>
            </a:r>
            <a:endParaRPr lang="en-US" sz="580" dirty="0"/>
          </a:p>
        </p:txBody>
      </p:sp>
      <p:sp>
        <p:nvSpPr>
          <p:cNvPr id="612" name="Shape 610"/>
          <p:cNvSpPr/>
          <p:nvPr/>
        </p:nvSpPr>
        <p:spPr>
          <a:xfrm>
            <a:off x="13286232" y="4233672"/>
            <a:ext cx="109728" cy="109728"/>
          </a:xfrm>
          <a:prstGeom prst="rect">
            <a:avLst/>
          </a:prstGeom>
          <a:solidFill>
            <a:srgbClr val="607D9E"/>
          </a:solidFill>
          <a:ln w="1270">
            <a:solidFill>
              <a:srgbClr val="607D9E"/>
            </a:solidFill>
            <a:prstDash val="solid"/>
          </a:ln>
        </p:spPr>
      </p:sp>
      <p:sp>
        <p:nvSpPr>
          <p:cNvPr id="613" name="Text 611"/>
          <p:cNvSpPr/>
          <p:nvPr/>
        </p:nvSpPr>
        <p:spPr>
          <a:xfrm>
            <a:off x="13441680" y="4197096"/>
            <a:ext cx="68580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(total-order)</a:t>
            </a:r>
            <a:endParaRPr lang="en-US" sz="580" dirty="0"/>
          </a:p>
        </p:txBody>
      </p:sp>
      <p:sp>
        <p:nvSpPr>
          <p:cNvPr id="614" name="Shape 612"/>
          <p:cNvSpPr/>
          <p:nvPr/>
        </p:nvSpPr>
        <p:spPr>
          <a:xfrm>
            <a:off x="11247120" y="5047488"/>
            <a:ext cx="3108960" cy="1783080"/>
          </a:xfrm>
          <a:prstGeom prst="rect">
            <a:avLst/>
          </a:prstGeom>
          <a:solidFill>
            <a:srgbClr val="FFF3EA"/>
          </a:solidFill>
          <a:ln w="11430">
            <a:solidFill>
              <a:srgbClr val="D95F02"/>
            </a:solidFill>
            <a:prstDash val="solid"/>
          </a:ln>
        </p:spPr>
      </p:sp>
      <p:sp>
        <p:nvSpPr>
          <p:cNvPr id="615" name="Shape 613"/>
          <p:cNvSpPr/>
          <p:nvPr/>
        </p:nvSpPr>
        <p:spPr>
          <a:xfrm>
            <a:off x="11384280" y="5193792"/>
            <a:ext cx="274320" cy="274320"/>
          </a:xfrm>
          <a:prstGeom prst="ellipse">
            <a:avLst/>
          </a:prstGeom>
          <a:solidFill>
            <a:srgbClr val="D95F02"/>
          </a:solidFill>
          <a:ln w="7620">
            <a:solidFill>
              <a:srgbClr val="D95F02"/>
            </a:solidFill>
            <a:prstDash val="solid"/>
          </a:ln>
        </p:spPr>
      </p:sp>
      <p:sp>
        <p:nvSpPr>
          <p:cNvPr id="616" name="Text 614"/>
          <p:cNvSpPr/>
          <p:nvPr/>
        </p:nvSpPr>
        <p:spPr>
          <a:xfrm>
            <a:off x="11384280" y="5221224"/>
            <a:ext cx="2743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617" name="Text 615"/>
          <p:cNvSpPr/>
          <p:nvPr/>
        </p:nvSpPr>
        <p:spPr>
          <a:xfrm>
            <a:off x="11731752" y="5193792"/>
            <a:ext cx="24688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Observation-conditioned</a:t>
            </a:r>
            <a:endParaRPr lang="en-US" sz="860" dirty="0"/>
          </a:p>
          <a:p>
            <a:pPr algn="l" indent="0" marL="0">
              <a:buNone/>
            </a:pPr>
            <a:r>
              <a:rPr lang="en-US" sz="860" b="1" dirty="0">
                <a:solidFill>
                  <a:srgbClr val="D95F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 calibration</a:t>
            </a:r>
            <a:endParaRPr lang="en-US" sz="860" dirty="0"/>
          </a:p>
        </p:txBody>
      </p:sp>
      <p:sp>
        <p:nvSpPr>
          <p:cNvPr id="618" name="Text 616"/>
          <p:cNvSpPr/>
          <p:nvPr/>
        </p:nvSpPr>
        <p:spPr>
          <a:xfrm>
            <a:off x="11704320" y="5559552"/>
            <a:ext cx="251460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MCMC parameter updating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HF observations</a:t>
            </a:r>
            <a:endParaRPr lang="en-US" sz="720" dirty="0"/>
          </a:p>
        </p:txBody>
      </p:sp>
      <p:sp>
        <p:nvSpPr>
          <p:cNvPr id="619" name="Shape 617"/>
          <p:cNvSpPr/>
          <p:nvPr/>
        </p:nvSpPr>
        <p:spPr>
          <a:xfrm>
            <a:off x="12588545" y="6327648"/>
            <a:ext cx="416966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  <a:tailEnd type="triangle"/>
          </a:ln>
        </p:spPr>
      </p:sp>
      <p:sp>
        <p:nvSpPr>
          <p:cNvPr id="620" name="Shape 618"/>
          <p:cNvSpPr/>
          <p:nvPr/>
        </p:nvSpPr>
        <p:spPr>
          <a:xfrm>
            <a:off x="11624310" y="6093562"/>
            <a:ext cx="729691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A9B8D6"/>
            </a:solidFill>
            <a:prstDash val="solid"/>
          </a:ln>
        </p:spPr>
      </p:sp>
      <p:sp>
        <p:nvSpPr>
          <p:cNvPr id="621" name="Shape 619"/>
          <p:cNvSpPr/>
          <p:nvPr/>
        </p:nvSpPr>
        <p:spPr>
          <a:xfrm>
            <a:off x="13187934" y="6144768"/>
            <a:ext cx="677570" cy="277978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95F02"/>
            </a:solidFill>
            <a:prstDash val="solid"/>
          </a:ln>
        </p:spPr>
      </p:sp>
      <p:sp>
        <p:nvSpPr>
          <p:cNvPr id="622" name="Shape 620"/>
          <p:cNvSpPr/>
          <p:nvPr/>
        </p:nvSpPr>
        <p:spPr>
          <a:xfrm>
            <a:off x="11715521" y="6115507"/>
            <a:ext cx="729691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A9B8D6"/>
            </a:solidFill>
            <a:prstDash val="solid"/>
          </a:ln>
        </p:spPr>
      </p:sp>
      <p:sp>
        <p:nvSpPr>
          <p:cNvPr id="623" name="Shape 621"/>
          <p:cNvSpPr/>
          <p:nvPr/>
        </p:nvSpPr>
        <p:spPr>
          <a:xfrm>
            <a:off x="13253085" y="6159398"/>
            <a:ext cx="677570" cy="277978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95F02"/>
            </a:solidFill>
            <a:prstDash val="solid"/>
          </a:ln>
        </p:spPr>
      </p:sp>
      <p:sp>
        <p:nvSpPr>
          <p:cNvPr id="624" name="Shape 622"/>
          <p:cNvSpPr/>
          <p:nvPr/>
        </p:nvSpPr>
        <p:spPr>
          <a:xfrm>
            <a:off x="11806733" y="6137453"/>
            <a:ext cx="729691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A9B8D6"/>
            </a:solidFill>
            <a:prstDash val="solid"/>
          </a:ln>
        </p:spPr>
      </p:sp>
      <p:sp>
        <p:nvSpPr>
          <p:cNvPr id="625" name="Shape 623"/>
          <p:cNvSpPr/>
          <p:nvPr/>
        </p:nvSpPr>
        <p:spPr>
          <a:xfrm>
            <a:off x="13318236" y="6174029"/>
            <a:ext cx="677570" cy="277978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95F02"/>
            </a:solidFill>
            <a:prstDash val="solid"/>
          </a:ln>
        </p:spPr>
      </p:sp>
      <p:sp>
        <p:nvSpPr>
          <p:cNvPr id="626" name="Shape 624"/>
          <p:cNvSpPr/>
          <p:nvPr/>
        </p:nvSpPr>
        <p:spPr>
          <a:xfrm>
            <a:off x="11897944" y="6159398"/>
            <a:ext cx="729691" cy="329184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A9B8D6"/>
            </a:solidFill>
            <a:prstDash val="solid"/>
          </a:ln>
        </p:spPr>
      </p:sp>
      <p:sp>
        <p:nvSpPr>
          <p:cNvPr id="627" name="Shape 625"/>
          <p:cNvSpPr/>
          <p:nvPr/>
        </p:nvSpPr>
        <p:spPr>
          <a:xfrm>
            <a:off x="13383387" y="6188659"/>
            <a:ext cx="677570" cy="277978"/>
          </a:xfrm>
          <a:prstGeom prst="ellipse">
            <a:avLst/>
          </a:prstGeom>
          <a:solidFill>
            <a:srgbClr val="FFFFFF">
              <a:alpha val="0"/>
            </a:srgbClr>
          </a:solidFill>
          <a:ln w="10160">
            <a:solidFill>
              <a:srgbClr val="D95F02"/>
            </a:solidFill>
            <a:prstDash val="solid"/>
          </a:ln>
        </p:spPr>
      </p:sp>
      <p:sp>
        <p:nvSpPr>
          <p:cNvPr id="628" name="Shape 626"/>
          <p:cNvSpPr/>
          <p:nvPr/>
        </p:nvSpPr>
        <p:spPr>
          <a:xfrm>
            <a:off x="11910974" y="6254496"/>
            <a:ext cx="156362" cy="73152"/>
          </a:xfrm>
          <a:prstGeom prst="ellipse">
            <a:avLst/>
          </a:prstGeom>
          <a:solidFill>
            <a:srgbClr val="667085"/>
          </a:solidFill>
          <a:ln w="6350">
            <a:solidFill>
              <a:srgbClr val="667085"/>
            </a:solidFill>
            <a:prstDash val="solid"/>
          </a:ln>
        </p:spPr>
      </p:sp>
      <p:sp>
        <p:nvSpPr>
          <p:cNvPr id="629" name="Shape 627"/>
          <p:cNvSpPr/>
          <p:nvPr/>
        </p:nvSpPr>
        <p:spPr>
          <a:xfrm>
            <a:off x="13448538" y="6313018"/>
            <a:ext cx="156362" cy="58522"/>
          </a:xfrm>
          <a:prstGeom prst="star5">
            <a:avLst/>
          </a:prstGeom>
          <a:solidFill>
            <a:srgbClr val="D95F02"/>
          </a:solidFill>
          <a:ln w="6350">
            <a:solidFill>
              <a:srgbClr val="D95F02"/>
            </a:solidFill>
            <a:prstDash val="solid"/>
          </a:ln>
        </p:spPr>
      </p:sp>
      <p:sp>
        <p:nvSpPr>
          <p:cNvPr id="630" name="Text 628"/>
          <p:cNvSpPr/>
          <p:nvPr/>
        </p:nvSpPr>
        <p:spPr>
          <a:xfrm>
            <a:off x="11702491" y="6583680"/>
            <a:ext cx="625450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</a:t>
            </a:r>
            <a:endParaRPr lang="en-US" sz="620" dirty="0"/>
          </a:p>
        </p:txBody>
      </p:sp>
      <p:sp>
        <p:nvSpPr>
          <p:cNvPr id="631" name="Text 629"/>
          <p:cNvSpPr/>
          <p:nvPr/>
        </p:nvSpPr>
        <p:spPr>
          <a:xfrm>
            <a:off x="13161874" y="6583680"/>
            <a:ext cx="886054" cy="137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Posterior</a:t>
            </a:r>
            <a:endParaRPr lang="en-US" sz="620" dirty="0"/>
          </a:p>
        </p:txBody>
      </p:sp>
      <p:sp>
        <p:nvSpPr>
          <p:cNvPr id="632" name="Shape 630"/>
          <p:cNvSpPr/>
          <p:nvPr/>
        </p:nvSpPr>
        <p:spPr>
          <a:xfrm>
            <a:off x="10881360" y="1874520"/>
            <a:ext cx="228600" cy="0"/>
          </a:xfrm>
          <a:prstGeom prst="line">
            <a:avLst/>
          </a:prstGeom>
          <a:noFill/>
          <a:ln w="1905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633" name="Shape 631"/>
          <p:cNvSpPr/>
          <p:nvPr/>
        </p:nvSpPr>
        <p:spPr>
          <a:xfrm>
            <a:off x="10881360" y="3794760"/>
            <a:ext cx="228600" cy="0"/>
          </a:xfrm>
          <a:prstGeom prst="line">
            <a:avLst/>
          </a:prstGeom>
          <a:noFill/>
          <a:ln w="1905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634" name="Shape 632"/>
          <p:cNvSpPr/>
          <p:nvPr/>
        </p:nvSpPr>
        <p:spPr>
          <a:xfrm>
            <a:off x="10881360" y="5806440"/>
            <a:ext cx="228600" cy="0"/>
          </a:xfrm>
          <a:prstGeom prst="line">
            <a:avLst/>
          </a:prstGeom>
          <a:noFill/>
          <a:ln w="19050">
            <a:solidFill>
              <a:srgbClr val="102D63"/>
            </a:solidFill>
            <a:prstDash val="solid"/>
            <a:tailEnd type="triangle"/>
          </a:ln>
        </p:spPr>
      </p:sp>
      <p:sp>
        <p:nvSpPr>
          <p:cNvPr id="635" name="Shape 633"/>
          <p:cNvSpPr/>
          <p:nvPr/>
        </p:nvSpPr>
        <p:spPr>
          <a:xfrm>
            <a:off x="10872216" y="1874520"/>
            <a:ext cx="0" cy="3931920"/>
          </a:xfrm>
          <a:prstGeom prst="line">
            <a:avLst/>
          </a:prstGeom>
          <a:noFill/>
          <a:ln w="15240">
            <a:solidFill>
              <a:srgbClr val="102D63"/>
            </a:solidFill>
            <a:prstDash val="solid"/>
          </a:ln>
        </p:spPr>
      </p:sp>
      <p:sp>
        <p:nvSpPr>
          <p:cNvPr id="636" name="Shape 634"/>
          <p:cNvSpPr/>
          <p:nvPr/>
        </p:nvSpPr>
        <p:spPr>
          <a:xfrm>
            <a:off x="1874520" y="7470648"/>
            <a:ext cx="10881360" cy="502920"/>
          </a:xfrm>
          <a:prstGeom prst="rect">
            <a:avLst/>
          </a:prstGeom>
          <a:solidFill>
            <a:srgbClr val="EEF4FB"/>
          </a:solidFill>
          <a:ln w="10160">
            <a:solidFill>
              <a:srgbClr val="C6D6EA"/>
            </a:solidFill>
            <a:prstDash val="solid"/>
          </a:ln>
        </p:spPr>
      </p:sp>
      <p:sp>
        <p:nvSpPr>
          <p:cNvPr id="637" name="Text 635"/>
          <p:cNvSpPr/>
          <p:nvPr/>
        </p:nvSpPr>
        <p:spPr>
          <a:xfrm>
            <a:off x="2011680" y="7580376"/>
            <a:ext cx="10561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role of the surrogate: </a:t>
            </a:r>
            <a:pPr algn="ctr" indent="0" marL="0">
              <a:buNone/>
            </a:pPr>
            <a:r>
              <a:rPr lang="en-US" sz="910" dirty="0">
                <a:solidFill>
                  <a:srgbClr val="102D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unified posterior predictive layer enabling forward uncertainty propagation, variance-based attribution, and observation-conditioned posterior updating.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1 Workflow - editable vector PPT</dc:title>
  <dc:subject>Editable Figure 1 workflow</dc:subject>
  <dc:creator>OpenAI</dc:creator>
  <cp:lastModifiedBy>OpenAI</cp:lastModifiedBy>
  <cp:revision>1</cp:revision>
  <dcterms:created xsi:type="dcterms:W3CDTF">2026-04-25T01:19:35Z</dcterms:created>
  <dcterms:modified xsi:type="dcterms:W3CDTF">2026-04-25T01:19:35Z</dcterms:modified>
</cp:coreProperties>
</file>