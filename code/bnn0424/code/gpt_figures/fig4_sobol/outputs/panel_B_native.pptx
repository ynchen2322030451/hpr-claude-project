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181079" cy="29923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81079" cy="2992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1058" y="333888"/>
            <a:ext cx="2480310" cy="22530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852143" y="333888"/>
            <a:ext cx="0" cy="2253082"/>
          </a:xfrm>
          <a:custGeom>
            <a:avLst/>
            <a:gdLst/>
            <a:ahLst/>
            <a:cxnLst/>
            <a:rect l="l" t="t" r="r" b="b"/>
            <a:pathLst>
              <a:path w="0" h="2253082">
                <a:moveTo>
                  <a:pt x="0" y="225308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2143" y="733417"/>
            <a:ext cx="609199" cy="144092"/>
          </a:xfrm>
          <a:prstGeom prst="rect">
            <a:avLst/>
          </a:prstGeom>
          <a:solidFill>
            <a:srgbClr val="F2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2143" y="1257390"/>
            <a:ext cx="2045168" cy="144092"/>
          </a:xfrm>
          <a:prstGeom prst="rect">
            <a:avLst/>
          </a:prstGeom>
          <a:solidFill>
            <a:srgbClr val="F2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2143" y="1519376"/>
            <a:ext cx="826770" cy="144092"/>
          </a:xfrm>
          <a:prstGeom prst="rect">
            <a:avLst/>
          </a:prstGeom>
          <a:solidFill>
            <a:srgbClr val="F2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2143" y="1781362"/>
            <a:ext cx="391628" cy="144092"/>
          </a:xfrm>
          <a:prstGeom prst="rect">
            <a:avLst/>
          </a:prstGeom>
          <a:solidFill>
            <a:srgbClr val="F2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2143" y="2043348"/>
            <a:ext cx="195814" cy="144092"/>
          </a:xfrm>
          <a:prstGeom prst="rect">
            <a:avLst/>
          </a:prstGeom>
          <a:solidFill>
            <a:srgbClr val="F2D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852143" y="258697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2143" y="261250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0.0</a:t>
            </a:r>
          </a:p>
        </p:txBody>
      </p:sp>
      <p:sp>
        <p:nvSpPr>
          <p:cNvPr id="12" name="Freeform 11"/>
          <p:cNvSpPr/>
          <p:nvPr/>
        </p:nvSpPr>
        <p:spPr>
          <a:xfrm>
            <a:off x="1287285" y="258697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7285" y="261250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0.2</a:t>
            </a:r>
          </a:p>
        </p:txBody>
      </p:sp>
      <p:sp>
        <p:nvSpPr>
          <p:cNvPr id="14" name="Freeform 13"/>
          <p:cNvSpPr/>
          <p:nvPr/>
        </p:nvSpPr>
        <p:spPr>
          <a:xfrm>
            <a:off x="1722427" y="258697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22427" y="261250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0.4</a:t>
            </a:r>
          </a:p>
        </p:txBody>
      </p:sp>
      <p:sp>
        <p:nvSpPr>
          <p:cNvPr id="16" name="Freeform 15"/>
          <p:cNvSpPr/>
          <p:nvPr/>
        </p:nvSpPr>
        <p:spPr>
          <a:xfrm>
            <a:off x="2157570" y="258697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57570" y="261250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0.6</a:t>
            </a:r>
          </a:p>
        </p:txBody>
      </p:sp>
      <p:sp>
        <p:nvSpPr>
          <p:cNvPr id="18" name="Freeform 17"/>
          <p:cNvSpPr/>
          <p:nvPr/>
        </p:nvSpPr>
        <p:spPr>
          <a:xfrm>
            <a:off x="2592712" y="258697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2712" y="261250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0.8</a:t>
            </a:r>
          </a:p>
        </p:txBody>
      </p:sp>
      <p:sp>
        <p:nvSpPr>
          <p:cNvPr id="20" name="Freeform 19"/>
          <p:cNvSpPr/>
          <p:nvPr/>
        </p:nvSpPr>
        <p:spPr>
          <a:xfrm>
            <a:off x="3027854" y="258697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27854" y="261250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31213" y="2753695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Sobol 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33" y="448926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E intercept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49" y="710912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E slope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6824" y="972266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129" y="1234252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α 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0571" y="1496426"/>
            <a:ext cx="660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α slope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07" y="1758225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k reference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" y="2020211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T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810" y="2282197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α diff</a:t>
            </a:r>
          </a:p>
        </p:txBody>
      </p:sp>
      <p:sp>
        <p:nvSpPr>
          <p:cNvPr id="31" name="Freeform 30"/>
          <p:cNvSpPr/>
          <p:nvPr/>
        </p:nvSpPr>
        <p:spPr>
          <a:xfrm>
            <a:off x="591058" y="333888"/>
            <a:ext cx="0" cy="2253082"/>
          </a:xfrm>
          <a:custGeom>
            <a:avLst/>
            <a:gdLst/>
            <a:ahLst/>
            <a:cxnLst/>
            <a:rect l="l" t="t" r="r" b="b"/>
            <a:pathLst>
              <a:path w="0" h="2253082">
                <a:moveTo>
                  <a:pt x="0" y="2253082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91058" y="2586970"/>
            <a:ext cx="2480310" cy="0"/>
          </a:xfrm>
          <a:custGeom>
            <a:avLst/>
            <a:gdLst/>
            <a:ahLst/>
            <a:cxnLst/>
            <a:rect l="l" t="t" r="r" b="b"/>
            <a:pathLst>
              <a:path w="2480310" h="0">
                <a:moveTo>
                  <a:pt x="0" y="0"/>
                </a:moveTo>
                <a:lnTo>
                  <a:pt x="248031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721601" y="543477"/>
            <a:ext cx="391628" cy="0"/>
          </a:xfrm>
          <a:custGeom>
            <a:avLst/>
            <a:gdLst/>
            <a:ahLst/>
            <a:cxnLst/>
            <a:rect l="l" t="t" r="r" b="b"/>
            <a:pathLst>
              <a:path w="391628" h="0">
                <a:moveTo>
                  <a:pt x="0" y="0"/>
                </a:moveTo>
                <a:lnTo>
                  <a:pt x="391628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721601" y="505377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113229" y="505377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786872" y="805464"/>
            <a:ext cx="239328" cy="0"/>
          </a:xfrm>
          <a:custGeom>
            <a:avLst/>
            <a:gdLst/>
            <a:ahLst/>
            <a:cxnLst/>
            <a:rect l="l" t="t" r="r" b="b"/>
            <a:pathLst>
              <a:path w="239328" h="0">
                <a:moveTo>
                  <a:pt x="0" y="0"/>
                </a:moveTo>
                <a:lnTo>
                  <a:pt x="239328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786872" y="767364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026200" y="767364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721601" y="1067450"/>
            <a:ext cx="326356" cy="0"/>
          </a:xfrm>
          <a:custGeom>
            <a:avLst/>
            <a:gdLst/>
            <a:ahLst/>
            <a:cxnLst/>
            <a:rect l="l" t="t" r="r" b="b"/>
            <a:pathLst>
              <a:path w="326356" h="0">
                <a:moveTo>
                  <a:pt x="0" y="0"/>
                </a:moveTo>
                <a:lnTo>
                  <a:pt x="326356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21601" y="102935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047957" y="102935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288112" y="1329436"/>
            <a:ext cx="543928" cy="0"/>
          </a:xfrm>
          <a:custGeom>
            <a:avLst/>
            <a:gdLst/>
            <a:ahLst/>
            <a:cxnLst/>
            <a:rect l="l" t="t" r="r" b="b"/>
            <a:pathLst>
              <a:path w="543928" h="0">
                <a:moveTo>
                  <a:pt x="0" y="0"/>
                </a:moveTo>
                <a:lnTo>
                  <a:pt x="543928" y="0"/>
                </a:lnTo>
                <a:close/>
              </a:path>
            </a:pathLst>
          </a:custGeom>
          <a:noFill/>
          <a:ln w="1270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288112" y="129133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C4713B"/>
          </a:solidFill>
          <a:ln w="1270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832040" y="1291336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C4713B"/>
          </a:solidFill>
          <a:ln w="1270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026200" y="1591422"/>
            <a:ext cx="435142" cy="0"/>
          </a:xfrm>
          <a:custGeom>
            <a:avLst/>
            <a:gdLst/>
            <a:ahLst/>
            <a:cxnLst/>
            <a:rect l="l" t="t" r="r" b="b"/>
            <a:pathLst>
              <a:path w="435142" h="0">
                <a:moveTo>
                  <a:pt x="0" y="0"/>
                </a:moveTo>
                <a:lnTo>
                  <a:pt x="435142" y="0"/>
                </a:lnTo>
                <a:close/>
              </a:path>
            </a:pathLst>
          </a:custGeom>
          <a:noFill/>
          <a:ln w="1270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026200" y="155332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C4713B"/>
          </a:solidFill>
          <a:ln w="1270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461342" y="155332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C4713B"/>
          </a:solidFill>
          <a:ln w="1270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786872" y="1853408"/>
            <a:ext cx="239328" cy="0"/>
          </a:xfrm>
          <a:custGeom>
            <a:avLst/>
            <a:gdLst/>
            <a:ahLst/>
            <a:cxnLst/>
            <a:rect l="l" t="t" r="r" b="b"/>
            <a:pathLst>
              <a:path w="239328" h="0">
                <a:moveTo>
                  <a:pt x="0" y="0"/>
                </a:moveTo>
                <a:lnTo>
                  <a:pt x="239328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786872" y="1815308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026200" y="1815308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786872" y="2115395"/>
            <a:ext cx="217571" cy="0"/>
          </a:xfrm>
          <a:custGeom>
            <a:avLst/>
            <a:gdLst/>
            <a:ahLst/>
            <a:cxnLst/>
            <a:rect l="l" t="t" r="r" b="b"/>
            <a:pathLst>
              <a:path w="217571" h="0">
                <a:moveTo>
                  <a:pt x="0" y="0"/>
                </a:moveTo>
                <a:lnTo>
                  <a:pt x="217571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786872" y="2077295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1004443" y="2077295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743358" y="2377381"/>
            <a:ext cx="282842" cy="0"/>
          </a:xfrm>
          <a:custGeom>
            <a:avLst/>
            <a:gdLst/>
            <a:ahLst/>
            <a:cxnLst/>
            <a:rect l="l" t="t" r="r" b="b"/>
            <a:pathLst>
              <a:path w="282842" h="0">
                <a:moveTo>
                  <a:pt x="0" y="0"/>
                </a:moveTo>
                <a:lnTo>
                  <a:pt x="282842" y="0"/>
                </a:lnTo>
                <a:close/>
              </a:path>
            </a:pathLst>
          </a:cu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743358" y="2339281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26200" y="2339281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27854" y="439459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-0.001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27854" y="701446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0.010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27854" y="963432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-0.014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27854" y="1225418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0.785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27854" y="1487404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0.179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27854" y="1749390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0.015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27854" y="2011377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0.007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27854" y="2273363"/>
            <a:ext cx="508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7A7A7A"/>
                </a:solidFill>
                <a:latin typeface="Arial"/>
              </a:rPr>
              <a:t>0.000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85310" y="171437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S 1 (90% CI)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2633" y="47647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(B)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70596" y="79888"/>
            <a:ext cx="1270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k eff (coupled)</a:t>
            </a:r>
          </a:p>
        </p:txBody>
      </p:sp>
      <p:sp>
        <p:nvSpPr>
          <p:cNvPr id="68" name="Freeform 67"/>
          <p:cNvSpPr/>
          <p:nvPr/>
        </p:nvSpPr>
        <p:spPr>
          <a:xfrm>
            <a:off x="818218" y="511727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0" y="54201"/>
                </a:lnTo>
                <a:close/>
                <a:lnTo>
                  <a:pt x="63500" y="31750"/>
                </a:lnTo>
                <a:close/>
                <a:lnTo>
                  <a:pt x="54200" y="9300"/>
                </a:lnTo>
                <a:close/>
                <a:lnTo>
                  <a:pt x="31750" y="0"/>
                </a:lnTo>
                <a:close/>
                <a:lnTo>
                  <a:pt x="9299" y="9300"/>
                </a:lnTo>
                <a:close/>
                <a:lnTo>
                  <a:pt x="0" y="31750"/>
                </a:lnTo>
                <a:close/>
                <a:lnTo>
                  <a:pt x="9299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842150" y="773714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0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300" y="9299"/>
                </a:lnTo>
                <a:close/>
                <a:lnTo>
                  <a:pt x="0" y="31750"/>
                </a:lnTo>
                <a:close/>
                <a:lnTo>
                  <a:pt x="9300" y="54200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789933" y="10357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0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300" y="9299"/>
                </a:lnTo>
                <a:close/>
                <a:lnTo>
                  <a:pt x="0" y="31750"/>
                </a:lnTo>
                <a:close/>
                <a:lnTo>
                  <a:pt x="9300" y="54200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2528326" y="1297686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1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299" y="9299"/>
                </a:lnTo>
                <a:close/>
                <a:lnTo>
                  <a:pt x="0" y="31750"/>
                </a:lnTo>
                <a:close/>
                <a:lnTo>
                  <a:pt x="9299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C4713B"/>
          </a:solidFill>
          <a:ln w="1270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209845" y="1559672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1"/>
                </a:lnTo>
                <a:close/>
                <a:lnTo>
                  <a:pt x="63500" y="31750"/>
                </a:lnTo>
                <a:close/>
                <a:lnTo>
                  <a:pt x="54201" y="9300"/>
                </a:lnTo>
                <a:close/>
                <a:lnTo>
                  <a:pt x="31750" y="0"/>
                </a:lnTo>
                <a:close/>
                <a:lnTo>
                  <a:pt x="9300" y="9300"/>
                </a:lnTo>
                <a:close/>
                <a:lnTo>
                  <a:pt x="0" y="31750"/>
                </a:lnTo>
                <a:close/>
                <a:lnTo>
                  <a:pt x="9300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C4713B"/>
          </a:solidFill>
          <a:ln w="12700">
            <a:solidFill>
              <a:srgbClr val="C47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853029" y="1821658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1"/>
                </a:lnTo>
                <a:close/>
                <a:lnTo>
                  <a:pt x="63500" y="31750"/>
                </a:lnTo>
                <a:close/>
                <a:lnTo>
                  <a:pt x="54201" y="9300"/>
                </a:lnTo>
                <a:close/>
                <a:lnTo>
                  <a:pt x="31750" y="0"/>
                </a:lnTo>
                <a:close/>
                <a:lnTo>
                  <a:pt x="9299" y="9300"/>
                </a:lnTo>
                <a:close/>
                <a:lnTo>
                  <a:pt x="0" y="31750"/>
                </a:lnTo>
                <a:close/>
                <a:lnTo>
                  <a:pt x="9299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835623" y="208364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0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300" y="9299"/>
                </a:lnTo>
                <a:close/>
                <a:lnTo>
                  <a:pt x="0" y="31750"/>
                </a:lnTo>
                <a:close/>
                <a:lnTo>
                  <a:pt x="9300" y="54200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820393" y="2345631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1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300" y="9299"/>
                </a:lnTo>
                <a:close/>
                <a:lnTo>
                  <a:pt x="0" y="31750"/>
                </a:lnTo>
                <a:close/>
                <a:lnTo>
                  <a:pt x="9300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