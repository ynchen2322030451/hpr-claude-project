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670092" cy="451969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670092" cy="45196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1058" y="333036"/>
            <a:ext cx="1984248" cy="22388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99926" y="333036"/>
            <a:ext cx="0" cy="2238876"/>
          </a:xfrm>
          <a:custGeom>
            <a:avLst/>
            <a:gdLst/>
            <a:ahLst/>
            <a:cxnLst/>
            <a:rect l="l" t="t" r="r" b="b"/>
            <a:pathLst>
              <a:path w="0" h="2238876">
                <a:moveTo>
                  <a:pt x="0" y="2238876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9926" y="469712"/>
            <a:ext cx="1479483" cy="143184"/>
          </a:xfrm>
          <a:prstGeom prst="rect">
            <a:avLst/>
          </a:prstGeom>
          <a:solidFill>
            <a:srgbClr val="C5D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9926" y="730046"/>
            <a:ext cx="435142" cy="143184"/>
          </a:xfrm>
          <a:prstGeom prst="rect">
            <a:avLst/>
          </a:prstGeom>
          <a:solidFill>
            <a:srgbClr val="C5D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9926" y="990380"/>
            <a:ext cx="174057" cy="143184"/>
          </a:xfrm>
          <a:prstGeom prst="rect">
            <a:avLst/>
          </a:prstGeom>
          <a:solidFill>
            <a:srgbClr val="C5D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9926" y="1250715"/>
            <a:ext cx="661416" cy="143184"/>
          </a:xfrm>
          <a:prstGeom prst="rect">
            <a:avLst/>
          </a:prstGeom>
          <a:solidFill>
            <a:srgbClr val="C5D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9926" y="1511049"/>
            <a:ext cx="295897" cy="143184"/>
          </a:xfrm>
          <a:prstGeom prst="rect">
            <a:avLst/>
          </a:prstGeom>
          <a:solidFill>
            <a:srgbClr val="C5D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926" y="1771384"/>
            <a:ext cx="243680" cy="143184"/>
          </a:xfrm>
          <a:prstGeom prst="rect">
            <a:avLst/>
          </a:prstGeom>
          <a:solidFill>
            <a:srgbClr val="C5D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926" y="2031718"/>
            <a:ext cx="121840" cy="143184"/>
          </a:xfrm>
          <a:prstGeom prst="rect">
            <a:avLst/>
          </a:prstGeom>
          <a:solidFill>
            <a:srgbClr val="C5D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9926" y="2292053"/>
            <a:ext cx="104434" cy="143184"/>
          </a:xfrm>
          <a:prstGeom prst="rect">
            <a:avLst/>
          </a:prstGeom>
          <a:solidFill>
            <a:srgbClr val="C5D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799926" y="257191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9926" y="259744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0.0</a:t>
            </a:r>
          </a:p>
        </p:txBody>
      </p:sp>
      <p:sp>
        <p:nvSpPr>
          <p:cNvPr id="15" name="Freeform 14"/>
          <p:cNvSpPr/>
          <p:nvPr/>
        </p:nvSpPr>
        <p:spPr>
          <a:xfrm>
            <a:off x="1148040" y="257191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8040" y="259744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0.2</a:t>
            </a:r>
          </a:p>
        </p:txBody>
      </p:sp>
      <p:sp>
        <p:nvSpPr>
          <p:cNvPr id="17" name="Freeform 16"/>
          <p:cNvSpPr/>
          <p:nvPr/>
        </p:nvSpPr>
        <p:spPr>
          <a:xfrm>
            <a:off x="1496154" y="257191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96154" y="259744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0.4</a:t>
            </a:r>
          </a:p>
        </p:txBody>
      </p:sp>
      <p:sp>
        <p:nvSpPr>
          <p:cNvPr id="19" name="Freeform 18"/>
          <p:cNvSpPr/>
          <p:nvPr/>
        </p:nvSpPr>
        <p:spPr>
          <a:xfrm>
            <a:off x="1844267" y="257191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44267" y="259744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0.6</a:t>
            </a:r>
          </a:p>
        </p:txBody>
      </p:sp>
      <p:sp>
        <p:nvSpPr>
          <p:cNvPr id="21" name="Freeform 20"/>
          <p:cNvSpPr/>
          <p:nvPr/>
        </p:nvSpPr>
        <p:spPr>
          <a:xfrm>
            <a:off x="2192381" y="257191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2381" y="259744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0.8</a:t>
            </a:r>
          </a:p>
        </p:txBody>
      </p:sp>
      <p:sp>
        <p:nvSpPr>
          <p:cNvPr id="23" name="Freeform 22"/>
          <p:cNvSpPr/>
          <p:nvPr/>
        </p:nvSpPr>
        <p:spPr>
          <a:xfrm>
            <a:off x="2540495" y="257191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0495" y="259744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3182" y="2738637"/>
            <a:ext cx="965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Sobol index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333" y="446752"/>
            <a:ext cx="965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E intercept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2349" y="707087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E slope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6824" y="966789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0129" y="1227123"/>
            <a:ext cx="584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α 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0571" y="1487645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α slope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07" y="1747792"/>
            <a:ext cx="965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k reference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" y="2008127"/>
            <a:ext cx="965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T reference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810" y="2268461"/>
            <a:ext cx="584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α diff</a:t>
            </a:r>
          </a:p>
        </p:txBody>
      </p:sp>
      <p:sp>
        <p:nvSpPr>
          <p:cNvPr id="34" name="Freeform 33"/>
          <p:cNvSpPr/>
          <p:nvPr/>
        </p:nvSpPr>
        <p:spPr>
          <a:xfrm>
            <a:off x="591058" y="333036"/>
            <a:ext cx="0" cy="2238876"/>
          </a:xfrm>
          <a:custGeom>
            <a:avLst/>
            <a:gdLst/>
            <a:ahLst/>
            <a:cxnLst/>
            <a:rect l="l" t="t" r="r" b="b"/>
            <a:pathLst>
              <a:path w="0" h="2238876">
                <a:moveTo>
                  <a:pt x="0" y="2238876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1058" y="2571912"/>
            <a:ext cx="1984248" cy="0"/>
          </a:xfrm>
          <a:custGeom>
            <a:avLst/>
            <a:gdLst/>
            <a:ahLst/>
            <a:cxnLst/>
            <a:rect l="l" t="t" r="r" b="b"/>
            <a:pathLst>
              <a:path w="1984248" h="0">
                <a:moveTo>
                  <a:pt x="0" y="0"/>
                </a:moveTo>
                <a:lnTo>
                  <a:pt x="1984248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1600588" y="541304"/>
            <a:ext cx="452547" cy="0"/>
          </a:xfrm>
          <a:custGeom>
            <a:avLst/>
            <a:gdLst/>
            <a:ahLst/>
            <a:cxnLst/>
            <a:rect l="l" t="t" r="r" b="b"/>
            <a:pathLst>
              <a:path w="452547" h="0">
                <a:moveTo>
                  <a:pt x="0" y="0"/>
                </a:moveTo>
                <a:lnTo>
                  <a:pt x="452547" y="0"/>
                </a:lnTo>
                <a:close/>
              </a:path>
            </a:pathLst>
          </a:custGeom>
          <a:noFill/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600588" y="503204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1B3A5C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2053135" y="503204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1B3A5C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791223" y="801638"/>
            <a:ext cx="200166" cy="0"/>
          </a:xfrm>
          <a:custGeom>
            <a:avLst/>
            <a:gdLst/>
            <a:ahLst/>
            <a:cxnLst/>
            <a:rect l="l" t="t" r="r" b="b"/>
            <a:pathLst>
              <a:path w="200166" h="0">
                <a:moveTo>
                  <a:pt x="0" y="0"/>
                </a:moveTo>
                <a:lnTo>
                  <a:pt x="200166" y="0"/>
                </a:lnTo>
                <a:close/>
              </a:path>
            </a:pathLst>
          </a:custGeom>
          <a:noFill/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91223" y="763538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991389" y="763538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82521" y="1061972"/>
            <a:ext cx="121839" cy="0"/>
          </a:xfrm>
          <a:custGeom>
            <a:avLst/>
            <a:gdLst/>
            <a:ahLst/>
            <a:cxnLst/>
            <a:rect l="l" t="t" r="r" b="b"/>
            <a:pathLst>
              <a:path w="121839" h="0">
                <a:moveTo>
                  <a:pt x="0" y="0"/>
                </a:moveTo>
                <a:lnTo>
                  <a:pt x="121839" y="0"/>
                </a:lnTo>
                <a:close/>
              </a:path>
            </a:pathLst>
          </a:custGeom>
          <a:noFill/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82521" y="1023872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904360" y="1023872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939172" y="1322307"/>
            <a:ext cx="400330" cy="0"/>
          </a:xfrm>
          <a:custGeom>
            <a:avLst/>
            <a:gdLst/>
            <a:ahLst/>
            <a:cxnLst/>
            <a:rect l="l" t="t" r="r" b="b"/>
            <a:pathLst>
              <a:path w="400330" h="0">
                <a:moveTo>
                  <a:pt x="0" y="0"/>
                </a:moveTo>
                <a:lnTo>
                  <a:pt x="400330" y="0"/>
                </a:lnTo>
                <a:close/>
              </a:path>
            </a:pathLst>
          </a:custGeom>
          <a:noFill/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939172" y="1284207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1B3A5C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339502" y="1284207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1B3A5C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782521" y="1582641"/>
            <a:ext cx="156651" cy="0"/>
          </a:xfrm>
          <a:custGeom>
            <a:avLst/>
            <a:gdLst/>
            <a:ahLst/>
            <a:cxnLst/>
            <a:rect l="l" t="t" r="r" b="b"/>
            <a:pathLst>
              <a:path w="156651" h="0">
                <a:moveTo>
                  <a:pt x="0" y="0"/>
                </a:moveTo>
                <a:lnTo>
                  <a:pt x="156651" y="0"/>
                </a:lnTo>
                <a:close/>
              </a:path>
            </a:pathLst>
          </a:custGeom>
          <a:noFill/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782521" y="1544541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939172" y="1544541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782521" y="1842976"/>
            <a:ext cx="104434" cy="0"/>
          </a:xfrm>
          <a:custGeom>
            <a:avLst/>
            <a:gdLst/>
            <a:ahLst/>
            <a:cxnLst/>
            <a:rect l="l" t="t" r="r" b="b"/>
            <a:pathLst>
              <a:path w="104434" h="0">
                <a:moveTo>
                  <a:pt x="0" y="0"/>
                </a:moveTo>
                <a:lnTo>
                  <a:pt x="104434" y="0"/>
                </a:lnTo>
                <a:close/>
              </a:path>
            </a:pathLst>
          </a:custGeom>
          <a:noFill/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782521" y="1804876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886955" y="1804876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747709" y="2103310"/>
            <a:ext cx="208868" cy="0"/>
          </a:xfrm>
          <a:custGeom>
            <a:avLst/>
            <a:gdLst/>
            <a:ahLst/>
            <a:cxnLst/>
            <a:rect l="l" t="t" r="r" b="b"/>
            <a:pathLst>
              <a:path w="208868" h="0">
                <a:moveTo>
                  <a:pt x="0" y="0"/>
                </a:moveTo>
                <a:lnTo>
                  <a:pt x="208868" y="0"/>
                </a:lnTo>
                <a:close/>
              </a:path>
            </a:pathLst>
          </a:custGeom>
          <a:noFill/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747709" y="206521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56577" y="206521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747709" y="2363645"/>
            <a:ext cx="139246" cy="0"/>
          </a:xfrm>
          <a:custGeom>
            <a:avLst/>
            <a:gdLst/>
            <a:ahLst/>
            <a:cxnLst/>
            <a:rect l="l" t="t" r="r" b="b"/>
            <a:pathLst>
              <a:path w="139246" h="0">
                <a:moveTo>
                  <a:pt x="0" y="0"/>
                </a:moveTo>
                <a:lnTo>
                  <a:pt x="139246" y="0"/>
                </a:lnTo>
                <a:close/>
              </a:path>
            </a:pathLst>
          </a:custGeom>
          <a:noFill/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747709" y="2325545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886955" y="2325545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0495" y="437286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B3A5C"/>
                </a:solidFill>
                <a:latin typeface="Arial"/>
              </a:rPr>
              <a:t>0.579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40495" y="697620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7A7A7A"/>
                </a:solidFill>
                <a:latin typeface="Arial"/>
              </a:rPr>
              <a:t>0.053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40495" y="957954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7A7A7A"/>
                </a:solidFill>
                <a:latin typeface="Arial"/>
              </a:rPr>
              <a:t>0.030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40495" y="1218289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B3A5C"/>
                </a:solidFill>
                <a:latin typeface="Arial"/>
              </a:rPr>
              <a:t>0.169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40495" y="1478623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7A7A7A"/>
                </a:solidFill>
                <a:latin typeface="Arial"/>
              </a:rPr>
              <a:t>0.037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40495" y="1738958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7A7A7A"/>
                </a:solidFill>
                <a:latin typeface="Arial"/>
              </a:rPr>
              <a:t>0.030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40495" y="1999292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7A7A7A"/>
                </a:solidFill>
                <a:latin typeface="Arial"/>
              </a:rPr>
              <a:t>0.008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40495" y="2259627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7A7A7A"/>
                </a:solidFill>
                <a:latin typeface="Arial"/>
              </a:rPr>
              <a:t>0.002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997951" y="170667"/>
            <a:ext cx="1041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B3A5C"/>
                </a:solidFill>
                <a:latin typeface="Arial"/>
              </a:rPr>
              <a:t>S 1 (90% CI)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2318" y="4764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(A)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83182" y="79036"/>
            <a:ext cx="2489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Coupled steady-state max stress</a:t>
            </a:r>
          </a:p>
        </p:txBody>
      </p:sp>
      <p:sp>
        <p:nvSpPr>
          <p:cNvPr id="71" name="Freeform 70"/>
          <p:cNvSpPr/>
          <p:nvPr/>
        </p:nvSpPr>
        <p:spPr>
          <a:xfrm>
            <a:off x="1775965" y="509554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0"/>
                </a:lnTo>
                <a:close/>
                <a:lnTo>
                  <a:pt x="63500" y="31750"/>
                </a:lnTo>
                <a:close/>
                <a:lnTo>
                  <a:pt x="54201" y="9299"/>
                </a:lnTo>
                <a:close/>
                <a:lnTo>
                  <a:pt x="31750" y="0"/>
                </a:lnTo>
                <a:close/>
                <a:lnTo>
                  <a:pt x="9300" y="9299"/>
                </a:lnTo>
                <a:close/>
                <a:lnTo>
                  <a:pt x="0" y="31750"/>
                </a:lnTo>
                <a:close/>
                <a:lnTo>
                  <a:pt x="9300" y="54200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1B3A5C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860426" y="769888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1"/>
                </a:lnTo>
                <a:close/>
                <a:lnTo>
                  <a:pt x="63500" y="31750"/>
                </a:lnTo>
                <a:close/>
                <a:lnTo>
                  <a:pt x="54201" y="9299"/>
                </a:lnTo>
                <a:close/>
                <a:lnTo>
                  <a:pt x="31750" y="0"/>
                </a:lnTo>
                <a:close/>
                <a:lnTo>
                  <a:pt x="9300" y="9299"/>
                </a:lnTo>
                <a:close/>
                <a:lnTo>
                  <a:pt x="0" y="31750"/>
                </a:lnTo>
                <a:close/>
                <a:lnTo>
                  <a:pt x="9300" y="54201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820393" y="1030222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1"/>
                </a:lnTo>
                <a:close/>
                <a:lnTo>
                  <a:pt x="63500" y="31750"/>
                </a:lnTo>
                <a:close/>
                <a:lnTo>
                  <a:pt x="54201" y="9300"/>
                </a:lnTo>
                <a:close/>
                <a:lnTo>
                  <a:pt x="31750" y="0"/>
                </a:lnTo>
                <a:close/>
                <a:lnTo>
                  <a:pt x="9300" y="9300"/>
                </a:lnTo>
                <a:close/>
                <a:lnTo>
                  <a:pt x="0" y="31750"/>
                </a:lnTo>
                <a:close/>
                <a:lnTo>
                  <a:pt x="9300" y="54201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1062332" y="1290557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1"/>
                </a:lnTo>
                <a:close/>
                <a:lnTo>
                  <a:pt x="63500" y="31750"/>
                </a:lnTo>
                <a:close/>
                <a:lnTo>
                  <a:pt x="54201" y="9299"/>
                </a:lnTo>
                <a:close/>
                <a:lnTo>
                  <a:pt x="31750" y="0"/>
                </a:lnTo>
                <a:close/>
                <a:lnTo>
                  <a:pt x="9300" y="9299"/>
                </a:lnTo>
                <a:close/>
                <a:lnTo>
                  <a:pt x="0" y="31750"/>
                </a:lnTo>
                <a:close/>
                <a:lnTo>
                  <a:pt x="9300" y="54201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1B3A5C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832577" y="1550891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1"/>
                </a:lnTo>
                <a:close/>
                <a:lnTo>
                  <a:pt x="63500" y="31750"/>
                </a:lnTo>
                <a:close/>
                <a:lnTo>
                  <a:pt x="54201" y="9300"/>
                </a:lnTo>
                <a:close/>
                <a:lnTo>
                  <a:pt x="31750" y="0"/>
                </a:lnTo>
                <a:close/>
                <a:lnTo>
                  <a:pt x="9300" y="9300"/>
                </a:lnTo>
                <a:close/>
                <a:lnTo>
                  <a:pt x="0" y="31750"/>
                </a:lnTo>
                <a:close/>
                <a:lnTo>
                  <a:pt x="9300" y="54201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820393" y="1811226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0"/>
                </a:lnTo>
                <a:close/>
                <a:lnTo>
                  <a:pt x="63500" y="31750"/>
                </a:lnTo>
                <a:close/>
                <a:lnTo>
                  <a:pt x="54201" y="9299"/>
                </a:lnTo>
                <a:close/>
                <a:lnTo>
                  <a:pt x="31750" y="0"/>
                </a:lnTo>
                <a:close/>
                <a:lnTo>
                  <a:pt x="9300" y="9299"/>
                </a:lnTo>
                <a:close/>
                <a:lnTo>
                  <a:pt x="0" y="31750"/>
                </a:lnTo>
                <a:close/>
                <a:lnTo>
                  <a:pt x="9300" y="54200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782101" y="2071560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0" y="54201"/>
                </a:lnTo>
                <a:close/>
                <a:lnTo>
                  <a:pt x="63500" y="31750"/>
                </a:lnTo>
                <a:close/>
                <a:lnTo>
                  <a:pt x="54200" y="9300"/>
                </a:lnTo>
                <a:close/>
                <a:lnTo>
                  <a:pt x="31750" y="0"/>
                </a:lnTo>
                <a:close/>
                <a:lnTo>
                  <a:pt x="9299" y="9300"/>
                </a:lnTo>
                <a:close/>
                <a:lnTo>
                  <a:pt x="0" y="31750"/>
                </a:lnTo>
                <a:close/>
                <a:lnTo>
                  <a:pt x="9299" y="54201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771657" y="233189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0"/>
                </a:lnTo>
                <a:close/>
                <a:lnTo>
                  <a:pt x="63500" y="31750"/>
                </a:lnTo>
                <a:close/>
                <a:lnTo>
                  <a:pt x="54201" y="9299"/>
                </a:lnTo>
                <a:close/>
                <a:lnTo>
                  <a:pt x="31750" y="0"/>
                </a:lnTo>
                <a:close/>
                <a:lnTo>
                  <a:pt x="9300" y="9299"/>
                </a:lnTo>
                <a:close/>
                <a:lnTo>
                  <a:pt x="0" y="31750"/>
                </a:lnTo>
                <a:close/>
                <a:lnTo>
                  <a:pt x="9300" y="54200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567430" y="333036"/>
            <a:ext cx="1984248" cy="22388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3776298" y="333036"/>
            <a:ext cx="0" cy="2238876"/>
          </a:xfrm>
          <a:custGeom>
            <a:avLst/>
            <a:gdLst/>
            <a:ahLst/>
            <a:cxnLst/>
            <a:rect l="l" t="t" r="r" b="b"/>
            <a:pathLst>
              <a:path w="0" h="2238876">
                <a:moveTo>
                  <a:pt x="0" y="2238876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776298" y="730046"/>
            <a:ext cx="487359" cy="143184"/>
          </a:xfrm>
          <a:prstGeom prst="rect">
            <a:avLst/>
          </a:prstGeom>
          <a:solidFill>
            <a:srgbClr val="F2D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776298" y="1250715"/>
            <a:ext cx="1636134" cy="143184"/>
          </a:xfrm>
          <a:prstGeom prst="rect">
            <a:avLst/>
          </a:prstGeom>
          <a:solidFill>
            <a:srgbClr val="F2D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776298" y="1511049"/>
            <a:ext cx="661416" cy="143184"/>
          </a:xfrm>
          <a:prstGeom prst="rect">
            <a:avLst/>
          </a:prstGeom>
          <a:solidFill>
            <a:srgbClr val="F2D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776298" y="1771384"/>
            <a:ext cx="313302" cy="143184"/>
          </a:xfrm>
          <a:prstGeom prst="rect">
            <a:avLst/>
          </a:prstGeom>
          <a:solidFill>
            <a:srgbClr val="F2D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776298" y="2031718"/>
            <a:ext cx="156651" cy="143184"/>
          </a:xfrm>
          <a:prstGeom prst="rect">
            <a:avLst/>
          </a:prstGeom>
          <a:solidFill>
            <a:srgbClr val="F2D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3776298" y="257191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776298" y="259744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0.0</a:t>
            </a:r>
          </a:p>
        </p:txBody>
      </p:sp>
      <p:sp>
        <p:nvSpPr>
          <p:cNvPr id="88" name="Freeform 87"/>
          <p:cNvSpPr/>
          <p:nvPr/>
        </p:nvSpPr>
        <p:spPr>
          <a:xfrm>
            <a:off x="4124412" y="257191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124412" y="259744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0.2</a:t>
            </a:r>
          </a:p>
        </p:txBody>
      </p:sp>
      <p:sp>
        <p:nvSpPr>
          <p:cNvPr id="90" name="Freeform 89"/>
          <p:cNvSpPr/>
          <p:nvPr/>
        </p:nvSpPr>
        <p:spPr>
          <a:xfrm>
            <a:off x="4472526" y="257191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472526" y="259744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0.4</a:t>
            </a:r>
          </a:p>
        </p:txBody>
      </p:sp>
      <p:sp>
        <p:nvSpPr>
          <p:cNvPr id="92" name="Freeform 91"/>
          <p:cNvSpPr/>
          <p:nvPr/>
        </p:nvSpPr>
        <p:spPr>
          <a:xfrm>
            <a:off x="4820639" y="257191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820639" y="259744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0.6</a:t>
            </a:r>
          </a:p>
        </p:txBody>
      </p:sp>
      <p:sp>
        <p:nvSpPr>
          <p:cNvPr id="94" name="Freeform 93"/>
          <p:cNvSpPr/>
          <p:nvPr/>
        </p:nvSpPr>
        <p:spPr>
          <a:xfrm>
            <a:off x="5168753" y="257191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168753" y="259744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0.8</a:t>
            </a:r>
          </a:p>
        </p:txBody>
      </p:sp>
      <p:sp>
        <p:nvSpPr>
          <p:cNvPr id="96" name="Freeform 95"/>
          <p:cNvSpPr/>
          <p:nvPr/>
        </p:nvSpPr>
        <p:spPr>
          <a:xfrm>
            <a:off x="5516867" y="2571912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516867" y="259744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1.0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59554" y="2738637"/>
            <a:ext cx="965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Sobol index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100705" y="446752"/>
            <a:ext cx="965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E intercept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228721" y="707087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E slope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473196" y="966789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246501" y="1227123"/>
            <a:ext cx="584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α base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226943" y="1487645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α slope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070479" y="1747792"/>
            <a:ext cx="965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k reference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067812" y="2008127"/>
            <a:ext cx="965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T reference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361182" y="2268461"/>
            <a:ext cx="584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α diff</a:t>
            </a:r>
          </a:p>
        </p:txBody>
      </p:sp>
      <p:sp>
        <p:nvSpPr>
          <p:cNvPr id="107" name="Freeform 106"/>
          <p:cNvSpPr/>
          <p:nvPr/>
        </p:nvSpPr>
        <p:spPr>
          <a:xfrm>
            <a:off x="3567430" y="333036"/>
            <a:ext cx="0" cy="2238876"/>
          </a:xfrm>
          <a:custGeom>
            <a:avLst/>
            <a:gdLst/>
            <a:ahLst/>
            <a:cxnLst/>
            <a:rect l="l" t="t" r="r" b="b"/>
            <a:pathLst>
              <a:path w="0" h="2238876">
                <a:moveTo>
                  <a:pt x="0" y="2238876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3567430" y="2571912"/>
            <a:ext cx="1984248" cy="0"/>
          </a:xfrm>
          <a:custGeom>
            <a:avLst/>
            <a:gdLst/>
            <a:ahLst/>
            <a:cxnLst/>
            <a:rect l="l" t="t" r="r" b="b"/>
            <a:pathLst>
              <a:path w="1984248" h="0">
                <a:moveTo>
                  <a:pt x="0" y="0"/>
                </a:moveTo>
                <a:lnTo>
                  <a:pt x="1984248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3671864" y="541304"/>
            <a:ext cx="313302" cy="0"/>
          </a:xfrm>
          <a:custGeom>
            <a:avLst/>
            <a:gdLst/>
            <a:ahLst/>
            <a:cxnLst/>
            <a:rect l="l" t="t" r="r" b="b"/>
            <a:pathLst>
              <a:path w="313302" h="0">
                <a:moveTo>
                  <a:pt x="0" y="0"/>
                </a:moveTo>
                <a:lnTo>
                  <a:pt x="313302" y="0"/>
                </a:lnTo>
                <a:close/>
              </a:path>
            </a:pathLst>
          </a:custGeom>
          <a:noFill/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3671864" y="503204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985166" y="503204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3724081" y="801638"/>
            <a:ext cx="191463" cy="0"/>
          </a:xfrm>
          <a:custGeom>
            <a:avLst/>
            <a:gdLst/>
            <a:ahLst/>
            <a:cxnLst/>
            <a:rect l="l" t="t" r="r" b="b"/>
            <a:pathLst>
              <a:path w="191463" h="0">
                <a:moveTo>
                  <a:pt x="0" y="0"/>
                </a:moveTo>
                <a:lnTo>
                  <a:pt x="191463" y="0"/>
                </a:lnTo>
                <a:close/>
              </a:path>
            </a:pathLst>
          </a:custGeom>
          <a:noFill/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724081" y="763538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3915544" y="763538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3671864" y="1061972"/>
            <a:ext cx="261085" cy="0"/>
          </a:xfrm>
          <a:custGeom>
            <a:avLst/>
            <a:gdLst/>
            <a:ahLst/>
            <a:cxnLst/>
            <a:rect l="l" t="t" r="r" b="b"/>
            <a:pathLst>
              <a:path w="261085" h="0">
                <a:moveTo>
                  <a:pt x="0" y="0"/>
                </a:moveTo>
                <a:lnTo>
                  <a:pt x="261085" y="0"/>
                </a:lnTo>
                <a:close/>
              </a:path>
            </a:pathLst>
          </a:custGeom>
          <a:noFill/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3671864" y="1023872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3932949" y="1023872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4925073" y="1322307"/>
            <a:ext cx="435142" cy="0"/>
          </a:xfrm>
          <a:custGeom>
            <a:avLst/>
            <a:gdLst/>
            <a:ahLst/>
            <a:cxnLst/>
            <a:rect l="l" t="t" r="r" b="b"/>
            <a:pathLst>
              <a:path w="435142" h="0">
                <a:moveTo>
                  <a:pt x="0" y="0"/>
                </a:moveTo>
                <a:lnTo>
                  <a:pt x="435142" y="0"/>
                </a:lnTo>
                <a:close/>
              </a:path>
            </a:pathLst>
          </a:custGeom>
          <a:noFill/>
          <a:ln w="1270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4925073" y="1284207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C4713B"/>
          </a:solidFill>
          <a:ln w="1270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5360215" y="1284207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C4713B"/>
          </a:solidFill>
          <a:ln w="1270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3915544" y="1582641"/>
            <a:ext cx="348113" cy="0"/>
          </a:xfrm>
          <a:custGeom>
            <a:avLst/>
            <a:gdLst/>
            <a:ahLst/>
            <a:cxnLst/>
            <a:rect l="l" t="t" r="r" b="b"/>
            <a:pathLst>
              <a:path w="348113" h="0">
                <a:moveTo>
                  <a:pt x="0" y="0"/>
                </a:moveTo>
                <a:lnTo>
                  <a:pt x="348113" y="0"/>
                </a:lnTo>
                <a:close/>
              </a:path>
            </a:pathLst>
          </a:custGeom>
          <a:noFill/>
          <a:ln w="1270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3915544" y="1544541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C4713B"/>
          </a:solidFill>
          <a:ln w="1270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4263657" y="1544541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C4713B"/>
          </a:solidFill>
          <a:ln w="1270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3724081" y="1842976"/>
            <a:ext cx="191463" cy="0"/>
          </a:xfrm>
          <a:custGeom>
            <a:avLst/>
            <a:gdLst/>
            <a:ahLst/>
            <a:cxnLst/>
            <a:rect l="l" t="t" r="r" b="b"/>
            <a:pathLst>
              <a:path w="191463" h="0">
                <a:moveTo>
                  <a:pt x="0" y="0"/>
                </a:moveTo>
                <a:lnTo>
                  <a:pt x="191463" y="0"/>
                </a:lnTo>
                <a:close/>
              </a:path>
            </a:pathLst>
          </a:custGeom>
          <a:noFill/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3724081" y="1804876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3915544" y="1804876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3724081" y="2103310"/>
            <a:ext cx="174057" cy="0"/>
          </a:xfrm>
          <a:custGeom>
            <a:avLst/>
            <a:gdLst/>
            <a:ahLst/>
            <a:cxnLst/>
            <a:rect l="l" t="t" r="r" b="b"/>
            <a:pathLst>
              <a:path w="174057" h="0">
                <a:moveTo>
                  <a:pt x="0" y="0"/>
                </a:moveTo>
                <a:lnTo>
                  <a:pt x="174057" y="0"/>
                </a:lnTo>
                <a:close/>
              </a:path>
            </a:pathLst>
          </a:custGeom>
          <a:noFill/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3724081" y="206521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3898138" y="206521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3689270" y="2363645"/>
            <a:ext cx="226274" cy="0"/>
          </a:xfrm>
          <a:custGeom>
            <a:avLst/>
            <a:gdLst/>
            <a:ahLst/>
            <a:cxnLst/>
            <a:rect l="l" t="t" r="r" b="b"/>
            <a:pathLst>
              <a:path w="226274" h="0">
                <a:moveTo>
                  <a:pt x="0" y="0"/>
                </a:moveTo>
                <a:lnTo>
                  <a:pt x="226274" y="0"/>
                </a:lnTo>
                <a:close/>
              </a:path>
            </a:pathLst>
          </a:custGeom>
          <a:noFill/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3689270" y="2325545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3915544" y="2325545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516867" y="437286"/>
            <a:ext cx="584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7A7A7A"/>
                </a:solidFill>
                <a:latin typeface="Arial"/>
              </a:rPr>
              <a:t>-0.001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516867" y="697620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7A7A7A"/>
                </a:solidFill>
                <a:latin typeface="Arial"/>
              </a:rPr>
              <a:t>0.010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516867" y="957954"/>
            <a:ext cx="584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7A7A7A"/>
                </a:solidFill>
                <a:latin typeface="Arial"/>
              </a:rPr>
              <a:t>-0.014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516867" y="1218289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C4713B"/>
                </a:solidFill>
                <a:latin typeface="Arial"/>
              </a:rPr>
              <a:t>0.785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516867" y="1478623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C4713B"/>
                </a:solidFill>
                <a:latin typeface="Arial"/>
              </a:rPr>
              <a:t>0.179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516867" y="1738958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7A7A7A"/>
                </a:solidFill>
                <a:latin typeface="Arial"/>
              </a:rPr>
              <a:t>0.015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516867" y="1999292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7A7A7A"/>
                </a:solidFill>
                <a:latin typeface="Arial"/>
              </a:rPr>
              <a:t>0.007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16867" y="2259627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7A7A7A"/>
                </a:solidFill>
                <a:latin typeface="Arial"/>
              </a:rPr>
              <a:t>0.000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974323" y="170667"/>
            <a:ext cx="1041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C4713B"/>
                </a:solidFill>
                <a:latin typeface="Arial"/>
              </a:rPr>
              <a:t>S 1 (90% CI)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408690" y="4764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(B)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198938" y="79036"/>
            <a:ext cx="1270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k eff (coupled)</a:t>
            </a:r>
          </a:p>
        </p:txBody>
      </p:sp>
      <p:sp>
        <p:nvSpPr>
          <p:cNvPr id="144" name="Freeform 143"/>
          <p:cNvSpPr/>
          <p:nvPr/>
        </p:nvSpPr>
        <p:spPr>
          <a:xfrm>
            <a:off x="3742808" y="509554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0" y="54200"/>
                </a:lnTo>
                <a:close/>
                <a:lnTo>
                  <a:pt x="63500" y="31750"/>
                </a:lnTo>
                <a:close/>
                <a:lnTo>
                  <a:pt x="54200" y="9299"/>
                </a:lnTo>
                <a:close/>
                <a:lnTo>
                  <a:pt x="31750" y="0"/>
                </a:lnTo>
                <a:close/>
                <a:lnTo>
                  <a:pt x="9299" y="9299"/>
                </a:lnTo>
                <a:close/>
                <a:lnTo>
                  <a:pt x="0" y="31750"/>
                </a:lnTo>
                <a:close/>
                <a:lnTo>
                  <a:pt x="9299" y="54200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3761954" y="769888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1"/>
                </a:lnTo>
                <a:close/>
                <a:lnTo>
                  <a:pt x="63500" y="31750"/>
                </a:lnTo>
                <a:close/>
                <a:lnTo>
                  <a:pt x="54201" y="9299"/>
                </a:lnTo>
                <a:close/>
                <a:lnTo>
                  <a:pt x="31750" y="0"/>
                </a:lnTo>
                <a:close/>
                <a:lnTo>
                  <a:pt x="9299" y="9299"/>
                </a:lnTo>
                <a:close/>
                <a:lnTo>
                  <a:pt x="0" y="31750"/>
                </a:lnTo>
                <a:close/>
                <a:lnTo>
                  <a:pt x="9299" y="54201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3720180" y="1030222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1"/>
                </a:lnTo>
                <a:close/>
                <a:lnTo>
                  <a:pt x="63500" y="31750"/>
                </a:lnTo>
                <a:close/>
                <a:lnTo>
                  <a:pt x="54201" y="9300"/>
                </a:lnTo>
                <a:close/>
                <a:lnTo>
                  <a:pt x="31750" y="0"/>
                </a:lnTo>
                <a:close/>
                <a:lnTo>
                  <a:pt x="9300" y="9300"/>
                </a:lnTo>
                <a:close/>
                <a:lnTo>
                  <a:pt x="0" y="31750"/>
                </a:lnTo>
                <a:close/>
                <a:lnTo>
                  <a:pt x="9300" y="54201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5110894" y="1290557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1"/>
                </a:lnTo>
                <a:close/>
                <a:lnTo>
                  <a:pt x="63500" y="31750"/>
                </a:lnTo>
                <a:close/>
                <a:lnTo>
                  <a:pt x="54201" y="9299"/>
                </a:lnTo>
                <a:close/>
                <a:lnTo>
                  <a:pt x="31750" y="0"/>
                </a:lnTo>
                <a:close/>
                <a:lnTo>
                  <a:pt x="9300" y="9299"/>
                </a:lnTo>
                <a:close/>
                <a:lnTo>
                  <a:pt x="0" y="31750"/>
                </a:lnTo>
                <a:close/>
                <a:lnTo>
                  <a:pt x="9300" y="54201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C4713B"/>
          </a:solidFill>
          <a:ln w="1270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4056110" y="1550891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1"/>
                </a:lnTo>
                <a:close/>
                <a:lnTo>
                  <a:pt x="63500" y="31750"/>
                </a:lnTo>
                <a:close/>
                <a:lnTo>
                  <a:pt x="54201" y="9300"/>
                </a:lnTo>
                <a:close/>
                <a:lnTo>
                  <a:pt x="31750" y="0"/>
                </a:lnTo>
                <a:close/>
                <a:lnTo>
                  <a:pt x="9299" y="9300"/>
                </a:lnTo>
                <a:close/>
                <a:lnTo>
                  <a:pt x="0" y="31750"/>
                </a:lnTo>
                <a:close/>
                <a:lnTo>
                  <a:pt x="9299" y="54201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C4713B"/>
          </a:solidFill>
          <a:ln w="1270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3770657" y="1811226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0" y="54200"/>
                </a:lnTo>
                <a:close/>
                <a:lnTo>
                  <a:pt x="63500" y="31750"/>
                </a:lnTo>
                <a:close/>
                <a:lnTo>
                  <a:pt x="54200" y="9299"/>
                </a:lnTo>
                <a:close/>
                <a:lnTo>
                  <a:pt x="31750" y="0"/>
                </a:lnTo>
                <a:close/>
                <a:lnTo>
                  <a:pt x="9299" y="9299"/>
                </a:lnTo>
                <a:close/>
                <a:lnTo>
                  <a:pt x="0" y="31750"/>
                </a:lnTo>
                <a:close/>
                <a:lnTo>
                  <a:pt x="9299" y="54200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3756732" y="2071560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1"/>
                </a:lnTo>
                <a:close/>
                <a:lnTo>
                  <a:pt x="63500" y="31750"/>
                </a:lnTo>
                <a:close/>
                <a:lnTo>
                  <a:pt x="54201" y="9300"/>
                </a:lnTo>
                <a:close/>
                <a:lnTo>
                  <a:pt x="31750" y="0"/>
                </a:lnTo>
                <a:close/>
                <a:lnTo>
                  <a:pt x="9300" y="9300"/>
                </a:lnTo>
                <a:close/>
                <a:lnTo>
                  <a:pt x="0" y="31750"/>
                </a:lnTo>
                <a:close/>
                <a:lnTo>
                  <a:pt x="9300" y="54201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3744548" y="233189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0"/>
                </a:lnTo>
                <a:close/>
                <a:lnTo>
                  <a:pt x="63500" y="31750"/>
                </a:lnTo>
                <a:close/>
                <a:lnTo>
                  <a:pt x="54201" y="9299"/>
                </a:lnTo>
                <a:close/>
                <a:lnTo>
                  <a:pt x="31750" y="0"/>
                </a:lnTo>
                <a:close/>
                <a:lnTo>
                  <a:pt x="9300" y="9299"/>
                </a:lnTo>
                <a:close/>
                <a:lnTo>
                  <a:pt x="0" y="31750"/>
                </a:lnTo>
                <a:close/>
                <a:lnTo>
                  <a:pt x="9300" y="54200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591058" y="3023046"/>
            <a:ext cx="4960620" cy="825250"/>
          </a:xfrm>
          <a:custGeom>
            <a:avLst/>
            <a:gdLst/>
            <a:ahLst/>
            <a:cxnLst/>
            <a:rect l="l" t="t" r="r" b="b"/>
            <a:pathLst>
              <a:path w="4960620" h="825250">
                <a:moveTo>
                  <a:pt x="49606" y="825250"/>
                </a:moveTo>
                <a:lnTo>
                  <a:pt x="4911014" y="825250"/>
                </a:lnTo>
                <a:close/>
                <a:lnTo>
                  <a:pt x="4960620" y="822414"/>
                </a:lnTo>
                <a:close/>
                <a:lnTo>
                  <a:pt x="4960620" y="2836"/>
                </a:lnTo>
                <a:close/>
                <a:lnTo>
                  <a:pt x="4911014" y="0"/>
                </a:lnTo>
                <a:close/>
                <a:lnTo>
                  <a:pt x="49606" y="0"/>
                </a:lnTo>
                <a:close/>
                <a:lnTo>
                  <a:pt x="0" y="2836"/>
                </a:lnTo>
                <a:close/>
                <a:lnTo>
                  <a:pt x="0" y="822414"/>
                </a:lnTo>
                <a:close/>
                <a:lnTo>
                  <a:pt x="49606" y="825250"/>
                </a:lnTo>
                <a:close/>
                <a:lnTo>
                  <a:pt x="49606" y="825250"/>
                </a:lnTo>
                <a:close/>
              </a:path>
            </a:pathLst>
          </a:custGeom>
          <a:solidFill>
            <a:srgbClr val="FFFFFF"/>
          </a:solidFill>
          <a:ln w="1524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2178456" y="3086854"/>
            <a:ext cx="0" cy="714649"/>
          </a:xfrm>
          <a:custGeom>
            <a:avLst/>
            <a:gdLst/>
            <a:ahLst/>
            <a:cxnLst/>
            <a:rect l="l" t="t" r="r" b="b"/>
            <a:pathLst>
              <a:path w="0" h="714649">
                <a:moveTo>
                  <a:pt x="0" y="714649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3964280" y="3086854"/>
            <a:ext cx="0" cy="714649"/>
          </a:xfrm>
          <a:custGeom>
            <a:avLst/>
            <a:gdLst/>
            <a:ahLst/>
            <a:cxnLst/>
            <a:rect l="l" t="t" r="r" b="b"/>
            <a:pathLst>
              <a:path w="0" h="714649">
                <a:moveTo>
                  <a:pt x="0" y="714649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729955" y="3059629"/>
            <a:ext cx="1359210" cy="139527"/>
          </a:xfrm>
          <a:custGeom>
            <a:avLst/>
            <a:gdLst/>
            <a:ahLst/>
            <a:cxnLst/>
            <a:rect l="l" t="t" r="r" b="b"/>
            <a:pathLst>
              <a:path w="1359210" h="139527">
                <a:moveTo>
                  <a:pt x="59528" y="139527"/>
                </a:moveTo>
                <a:lnTo>
                  <a:pt x="1299683" y="139527"/>
                </a:lnTo>
                <a:close/>
                <a:lnTo>
                  <a:pt x="1344328" y="136975"/>
                </a:lnTo>
                <a:close/>
                <a:lnTo>
                  <a:pt x="1359210" y="129318"/>
                </a:lnTo>
                <a:close/>
                <a:lnTo>
                  <a:pt x="1359210" y="10209"/>
                </a:lnTo>
                <a:close/>
                <a:lnTo>
                  <a:pt x="1344328" y="2552"/>
                </a:lnTo>
                <a:close/>
                <a:lnTo>
                  <a:pt x="1299683" y="0"/>
                </a:lnTo>
                <a:close/>
                <a:lnTo>
                  <a:pt x="59528" y="0"/>
                </a:lnTo>
                <a:close/>
                <a:lnTo>
                  <a:pt x="14882" y="2552"/>
                </a:lnTo>
                <a:close/>
                <a:lnTo>
                  <a:pt x="0" y="10209"/>
                </a:lnTo>
                <a:close/>
                <a:lnTo>
                  <a:pt x="0" y="129318"/>
                </a:lnTo>
                <a:close/>
                <a:lnTo>
                  <a:pt x="14882" y="136975"/>
                </a:lnTo>
                <a:close/>
                <a:lnTo>
                  <a:pt x="59528" y="139527"/>
                </a:lnTo>
                <a:close/>
                <a:lnTo>
                  <a:pt x="59528" y="139527"/>
                </a:lnTo>
                <a:close/>
              </a:path>
            </a:pathLst>
          </a:custGeom>
          <a:solidFill>
            <a:srgbClr val="E8EFF5"/>
          </a:solidFill>
          <a:ln w="10160">
            <a:solidFill>
              <a:srgbClr val="3B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739877" y="3554779"/>
            <a:ext cx="1339367" cy="119108"/>
          </a:xfrm>
          <a:custGeom>
            <a:avLst/>
            <a:gdLst/>
            <a:ahLst/>
            <a:cxnLst/>
            <a:rect l="l" t="t" r="r" b="b"/>
            <a:pathLst>
              <a:path w="1339367" h="119108">
                <a:moveTo>
                  <a:pt x="49606" y="119108"/>
                </a:moveTo>
                <a:lnTo>
                  <a:pt x="1289761" y="119108"/>
                </a:lnTo>
                <a:close/>
                <a:lnTo>
                  <a:pt x="1326965" y="116981"/>
                </a:lnTo>
                <a:close/>
                <a:lnTo>
                  <a:pt x="1339367" y="110600"/>
                </a:lnTo>
                <a:close/>
                <a:lnTo>
                  <a:pt x="1339367" y="8508"/>
                </a:lnTo>
                <a:close/>
                <a:lnTo>
                  <a:pt x="1326965" y="2127"/>
                </a:lnTo>
                <a:close/>
                <a:lnTo>
                  <a:pt x="1289761" y="0"/>
                </a:lnTo>
                <a:close/>
                <a:lnTo>
                  <a:pt x="49606" y="0"/>
                </a:lnTo>
                <a:close/>
                <a:lnTo>
                  <a:pt x="12401" y="2127"/>
                </a:lnTo>
                <a:close/>
                <a:lnTo>
                  <a:pt x="0" y="8508"/>
                </a:lnTo>
                <a:close/>
                <a:lnTo>
                  <a:pt x="0" y="110600"/>
                </a:lnTo>
                <a:close/>
                <a:lnTo>
                  <a:pt x="12401" y="116981"/>
                </a:lnTo>
                <a:close/>
                <a:lnTo>
                  <a:pt x="49606" y="119108"/>
                </a:lnTo>
                <a:close/>
                <a:lnTo>
                  <a:pt x="49606" y="119108"/>
                </a:lnTo>
                <a:close/>
              </a:path>
            </a:pathLst>
          </a:custGeom>
          <a:solidFill>
            <a:srgbClr val="C5D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4053571" y="3059629"/>
            <a:ext cx="1359210" cy="139527"/>
          </a:xfrm>
          <a:custGeom>
            <a:avLst/>
            <a:gdLst/>
            <a:ahLst/>
            <a:cxnLst/>
            <a:rect l="l" t="t" r="r" b="b"/>
            <a:pathLst>
              <a:path w="1359210" h="139527">
                <a:moveTo>
                  <a:pt x="59527" y="139527"/>
                </a:moveTo>
                <a:lnTo>
                  <a:pt x="1299682" y="139527"/>
                </a:lnTo>
                <a:close/>
                <a:lnTo>
                  <a:pt x="1344328" y="136975"/>
                </a:lnTo>
                <a:close/>
                <a:lnTo>
                  <a:pt x="1359210" y="129318"/>
                </a:lnTo>
                <a:close/>
                <a:lnTo>
                  <a:pt x="1359210" y="10209"/>
                </a:lnTo>
                <a:close/>
                <a:lnTo>
                  <a:pt x="1344328" y="2552"/>
                </a:lnTo>
                <a:close/>
                <a:lnTo>
                  <a:pt x="1299682" y="0"/>
                </a:lnTo>
                <a:close/>
                <a:lnTo>
                  <a:pt x="59527" y="0"/>
                </a:lnTo>
                <a:close/>
                <a:lnTo>
                  <a:pt x="14882" y="2552"/>
                </a:lnTo>
                <a:close/>
                <a:lnTo>
                  <a:pt x="0" y="10209"/>
                </a:lnTo>
                <a:close/>
                <a:lnTo>
                  <a:pt x="0" y="129318"/>
                </a:lnTo>
                <a:close/>
                <a:lnTo>
                  <a:pt x="14882" y="136975"/>
                </a:lnTo>
                <a:close/>
                <a:lnTo>
                  <a:pt x="59527" y="139527"/>
                </a:lnTo>
                <a:close/>
                <a:lnTo>
                  <a:pt x="59527" y="139527"/>
                </a:lnTo>
                <a:close/>
              </a:path>
            </a:pathLst>
          </a:custGeom>
          <a:solidFill>
            <a:srgbClr val="FDF2E9"/>
          </a:solidFill>
          <a:ln w="1016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4063492" y="3554779"/>
            <a:ext cx="1339367" cy="119108"/>
          </a:xfrm>
          <a:custGeom>
            <a:avLst/>
            <a:gdLst/>
            <a:ahLst/>
            <a:cxnLst/>
            <a:rect l="l" t="t" r="r" b="b"/>
            <a:pathLst>
              <a:path w="1339367" h="119108">
                <a:moveTo>
                  <a:pt x="49606" y="119108"/>
                </a:moveTo>
                <a:lnTo>
                  <a:pt x="1289761" y="119108"/>
                </a:lnTo>
                <a:close/>
                <a:lnTo>
                  <a:pt x="1326966" y="116981"/>
                </a:lnTo>
                <a:close/>
                <a:lnTo>
                  <a:pt x="1339367" y="110600"/>
                </a:lnTo>
                <a:close/>
                <a:lnTo>
                  <a:pt x="1339367" y="8508"/>
                </a:lnTo>
                <a:close/>
                <a:lnTo>
                  <a:pt x="1326966" y="2127"/>
                </a:lnTo>
                <a:close/>
                <a:lnTo>
                  <a:pt x="1289761" y="0"/>
                </a:lnTo>
                <a:close/>
                <a:lnTo>
                  <a:pt x="49606" y="0"/>
                </a:lnTo>
                <a:close/>
                <a:lnTo>
                  <a:pt x="12402" y="2127"/>
                </a:lnTo>
                <a:close/>
                <a:lnTo>
                  <a:pt x="0" y="8508"/>
                </a:lnTo>
                <a:close/>
                <a:lnTo>
                  <a:pt x="0" y="110600"/>
                </a:lnTo>
                <a:close/>
                <a:lnTo>
                  <a:pt x="12402" y="116981"/>
                </a:lnTo>
                <a:close/>
                <a:lnTo>
                  <a:pt x="49606" y="119108"/>
                </a:lnTo>
                <a:close/>
                <a:lnTo>
                  <a:pt x="49606" y="119108"/>
                </a:lnTo>
                <a:close/>
              </a:path>
            </a:pathLst>
          </a:custGeom>
          <a:solidFill>
            <a:srgbClr val="F2D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98327" y="2972351"/>
            <a:ext cx="1270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B3A5C"/>
                </a:solidFill>
                <a:latin typeface="Arial"/>
              </a:rPr>
              <a:t>Coupled maximum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241164" y="3093084"/>
            <a:ext cx="584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B3A5C"/>
                </a:solidFill>
                <a:latin typeface="Arial"/>
              </a:rPr>
              <a:t>stress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89483" y="3136551"/>
            <a:ext cx="2641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Top-2 dominant factors (by ): S 1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62381" y="3247152"/>
            <a:ext cx="2336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B3A5C"/>
                </a:solidFill>
                <a:latin typeface="Arial"/>
              </a:rPr>
              <a:t>1.   intercept  () ES 1 ≈0.58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52614" y="3340737"/>
            <a:ext cx="1955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B3A5C"/>
                </a:solidFill>
                <a:latin typeface="Arial"/>
              </a:rPr>
              <a:t>2.   base  () αS 1 ≈0.17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43820" y="3459344"/>
            <a:ext cx="1651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B3A5C"/>
                </a:solidFill>
                <a:latin typeface="Arial"/>
              </a:rPr>
              <a:t>Elastic-constitutive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206329" y="3566662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B3A5C"/>
                </a:solidFill>
                <a:latin typeface="Arial"/>
              </a:rPr>
              <a:t>pathway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396831" y="3083594"/>
            <a:ext cx="2108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Distinct dominant pathways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2602921" y="3193732"/>
            <a:ext cx="1574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for two key outputs</a:t>
            </a:r>
          </a:p>
        </p:txBody>
      </p:sp>
      <p:sp>
        <p:nvSpPr>
          <p:cNvPr id="168" name="Freeform 167"/>
          <p:cNvSpPr/>
          <p:nvPr/>
        </p:nvSpPr>
        <p:spPr>
          <a:xfrm>
            <a:off x="2477474" y="3384624"/>
            <a:ext cx="1187829" cy="0"/>
          </a:xfrm>
          <a:custGeom>
            <a:avLst/>
            <a:gdLst/>
            <a:ahLst/>
            <a:cxnLst/>
            <a:rect l="l" t="t" r="r" b="b"/>
            <a:pathLst>
              <a:path w="1187829" h="0">
                <a:moveTo>
                  <a:pt x="1187829" y="0"/>
                </a:moveTo>
                <a:lnTo>
                  <a:pt x="0" y="0"/>
                </a:lnTo>
                <a:close/>
              </a:path>
            </a:pathLst>
          </a:custGeom>
          <a:noFill/>
          <a:ln w="228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3629743" y="336684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0" y="0"/>
                </a:moveTo>
                <a:lnTo>
                  <a:pt x="35560" y="17780"/>
                </a:lnTo>
                <a:close/>
                <a:lnTo>
                  <a:pt x="0" y="35560"/>
                </a:lnTo>
                <a:close/>
              </a:path>
            </a:pathLst>
          </a:custGeom>
          <a:noFill/>
          <a:ln w="228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2477474" y="3366844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35560" y="35560"/>
                </a:moveTo>
                <a:lnTo>
                  <a:pt x="0" y="17780"/>
                </a:lnTo>
                <a:close/>
                <a:lnTo>
                  <a:pt x="35560" y="0"/>
                </a:lnTo>
                <a:close/>
              </a:path>
            </a:pathLst>
          </a:custGeom>
          <a:noFill/>
          <a:ln w="228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4372559" y="3033254"/>
            <a:ext cx="1270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C4713B"/>
                </a:solidFill>
                <a:latin typeface="Arial"/>
              </a:rPr>
              <a:t>k eff (coupled)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113098" y="3136551"/>
            <a:ext cx="2641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Top-2 dominant factors (by ): S 1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274452" y="3247152"/>
            <a:ext cx="1955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C4713B"/>
                </a:solidFill>
                <a:latin typeface="Arial"/>
              </a:rPr>
              <a:t>1.   base  () αS 1 ≈0.79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266006" y="3340737"/>
            <a:ext cx="2032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C4713B"/>
                </a:solidFill>
                <a:latin typeface="Arial"/>
              </a:rPr>
              <a:t>2.   slope  () αS 1 ≈0.18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267427" y="3459344"/>
            <a:ext cx="1422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C4713B"/>
                </a:solidFill>
                <a:latin typeface="Arial"/>
              </a:rPr>
              <a:t>Thermal-expansion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529944" y="3566662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C4713B"/>
                </a:solidFill>
                <a:latin typeface="Arial"/>
              </a:rPr>
              <a:t>pathway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071368" y="3646460"/>
            <a:ext cx="8813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Interpretation:  Different material-property groups dominate stress vs. reactivity, confirming pathway separation.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42239" y="2816689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(C)</a:t>
            </a:r>
          </a:p>
        </p:txBody>
      </p:sp>
      <p:sp>
        <p:nvSpPr>
          <p:cNvPr id="179" name="Freeform 178"/>
          <p:cNvSpPr/>
          <p:nvPr/>
        </p:nvSpPr>
        <p:spPr>
          <a:xfrm>
            <a:off x="1000443" y="4342024"/>
            <a:ext cx="222249" cy="0"/>
          </a:xfrm>
          <a:custGeom>
            <a:avLst/>
            <a:gdLst/>
            <a:ahLst/>
            <a:cxnLst/>
            <a:rect l="l" t="t" r="r" b="b"/>
            <a:pathLst>
              <a:path w="222249" h="0">
                <a:moveTo>
                  <a:pt x="0" y="0"/>
                </a:moveTo>
                <a:lnTo>
                  <a:pt x="111125" y="0"/>
                </a:lnTo>
                <a:close/>
                <a:lnTo>
                  <a:pt x="222249" y="0"/>
                </a:lnTo>
                <a:close/>
              </a:path>
            </a:pathLst>
          </a:custGeom>
          <a:noFill/>
          <a:ln w="127000">
            <a:solidFill>
              <a:srgbClr val="C5D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293812" y="4246139"/>
            <a:ext cx="1574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Total-effect () S T</a:t>
            </a:r>
          </a:p>
        </p:txBody>
      </p:sp>
      <p:sp>
        <p:nvSpPr>
          <p:cNvPr id="181" name="Freeform 180"/>
          <p:cNvSpPr/>
          <p:nvPr/>
        </p:nvSpPr>
        <p:spPr>
          <a:xfrm>
            <a:off x="2132394" y="4310274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0" y="54200"/>
                </a:lnTo>
                <a:close/>
                <a:lnTo>
                  <a:pt x="63500" y="31750"/>
                </a:lnTo>
                <a:close/>
                <a:lnTo>
                  <a:pt x="54200" y="9299"/>
                </a:lnTo>
                <a:close/>
                <a:lnTo>
                  <a:pt x="31750" y="0"/>
                </a:lnTo>
                <a:close/>
                <a:lnTo>
                  <a:pt x="9299" y="9299"/>
                </a:lnTo>
                <a:close/>
                <a:lnTo>
                  <a:pt x="0" y="31750"/>
                </a:lnTo>
                <a:close/>
                <a:lnTo>
                  <a:pt x="9299" y="54200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1B3A5C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2346388" y="4246139"/>
            <a:ext cx="1498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First-order () S 1</a:t>
            </a:r>
          </a:p>
        </p:txBody>
      </p:sp>
      <p:sp>
        <p:nvSpPr>
          <p:cNvPr id="183" name="Freeform 182"/>
          <p:cNvSpPr/>
          <p:nvPr/>
        </p:nvSpPr>
        <p:spPr>
          <a:xfrm>
            <a:off x="3072702" y="4342024"/>
            <a:ext cx="222250" cy="0"/>
          </a:xfrm>
          <a:custGeom>
            <a:avLst/>
            <a:gdLst/>
            <a:ahLst/>
            <a:cxnLst/>
            <a:rect l="l" t="t" r="r" b="b"/>
            <a:pathLst>
              <a:path w="222250" h="0">
                <a:moveTo>
                  <a:pt x="0" y="0"/>
                </a:moveTo>
                <a:lnTo>
                  <a:pt x="111124" y="0"/>
                </a:lnTo>
                <a:close/>
                <a:lnTo>
                  <a:pt x="222250" y="0"/>
                </a:lnTo>
                <a:close/>
              </a:path>
            </a:pathLst>
          </a:custGeom>
          <a:noFill/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3183826" y="4303924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1B3A5C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3366072" y="4246139"/>
            <a:ext cx="1117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90% CI () S 1</a:t>
            </a:r>
          </a:p>
        </p:txBody>
      </p:sp>
      <p:sp>
        <p:nvSpPr>
          <p:cNvPr id="186" name="Freeform 185"/>
          <p:cNvSpPr/>
          <p:nvPr/>
        </p:nvSpPr>
        <p:spPr>
          <a:xfrm>
            <a:off x="4053522" y="4310274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0"/>
                </a:lnTo>
                <a:close/>
                <a:lnTo>
                  <a:pt x="63500" y="31750"/>
                </a:lnTo>
                <a:close/>
                <a:lnTo>
                  <a:pt x="54201" y="9299"/>
                </a:lnTo>
                <a:close/>
                <a:lnTo>
                  <a:pt x="31750" y="0"/>
                </a:lnTo>
                <a:close/>
                <a:lnTo>
                  <a:pt x="9300" y="9299"/>
                </a:lnTo>
                <a:close/>
                <a:lnTo>
                  <a:pt x="0" y="31750"/>
                </a:lnTo>
                <a:close/>
                <a:lnTo>
                  <a:pt x="9300" y="54200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4267518" y="4246139"/>
            <a:ext cx="1727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S 1 90% CI spans zero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