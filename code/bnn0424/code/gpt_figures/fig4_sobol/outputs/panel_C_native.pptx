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31997" cy="190109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31997" cy="1901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79937" y="299388"/>
            <a:ext cx="4960620" cy="1502524"/>
          </a:xfrm>
          <a:custGeom>
            <a:avLst/>
            <a:gdLst/>
            <a:ahLst/>
            <a:cxnLst/>
            <a:rect l="l" t="t" r="r" b="b"/>
            <a:pathLst>
              <a:path w="4960620" h="1502524">
                <a:moveTo>
                  <a:pt x="49606" y="1502524"/>
                </a:moveTo>
                <a:lnTo>
                  <a:pt x="4911014" y="1502524"/>
                </a:lnTo>
                <a:close/>
                <a:lnTo>
                  <a:pt x="4960620" y="1497360"/>
                </a:lnTo>
                <a:close/>
                <a:lnTo>
                  <a:pt x="4960620" y="5163"/>
                </a:lnTo>
                <a:close/>
                <a:lnTo>
                  <a:pt x="4911014" y="0"/>
                </a:lnTo>
                <a:close/>
                <a:lnTo>
                  <a:pt x="49606" y="0"/>
                </a:lnTo>
                <a:close/>
                <a:lnTo>
                  <a:pt x="0" y="5163"/>
                </a:lnTo>
                <a:close/>
                <a:lnTo>
                  <a:pt x="0" y="1497360"/>
                </a:lnTo>
                <a:close/>
                <a:lnTo>
                  <a:pt x="49606" y="1502524"/>
                </a:lnTo>
                <a:close/>
                <a:lnTo>
                  <a:pt x="49606" y="1502524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67335" y="415563"/>
            <a:ext cx="0" cy="1301154"/>
          </a:xfrm>
          <a:custGeom>
            <a:avLst/>
            <a:gdLst/>
            <a:ahLst/>
            <a:cxnLst/>
            <a:rect l="l" t="t" r="r" b="b"/>
            <a:pathLst>
              <a:path w="0" h="1301154">
                <a:moveTo>
                  <a:pt x="0" y="13011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53158" y="415563"/>
            <a:ext cx="0" cy="1301154"/>
          </a:xfrm>
          <a:custGeom>
            <a:avLst/>
            <a:gdLst/>
            <a:ahLst/>
            <a:cxnLst/>
            <a:rect l="l" t="t" r="r" b="b"/>
            <a:pathLst>
              <a:path w="0" h="1301154">
                <a:moveTo>
                  <a:pt x="0" y="13011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18834" y="365995"/>
            <a:ext cx="1359210" cy="254035"/>
          </a:xfrm>
          <a:custGeom>
            <a:avLst/>
            <a:gdLst/>
            <a:ahLst/>
            <a:cxnLst/>
            <a:rect l="l" t="t" r="r" b="b"/>
            <a:pathLst>
              <a:path w="1359210" h="254035">
                <a:moveTo>
                  <a:pt x="59528" y="254035"/>
                </a:moveTo>
                <a:lnTo>
                  <a:pt x="1299683" y="254035"/>
                </a:lnTo>
                <a:close/>
                <a:lnTo>
                  <a:pt x="1344328" y="249388"/>
                </a:lnTo>
                <a:close/>
                <a:lnTo>
                  <a:pt x="1355490" y="243579"/>
                </a:lnTo>
                <a:close/>
                <a:lnTo>
                  <a:pt x="1359210" y="235447"/>
                </a:lnTo>
                <a:close/>
                <a:lnTo>
                  <a:pt x="1359210" y="18588"/>
                </a:lnTo>
                <a:close/>
                <a:lnTo>
                  <a:pt x="1355490" y="10455"/>
                </a:lnTo>
                <a:close/>
                <a:lnTo>
                  <a:pt x="1344328" y="4647"/>
                </a:lnTo>
                <a:close/>
                <a:lnTo>
                  <a:pt x="1299683" y="0"/>
                </a:lnTo>
                <a:close/>
                <a:lnTo>
                  <a:pt x="59528" y="0"/>
                </a:lnTo>
                <a:close/>
                <a:lnTo>
                  <a:pt x="14882" y="4647"/>
                </a:lnTo>
                <a:close/>
                <a:lnTo>
                  <a:pt x="3721" y="10455"/>
                </a:lnTo>
                <a:close/>
                <a:lnTo>
                  <a:pt x="0" y="18588"/>
                </a:lnTo>
                <a:close/>
                <a:lnTo>
                  <a:pt x="0" y="235447"/>
                </a:lnTo>
                <a:close/>
                <a:lnTo>
                  <a:pt x="3721" y="243579"/>
                </a:lnTo>
                <a:close/>
                <a:lnTo>
                  <a:pt x="14882" y="249388"/>
                </a:lnTo>
                <a:close/>
                <a:lnTo>
                  <a:pt x="59528" y="254035"/>
                </a:lnTo>
                <a:close/>
                <a:lnTo>
                  <a:pt x="59528" y="254035"/>
                </a:lnTo>
                <a:close/>
              </a:path>
            </a:pathLst>
          </a:custGeom>
          <a:solidFill>
            <a:srgbClr val="E8EFF5"/>
          </a:solidFill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28755" y="1267509"/>
            <a:ext cx="1339368" cy="216859"/>
          </a:xfrm>
          <a:custGeom>
            <a:avLst/>
            <a:gdLst/>
            <a:ahLst/>
            <a:cxnLst/>
            <a:rect l="l" t="t" r="r" b="b"/>
            <a:pathLst>
              <a:path w="1339368" h="216859">
                <a:moveTo>
                  <a:pt x="49607" y="216859"/>
                </a:moveTo>
                <a:lnTo>
                  <a:pt x="1289762" y="216859"/>
                </a:lnTo>
                <a:close/>
                <a:lnTo>
                  <a:pt x="1326966" y="212987"/>
                </a:lnTo>
                <a:close/>
                <a:lnTo>
                  <a:pt x="1339368" y="201369"/>
                </a:lnTo>
                <a:close/>
                <a:lnTo>
                  <a:pt x="1339368" y="15490"/>
                </a:lnTo>
                <a:close/>
                <a:lnTo>
                  <a:pt x="1326966" y="3872"/>
                </a:lnTo>
                <a:close/>
                <a:lnTo>
                  <a:pt x="1289762" y="0"/>
                </a:lnTo>
                <a:close/>
                <a:lnTo>
                  <a:pt x="49607" y="0"/>
                </a:lnTo>
                <a:close/>
                <a:lnTo>
                  <a:pt x="12402" y="3872"/>
                </a:lnTo>
                <a:close/>
                <a:lnTo>
                  <a:pt x="0" y="15490"/>
                </a:lnTo>
                <a:close/>
                <a:lnTo>
                  <a:pt x="0" y="201369"/>
                </a:lnTo>
                <a:close/>
                <a:lnTo>
                  <a:pt x="12402" y="212987"/>
                </a:lnTo>
                <a:close/>
                <a:lnTo>
                  <a:pt x="49607" y="216859"/>
                </a:lnTo>
                <a:close/>
                <a:lnTo>
                  <a:pt x="49607" y="216859"/>
                </a:lnTo>
                <a:close/>
              </a:path>
            </a:pathLst>
          </a:cu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842450" y="365995"/>
            <a:ext cx="1359209" cy="254035"/>
          </a:xfrm>
          <a:custGeom>
            <a:avLst/>
            <a:gdLst/>
            <a:ahLst/>
            <a:cxnLst/>
            <a:rect l="l" t="t" r="r" b="b"/>
            <a:pathLst>
              <a:path w="1359209" h="254035">
                <a:moveTo>
                  <a:pt x="59527" y="254035"/>
                </a:moveTo>
                <a:lnTo>
                  <a:pt x="1299682" y="254035"/>
                </a:lnTo>
                <a:close/>
                <a:lnTo>
                  <a:pt x="1344328" y="249388"/>
                </a:lnTo>
                <a:close/>
                <a:lnTo>
                  <a:pt x="1355489" y="243579"/>
                </a:lnTo>
                <a:close/>
                <a:lnTo>
                  <a:pt x="1359209" y="235447"/>
                </a:lnTo>
                <a:close/>
                <a:lnTo>
                  <a:pt x="1359209" y="18588"/>
                </a:lnTo>
                <a:close/>
                <a:lnTo>
                  <a:pt x="1355489" y="10455"/>
                </a:lnTo>
                <a:close/>
                <a:lnTo>
                  <a:pt x="1344328" y="4647"/>
                </a:lnTo>
                <a:close/>
                <a:lnTo>
                  <a:pt x="1299682" y="0"/>
                </a:lnTo>
                <a:close/>
                <a:lnTo>
                  <a:pt x="59527" y="0"/>
                </a:lnTo>
                <a:close/>
                <a:lnTo>
                  <a:pt x="14881" y="4647"/>
                </a:lnTo>
                <a:close/>
                <a:lnTo>
                  <a:pt x="3720" y="10455"/>
                </a:lnTo>
                <a:close/>
                <a:lnTo>
                  <a:pt x="0" y="18588"/>
                </a:lnTo>
                <a:close/>
                <a:lnTo>
                  <a:pt x="0" y="235447"/>
                </a:lnTo>
                <a:close/>
                <a:lnTo>
                  <a:pt x="3720" y="243579"/>
                </a:lnTo>
                <a:close/>
                <a:lnTo>
                  <a:pt x="14881" y="249388"/>
                </a:lnTo>
                <a:close/>
                <a:lnTo>
                  <a:pt x="59527" y="254035"/>
                </a:lnTo>
                <a:close/>
                <a:lnTo>
                  <a:pt x="59527" y="254035"/>
                </a:lnTo>
                <a:close/>
              </a:path>
            </a:pathLst>
          </a:custGeom>
          <a:solidFill>
            <a:srgbClr val="FDF2E9"/>
          </a:solidFill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852371" y="1267509"/>
            <a:ext cx="1339367" cy="216859"/>
          </a:xfrm>
          <a:custGeom>
            <a:avLst/>
            <a:gdLst/>
            <a:ahLst/>
            <a:cxnLst/>
            <a:rect l="l" t="t" r="r" b="b"/>
            <a:pathLst>
              <a:path w="1339367" h="216859">
                <a:moveTo>
                  <a:pt x="49606" y="216859"/>
                </a:moveTo>
                <a:lnTo>
                  <a:pt x="1289761" y="216859"/>
                </a:lnTo>
                <a:close/>
                <a:lnTo>
                  <a:pt x="1326966" y="212987"/>
                </a:lnTo>
                <a:close/>
                <a:lnTo>
                  <a:pt x="1339367" y="201369"/>
                </a:lnTo>
                <a:close/>
                <a:lnTo>
                  <a:pt x="1339367" y="15490"/>
                </a:lnTo>
                <a:close/>
                <a:lnTo>
                  <a:pt x="1326966" y="3872"/>
                </a:lnTo>
                <a:close/>
                <a:lnTo>
                  <a:pt x="1289761" y="0"/>
                </a:lnTo>
                <a:close/>
                <a:lnTo>
                  <a:pt x="49606" y="0"/>
                </a:lnTo>
                <a:close/>
                <a:lnTo>
                  <a:pt x="12401" y="3872"/>
                </a:lnTo>
                <a:close/>
                <a:lnTo>
                  <a:pt x="0" y="15490"/>
                </a:lnTo>
                <a:close/>
                <a:lnTo>
                  <a:pt x="0" y="201369"/>
                </a:lnTo>
                <a:close/>
                <a:lnTo>
                  <a:pt x="12401" y="212987"/>
                </a:lnTo>
                <a:close/>
                <a:lnTo>
                  <a:pt x="49606" y="216859"/>
                </a:lnTo>
                <a:close/>
                <a:lnTo>
                  <a:pt x="49606" y="216859"/>
                </a:lnTo>
                <a:close/>
              </a:path>
            </a:pathLst>
          </a:cu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206" y="335971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Coupled maximum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043" y="456704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362" y="590940"/>
            <a:ext cx="2641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Top-2 dominant factors (by ): 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260" y="792309"/>
            <a:ext cx="2336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1.   intercept  () ES 1 ≈0.58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493" y="962698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2.   base  () αS 1 ≈0.17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698" y="1220949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Elastic-constitutive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207" y="1328267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pathway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5710" y="537982"/>
            <a:ext cx="2108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Distinct dominant pathways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1799" y="648120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for two key outputs</a:t>
            </a:r>
          </a:p>
        </p:txBody>
      </p:sp>
      <p:sp>
        <p:nvSpPr>
          <p:cNvPr id="19" name="Freeform 18"/>
          <p:cNvSpPr/>
          <p:nvPr/>
        </p:nvSpPr>
        <p:spPr>
          <a:xfrm>
            <a:off x="2266352" y="957710"/>
            <a:ext cx="1187830" cy="0"/>
          </a:xfrm>
          <a:custGeom>
            <a:avLst/>
            <a:gdLst/>
            <a:ahLst/>
            <a:cxnLst/>
            <a:rect l="l" t="t" r="r" b="b"/>
            <a:pathLst>
              <a:path w="1187830" h="0">
                <a:moveTo>
                  <a:pt x="1187830" y="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418622" y="93993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close/>
                <a:lnTo>
                  <a:pt x="0" y="35560"/>
                </a:lnTo>
                <a:close/>
              </a:path>
            </a:pathLst>
          </a:custGeom>
          <a:noFill/>
          <a:ln w="228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266352" y="939930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35560"/>
                </a:moveTo>
                <a:lnTo>
                  <a:pt x="0" y="17780"/>
                </a:lnTo>
                <a:close/>
                <a:lnTo>
                  <a:pt x="35560" y="0"/>
                </a:lnTo>
                <a:close/>
              </a:path>
            </a:pathLst>
          </a:custGeom>
          <a:noFill/>
          <a:ln w="228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1438" y="396873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k eff (coupled)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1977" y="590940"/>
            <a:ext cx="2641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Top-2 dominant factors (by ): S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3330" y="792309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1.   base  () αS 1 ≈0.79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4885" y="962698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2.   slope  () αS 1 ≈0.18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6306" y="1220949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Thermal-expansion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823" y="1328267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pathway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0247" y="1519780"/>
            <a:ext cx="881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Interpretation:  Different material-property groups dominate stress vs. reactivity, confirming pathway separation.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118" y="476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