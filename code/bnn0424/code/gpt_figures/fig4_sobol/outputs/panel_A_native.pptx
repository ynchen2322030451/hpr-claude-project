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181079" cy="29923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81079" cy="2992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1058" y="333888"/>
            <a:ext cx="2480310" cy="22530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852143" y="333888"/>
            <a:ext cx="0" cy="2253082"/>
          </a:xfrm>
          <a:custGeom>
            <a:avLst/>
            <a:gdLst/>
            <a:ahLst/>
            <a:cxnLst/>
            <a:rect l="l" t="t" r="r" b="b"/>
            <a:pathLst>
              <a:path w="0" h="2253082">
                <a:moveTo>
                  <a:pt x="0" y="225308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2143" y="471431"/>
            <a:ext cx="1849354" cy="144092"/>
          </a:xfrm>
          <a:prstGeom prst="rect">
            <a:avLst/>
          </a:pr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2143" y="733417"/>
            <a:ext cx="543928" cy="144092"/>
          </a:xfrm>
          <a:prstGeom prst="rect">
            <a:avLst/>
          </a:pr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2143" y="995404"/>
            <a:ext cx="217571" cy="144092"/>
          </a:xfrm>
          <a:prstGeom prst="rect">
            <a:avLst/>
          </a:pr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2143" y="1257390"/>
            <a:ext cx="826770" cy="144092"/>
          </a:xfrm>
          <a:prstGeom prst="rect">
            <a:avLst/>
          </a:pr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2143" y="1519376"/>
            <a:ext cx="369871" cy="144092"/>
          </a:xfrm>
          <a:prstGeom prst="rect">
            <a:avLst/>
          </a:pr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2143" y="1781362"/>
            <a:ext cx="304599" cy="144092"/>
          </a:xfrm>
          <a:prstGeom prst="rect">
            <a:avLst/>
          </a:pr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2143" y="2043348"/>
            <a:ext cx="152300" cy="144092"/>
          </a:xfrm>
          <a:prstGeom prst="rect">
            <a:avLst/>
          </a:pr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2143" y="2305335"/>
            <a:ext cx="130543" cy="144092"/>
          </a:xfrm>
          <a:prstGeom prst="rect">
            <a:avLst/>
          </a:pr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52143" y="258697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143" y="261250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</a:t>
            </a:r>
          </a:p>
        </p:txBody>
      </p:sp>
      <p:sp>
        <p:nvSpPr>
          <p:cNvPr id="15" name="Freeform 14"/>
          <p:cNvSpPr/>
          <p:nvPr/>
        </p:nvSpPr>
        <p:spPr>
          <a:xfrm>
            <a:off x="1287285" y="258697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7285" y="261250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0.2</a:t>
            </a:r>
          </a:p>
        </p:txBody>
      </p:sp>
      <p:sp>
        <p:nvSpPr>
          <p:cNvPr id="17" name="Freeform 16"/>
          <p:cNvSpPr/>
          <p:nvPr/>
        </p:nvSpPr>
        <p:spPr>
          <a:xfrm>
            <a:off x="1722427" y="258697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22427" y="261250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0.4</a:t>
            </a:r>
          </a:p>
        </p:txBody>
      </p:sp>
      <p:sp>
        <p:nvSpPr>
          <p:cNvPr id="19" name="Freeform 18"/>
          <p:cNvSpPr/>
          <p:nvPr/>
        </p:nvSpPr>
        <p:spPr>
          <a:xfrm>
            <a:off x="2157570" y="258697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57570" y="261250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0.6</a:t>
            </a:r>
          </a:p>
        </p:txBody>
      </p:sp>
      <p:sp>
        <p:nvSpPr>
          <p:cNvPr id="21" name="Freeform 20"/>
          <p:cNvSpPr/>
          <p:nvPr/>
        </p:nvSpPr>
        <p:spPr>
          <a:xfrm>
            <a:off x="2592712" y="258697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92712" y="261250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0.8</a:t>
            </a:r>
          </a:p>
        </p:txBody>
      </p:sp>
      <p:sp>
        <p:nvSpPr>
          <p:cNvPr id="23" name="Freeform 22"/>
          <p:cNvSpPr/>
          <p:nvPr/>
        </p:nvSpPr>
        <p:spPr>
          <a:xfrm>
            <a:off x="3027854" y="258697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27854" y="261250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31213" y="2753695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Sobol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33" y="448926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E intercept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349" y="710912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E slope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824" y="972266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0129" y="1234252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α 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0571" y="1496426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α slope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07" y="1758225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k reference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" y="2020211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T reference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810" y="2282197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α diff</a:t>
            </a:r>
          </a:p>
        </p:txBody>
      </p:sp>
      <p:sp>
        <p:nvSpPr>
          <p:cNvPr id="34" name="Freeform 33"/>
          <p:cNvSpPr/>
          <p:nvPr/>
        </p:nvSpPr>
        <p:spPr>
          <a:xfrm>
            <a:off x="591058" y="333888"/>
            <a:ext cx="0" cy="2253082"/>
          </a:xfrm>
          <a:custGeom>
            <a:avLst/>
            <a:gdLst/>
            <a:ahLst/>
            <a:cxnLst/>
            <a:rect l="l" t="t" r="r" b="b"/>
            <a:pathLst>
              <a:path w="0" h="2253082">
                <a:moveTo>
                  <a:pt x="0" y="225308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1058" y="2586970"/>
            <a:ext cx="2480310" cy="0"/>
          </a:xfrm>
          <a:custGeom>
            <a:avLst/>
            <a:gdLst/>
            <a:ahLst/>
            <a:cxnLst/>
            <a:rect l="l" t="t" r="r" b="b"/>
            <a:pathLst>
              <a:path w="2480310" h="0">
                <a:moveTo>
                  <a:pt x="0" y="0"/>
                </a:moveTo>
                <a:lnTo>
                  <a:pt x="248031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852970" y="543477"/>
            <a:ext cx="565685" cy="0"/>
          </a:xfrm>
          <a:custGeom>
            <a:avLst/>
            <a:gdLst/>
            <a:ahLst/>
            <a:cxnLst/>
            <a:rect l="l" t="t" r="r" b="b"/>
            <a:pathLst>
              <a:path w="565685" h="0">
                <a:moveTo>
                  <a:pt x="0" y="0"/>
                </a:moveTo>
                <a:lnTo>
                  <a:pt x="565685" y="0"/>
                </a:lnTo>
                <a:close/>
              </a:path>
            </a:pathLst>
          </a:custGeom>
          <a:noFill/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852970" y="505377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418655" y="505377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841265" y="805464"/>
            <a:ext cx="250206" cy="0"/>
          </a:xfrm>
          <a:custGeom>
            <a:avLst/>
            <a:gdLst/>
            <a:ahLst/>
            <a:cxnLst/>
            <a:rect l="l" t="t" r="r" b="b"/>
            <a:pathLst>
              <a:path w="250206" h="0">
                <a:moveTo>
                  <a:pt x="0" y="0"/>
                </a:moveTo>
                <a:lnTo>
                  <a:pt x="250206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841265" y="76736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091471" y="76736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830386" y="1067450"/>
            <a:ext cx="152300" cy="0"/>
          </a:xfrm>
          <a:custGeom>
            <a:avLst/>
            <a:gdLst/>
            <a:ahLst/>
            <a:cxnLst/>
            <a:rect l="l" t="t" r="r" b="b"/>
            <a:pathLst>
              <a:path w="152300" h="0">
                <a:moveTo>
                  <a:pt x="0" y="0"/>
                </a:moveTo>
                <a:lnTo>
                  <a:pt x="152300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830386" y="102935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982686" y="102935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026200" y="1329436"/>
            <a:ext cx="500414" cy="0"/>
          </a:xfrm>
          <a:custGeom>
            <a:avLst/>
            <a:gdLst/>
            <a:ahLst/>
            <a:cxnLst/>
            <a:rect l="l" t="t" r="r" b="b"/>
            <a:pathLst>
              <a:path w="500414" h="0">
                <a:moveTo>
                  <a:pt x="0" y="0"/>
                </a:moveTo>
                <a:lnTo>
                  <a:pt x="500414" y="0"/>
                </a:lnTo>
                <a:close/>
              </a:path>
            </a:pathLst>
          </a:custGeom>
          <a:noFill/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026200" y="129133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526614" y="129133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0386" y="1591422"/>
            <a:ext cx="195814" cy="0"/>
          </a:xfrm>
          <a:custGeom>
            <a:avLst/>
            <a:gdLst/>
            <a:ahLst/>
            <a:cxnLst/>
            <a:rect l="l" t="t" r="r" b="b"/>
            <a:pathLst>
              <a:path w="195814" h="0">
                <a:moveTo>
                  <a:pt x="0" y="0"/>
                </a:moveTo>
                <a:lnTo>
                  <a:pt x="195814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30386" y="155332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026200" y="155332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30386" y="1853408"/>
            <a:ext cx="130543" cy="0"/>
          </a:xfrm>
          <a:custGeom>
            <a:avLst/>
            <a:gdLst/>
            <a:ahLst/>
            <a:cxnLst/>
            <a:rect l="l" t="t" r="r" b="b"/>
            <a:pathLst>
              <a:path w="130543" h="0">
                <a:moveTo>
                  <a:pt x="0" y="0"/>
                </a:moveTo>
                <a:lnTo>
                  <a:pt x="130543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30386" y="1815308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60929" y="1815308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786872" y="2115395"/>
            <a:ext cx="261085" cy="0"/>
          </a:xfrm>
          <a:custGeom>
            <a:avLst/>
            <a:gdLst/>
            <a:ahLst/>
            <a:cxnLst/>
            <a:rect l="l" t="t" r="r" b="b"/>
            <a:pathLst>
              <a:path w="261085" h="0">
                <a:moveTo>
                  <a:pt x="0" y="0"/>
                </a:moveTo>
                <a:lnTo>
                  <a:pt x="261085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786872" y="207729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47957" y="207729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786872" y="2377381"/>
            <a:ext cx="174057" cy="0"/>
          </a:xfrm>
          <a:custGeom>
            <a:avLst/>
            <a:gdLst/>
            <a:ahLst/>
            <a:cxnLst/>
            <a:rect l="l" t="t" r="r" b="b"/>
            <a:pathLst>
              <a:path w="174057" h="0">
                <a:moveTo>
                  <a:pt x="0" y="0"/>
                </a:moveTo>
                <a:lnTo>
                  <a:pt x="174057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786872" y="2339281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60929" y="2339281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27854" y="43945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0.579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27854" y="70144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0.053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27854" y="963432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0.030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27854" y="122541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0.169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27854" y="1487404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0.037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27854" y="1749390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0.030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27854" y="2011377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27854" y="2273363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0.002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85310" y="171437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S 1 (90% CI)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2633" y="4764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(A)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31213" y="79888"/>
            <a:ext cx="2489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Coupled steady-state max stress</a:t>
            </a:r>
          </a:p>
        </p:txBody>
      </p:sp>
      <p:sp>
        <p:nvSpPr>
          <p:cNvPr id="71" name="Freeform 70"/>
          <p:cNvSpPr/>
          <p:nvPr/>
        </p:nvSpPr>
        <p:spPr>
          <a:xfrm>
            <a:off x="2080130" y="511727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0" y="54201"/>
                </a:lnTo>
                <a:close/>
                <a:lnTo>
                  <a:pt x="63500" y="31750"/>
                </a:lnTo>
                <a:close/>
                <a:lnTo>
                  <a:pt x="54200" y="9300"/>
                </a:lnTo>
                <a:close/>
                <a:lnTo>
                  <a:pt x="31750" y="0"/>
                </a:lnTo>
                <a:close/>
                <a:lnTo>
                  <a:pt x="9299" y="9300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935706" y="773714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0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299" y="9299"/>
                </a:lnTo>
                <a:close/>
                <a:lnTo>
                  <a:pt x="0" y="31750"/>
                </a:lnTo>
                <a:close/>
                <a:lnTo>
                  <a:pt x="9299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885665" y="1035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0" y="54200"/>
                </a:lnTo>
                <a:close/>
                <a:lnTo>
                  <a:pt x="63500" y="31750"/>
                </a:lnTo>
                <a:close/>
                <a:lnTo>
                  <a:pt x="54200" y="9299"/>
                </a:lnTo>
                <a:close/>
                <a:lnTo>
                  <a:pt x="31750" y="0"/>
                </a:lnTo>
                <a:close/>
                <a:lnTo>
                  <a:pt x="9299" y="9299"/>
                </a:lnTo>
                <a:close/>
                <a:lnTo>
                  <a:pt x="0" y="31750"/>
                </a:lnTo>
                <a:close/>
                <a:lnTo>
                  <a:pt x="9299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188088" y="1297686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900895" y="1559672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0" y="54201"/>
                </a:lnTo>
                <a:close/>
                <a:lnTo>
                  <a:pt x="63500" y="31750"/>
                </a:lnTo>
                <a:close/>
                <a:lnTo>
                  <a:pt x="54200" y="9300"/>
                </a:lnTo>
                <a:close/>
                <a:lnTo>
                  <a:pt x="31750" y="0"/>
                </a:lnTo>
                <a:close/>
                <a:lnTo>
                  <a:pt x="9299" y="9300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885665" y="1821658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0" y="54201"/>
                </a:lnTo>
                <a:close/>
                <a:lnTo>
                  <a:pt x="63500" y="31750"/>
                </a:lnTo>
                <a:close/>
                <a:lnTo>
                  <a:pt x="54200" y="9300"/>
                </a:lnTo>
                <a:close/>
                <a:lnTo>
                  <a:pt x="31750" y="0"/>
                </a:lnTo>
                <a:close/>
                <a:lnTo>
                  <a:pt x="9299" y="9300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837799" y="208364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0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299" y="9299"/>
                </a:lnTo>
                <a:close/>
                <a:lnTo>
                  <a:pt x="0" y="31750"/>
                </a:lnTo>
                <a:close/>
                <a:lnTo>
                  <a:pt x="9299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824745" y="2345631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0" y="54201"/>
                </a:lnTo>
                <a:close/>
                <a:lnTo>
                  <a:pt x="63500" y="31750"/>
                </a:lnTo>
                <a:close/>
                <a:lnTo>
                  <a:pt x="54200" y="9299"/>
                </a:lnTo>
                <a:close/>
                <a:lnTo>
                  <a:pt x="31750" y="0"/>
                </a:lnTo>
                <a:close/>
                <a:lnTo>
                  <a:pt x="9299" y="9299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