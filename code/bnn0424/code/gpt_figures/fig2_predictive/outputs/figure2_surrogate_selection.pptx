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 2: Posterior predictive behaviour.</a:t>
            </a:r>
          </a:p>
          <a:p>
            <a:r>
              <a:t>Panels A-C: parity hexbin, Panel D: PICP90 strip.</a:t>
            </a:r>
          </a:p>
          <a:p>
            <a:r>
              <a:t>All text on Slide 2 is editable — copy to this slide as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1A1A1A"/>
                </a:solidFill>
                <a:latin typeface="Arial"/>
              </a:rPr>
              <a:t>Figure 2 | Posterior predictive behaviour of the selected Bayesian surrogate</a:t>
            </a:r>
          </a:p>
        </p:txBody>
      </p:sp>
      <p:pic>
        <p:nvPicPr>
          <p:cNvPr id="3" name="Picture 2" descr="fig2_surrogate_sel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7386" y="1280160"/>
            <a:ext cx="4376923" cy="5303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82296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1A1A1A"/>
                </a:solidFill>
                <a:latin typeface="Arial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7840" y="82296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1A1A1A"/>
                </a:solidFill>
                <a:latin typeface="Arial"/>
              </a:rPr>
              <a:t>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320040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1A1A1A"/>
                </a:solidFill>
                <a:latin typeface="Arial"/>
              </a:rPr>
              <a:t>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66344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1A1A1A"/>
                </a:solidFill>
                <a:latin typeface="Arial"/>
              </a:rPr>
              <a:t>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7A7A7A"/>
                </a:solidFill>
                <a:latin typeface="Arial"/>
              </a:rPr>
              <a:t>Figure 2 — Editable text elements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1">
                <a:solidFill>
                  <a:srgbClr val="7A7A7A"/>
                </a:solidFill>
                <a:latin typeface="Arial"/>
              </a:rPr>
              <a:t>Editable panel titles and annotations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B3A5C"/>
                </a:solidFill>
                <a:latin typeface="Arial"/>
              </a:rPr>
              <a:t>A.  Max global stress (parity plot)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B3A5C"/>
                </a:solidFill>
                <a:latin typeface="Arial"/>
              </a:rPr>
              <a:t>B.  Effective multiplication factor, k_eff (parity plot)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B3A5C"/>
                </a:solidFill>
                <a:latin typeface="Arial"/>
              </a:rPr>
              <a:t>C.  Max fuel temperature (parity plot)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B3A5C"/>
                </a:solidFill>
                <a:latin typeface="Arial"/>
              </a:rPr>
              <a:t>D.  Interval calibration across five coupled outputs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83279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1A1A1A"/>
                </a:solidFill>
                <a:latin typeface="Arial"/>
              </a:rPr>
              <a:t>Key metric annotations (editable):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49039"/>
            <a:ext cx="9144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1A1A1A"/>
                </a:solidFill>
                <a:latin typeface="Arial"/>
              </a:rPr>
              <a:t>•  Panel A — R², RMSE (MPa), PICP90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A1A1A"/>
                </a:solidFill>
                <a:latin typeface="Arial"/>
              </a:rPr>
              <a:t>•  Panel B — R², RMSE, PICP90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A1A1A"/>
                </a:solidFill>
                <a:latin typeface="Arial"/>
              </a:rPr>
              <a:t>•  Panel C — R², RMSE (K), PICP90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A1A1A"/>
                </a:solidFill>
                <a:latin typeface="Arial"/>
              </a:rPr>
              <a:t>•  Panel D — PICP90 at 90% nominal level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5778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1A1A1A"/>
                </a:solidFill>
                <a:latin typeface="Arial"/>
              </a:rPr>
              <a:t>Legend entries (editable):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97879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1A1A1A"/>
                </a:solidFill>
                <a:latin typeface="Arial"/>
              </a:rPr>
              <a:t>•  90% predictive interval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A1A1A"/>
                </a:solidFill>
                <a:latin typeface="Arial"/>
              </a:rPr>
              <a:t>•  y = x (identity line)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A1A1A"/>
                </a:solidFill>
                <a:latin typeface="Arial"/>
              </a:rPr>
              <a:t>•  Physics-regularized BNN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A1A1A"/>
                </a:solidFill>
                <a:latin typeface="Arial"/>
              </a:rPr>
              <a:t>•  MC-Dropout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A1A1A"/>
                </a:solidFill>
                <a:latin typeface="Arial"/>
              </a:rPr>
              <a:t>•  Deep Ensemble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7543800"/>
            <a:ext cx="10058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1">
                <a:solidFill>
                  <a:srgbClr val="7A7A7A"/>
                </a:solidFill>
                <a:latin typeface="Arial"/>
              </a:rPr>
              <a:t>Caption: Panels A–C show parity hexbin plots for coupled steady-state max stress, k_eff, and max fuel temperature respectively, with 90% predictive intervals. Panel D compares interval calibration (PICP90) of BNN vs baselines across all five coupled outputs.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